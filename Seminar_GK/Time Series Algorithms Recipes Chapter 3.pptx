
<file path=[Content_Types].xml><?xml version="1.0" encoding="utf-8"?>
<Types xmlns="http://schemas.openxmlformats.org/package/2006/content-types">
  <Default Extension="fntdata" ContentType="application/x-fontdata"/>
  <Default Extension="gif" ContentType="image/gif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notesMasterIdLst>
    <p:notesMasterId r:id="rId34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</p:sldIdLst>
  <p:sldSz cx="18288000" cy="10287000"/>
  <p:notesSz cx="6858000" cy="9144000"/>
  <p:embeddedFontLst>
    <p:embeddedFont>
      <p:font typeface="Bungee" panose="020B0604020202020204" charset="0"/>
      <p:regular r:id="rId35"/>
    </p:embeddedFont>
    <p:embeddedFont>
      <p:font typeface="Cabin Bold" panose="020B0604020202020204" charset="0"/>
      <p:regular r:id="rId36"/>
    </p:embeddedFont>
    <p:embeddedFont>
      <p:font typeface="Consolas" panose="020B0609020204030204" pitchFamily="49" charset="0"/>
      <p:regular r:id="rId37"/>
      <p:bold r:id="rId38"/>
      <p:italic r:id="rId39"/>
      <p:boldItalic r:id="rId40"/>
    </p:embeddedFont>
    <p:embeddedFont>
      <p:font typeface="Courier New Bold" panose="02070609020205020404" pitchFamily="49" charset="0"/>
      <p:regular r:id="rId41"/>
      <p:bold r:id="rId42"/>
    </p:embeddedFont>
    <p:embeddedFont>
      <p:font typeface="DejaVu Serif" panose="020B0604020202020204" charset="0"/>
      <p:regular r:id="rId43"/>
    </p:embeddedFont>
    <p:embeddedFont>
      <p:font typeface="DM Sans" pitchFamily="2" charset="0"/>
      <p:regular r:id="rId44"/>
    </p:embeddedFont>
    <p:embeddedFont>
      <p:font typeface="DM Sans Bold" panose="020B0604020202020204" charset="0"/>
      <p:regular r:id="rId45"/>
    </p:embeddedFont>
    <p:embeddedFont>
      <p:font typeface="Josefin Sans" pitchFamily="2" charset="0"/>
      <p:regular r:id="rId46"/>
    </p:embeddedFont>
    <p:embeddedFont>
      <p:font typeface="Josefin Sans Bold" pitchFamily="2" charset="0"/>
      <p:regular r:id="rId47"/>
      <p:boldItalic r:id="rId48"/>
    </p:embeddedFont>
    <p:embeddedFont>
      <p:font typeface="Krub Bold" panose="020B0604020202020204" charset="-34"/>
      <p:regular r:id="rId49"/>
    </p:embeddedFont>
    <p:embeddedFont>
      <p:font typeface="Noto Sans" panose="020B0502040504020204" pitchFamily="34" charset="0"/>
      <p:regular r:id="rId50"/>
    </p:embeddedFont>
    <p:embeddedFont>
      <p:font typeface="Open Sans" panose="020B0606030504020204" pitchFamily="34" charset="0"/>
      <p:regular r:id="rId51"/>
      <p:bold r:id="rId52"/>
    </p:embeddedFont>
    <p:embeddedFont>
      <p:font typeface="Open Sans Bold" panose="020B0806030504020204" charset="0"/>
      <p:regular r:id="rId53"/>
    </p:embeddedFont>
    <p:embeddedFont>
      <p:font typeface="Open Sans Italics" panose="020B0604020202020204" charset="0"/>
      <p:regular r:id="rId54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 autoAdjust="0"/>
    <p:restoredTop sz="94622" autoAdjust="0"/>
  </p:normalViewPr>
  <p:slideViewPr>
    <p:cSldViewPr>
      <p:cViewPr varScale="1">
        <p:scale>
          <a:sx n="52" d="100"/>
          <a:sy n="52" d="100"/>
        </p:scale>
        <p:origin x="768" y="62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font" Target="fonts/font5.fntdata"/><Relationship Id="rId21" Type="http://schemas.openxmlformats.org/officeDocument/2006/relationships/slide" Target="slides/slide20.xml"/><Relationship Id="rId34" Type="http://schemas.openxmlformats.org/officeDocument/2006/relationships/notesMaster" Target="notesMasters/notesMaster1.xml"/><Relationship Id="rId42" Type="http://schemas.openxmlformats.org/officeDocument/2006/relationships/font" Target="fonts/font8.fntdata"/><Relationship Id="rId47" Type="http://schemas.openxmlformats.org/officeDocument/2006/relationships/font" Target="fonts/font13.fntdata"/><Relationship Id="rId50" Type="http://schemas.openxmlformats.org/officeDocument/2006/relationships/font" Target="fonts/font16.fntdata"/><Relationship Id="rId55" Type="http://schemas.openxmlformats.org/officeDocument/2006/relationships/presProps" Target="presProp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font" Target="fonts/font3.fntdata"/><Relationship Id="rId40" Type="http://schemas.openxmlformats.org/officeDocument/2006/relationships/font" Target="fonts/font6.fntdata"/><Relationship Id="rId45" Type="http://schemas.openxmlformats.org/officeDocument/2006/relationships/font" Target="fonts/font11.fntdata"/><Relationship Id="rId53" Type="http://schemas.openxmlformats.org/officeDocument/2006/relationships/font" Target="fonts/font19.fntdata"/><Relationship Id="rId58" Type="http://schemas.openxmlformats.org/officeDocument/2006/relationships/tableStyles" Target="tableStyles.xml"/><Relationship Id="rId5" Type="http://schemas.openxmlformats.org/officeDocument/2006/relationships/slide" Target="slides/slide4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font" Target="fonts/font1.fntdata"/><Relationship Id="rId43" Type="http://schemas.openxmlformats.org/officeDocument/2006/relationships/font" Target="fonts/font9.fntdata"/><Relationship Id="rId48" Type="http://schemas.openxmlformats.org/officeDocument/2006/relationships/font" Target="fonts/font14.fntdata"/><Relationship Id="rId56" Type="http://schemas.openxmlformats.org/officeDocument/2006/relationships/viewProps" Target="viewProps.xml"/><Relationship Id="rId8" Type="http://schemas.openxmlformats.org/officeDocument/2006/relationships/slide" Target="slides/slide7.xml"/><Relationship Id="rId51" Type="http://schemas.openxmlformats.org/officeDocument/2006/relationships/font" Target="fonts/font17.fntdata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font" Target="fonts/font4.fntdata"/><Relationship Id="rId46" Type="http://schemas.openxmlformats.org/officeDocument/2006/relationships/font" Target="fonts/font12.fntdata"/><Relationship Id="rId20" Type="http://schemas.openxmlformats.org/officeDocument/2006/relationships/slide" Target="slides/slide19.xml"/><Relationship Id="rId41" Type="http://schemas.openxmlformats.org/officeDocument/2006/relationships/font" Target="fonts/font7.fntdata"/><Relationship Id="rId54" Type="http://schemas.openxmlformats.org/officeDocument/2006/relationships/font" Target="fonts/font20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font" Target="fonts/font2.fntdata"/><Relationship Id="rId49" Type="http://schemas.openxmlformats.org/officeDocument/2006/relationships/font" Target="fonts/font15.fntdata"/><Relationship Id="rId57" Type="http://schemas.openxmlformats.org/officeDocument/2006/relationships/theme" Target="theme/theme1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font" Target="fonts/font10.fntdata"/><Relationship Id="rId52" Type="http://schemas.openxmlformats.org/officeDocument/2006/relationships/font" Target="fonts/font18.fntdata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7268E1E-0E44-426D-905E-8AD9B19D2182}" type="datetimeFigureOut">
              <a:rPr lang="cs-CZ" smtClean="0"/>
              <a:t>23.04.2026</a:t>
            </a:fld>
            <a:endParaRPr lang="cs-CZ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cs-CZ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cs-CZ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71B2431-D351-4C6E-A3CF-9DFAC0E3E050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179888911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Trước khi đi vào các mô hình dự báo chính của hôm nay, chúng ta sẽ cùng đi qua một số khái niệm liên quan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Ví dụ như doanh số theo tháng hoặc nhiệt độ theo ngày. Với loại dữ liệu này, mục tiêu chính là dự báo giá trị trong tương lai dựa trên  quá khứ. </a:t>
            </a:r>
          </a:p>
          <a:p>
            <a:endParaRPr lang="en-US"/>
          </a:p>
          <a:p>
            <a:endParaRPr lang="en-US"/>
          </a:p>
          <a:p>
            <a:r>
              <a:rPr lang="en-US"/>
              <a:t>Trend : Dữ liệu ổn định theo thời gian dài.</a:t>
            </a:r>
          </a:p>
          <a:p>
            <a:endParaRPr lang="en-US"/>
          </a:p>
          <a:p>
            <a:r>
              <a:rPr lang="en-US"/>
              <a:t>seasonality: Biến động lặp lại theo chu kỳ. Ví dụ như vào cuối tuần siêu thị sẽ đông khách hơn ngày thường</a:t>
            </a:r>
          </a:p>
          <a:p>
            <a:endParaRPr lang="en-US"/>
          </a:p>
          <a:p>
            <a:r>
              <a:rPr lang="en-US"/>
              <a:t>Yếu tố bên ngoài, ảnh hưởng mạnh đến dữ liệu, làm thay đổi trend,…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Biểu đồ "Yearly" : Quy luật lặp đi lặp lại hằng năm</a:t>
            </a:r>
          </a:p>
          <a:p>
            <a:r>
              <a:rPr lang="en-US"/>
              <a:t>Yearly (Tính thời vụ theo năm): Cho thấy quy luật lặp đi lặp lại hàng năm từ tháng 1 đến tháng 12</a:t>
            </a:r>
          </a:p>
          <a:p>
            <a:r>
              <a:rPr lang="en-US"/>
              <a:t>Biểu đồ "trend" Xu hướng là sự chuyển động tổng thể của dữ liệu theo một hướng cụ thể trong một khoảng thời gian dài hạn. 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- Date: Ngày ghi nhận (ngày kết thúc tuần)</a:t>
            </a:r>
          </a:p>
          <a:p>
            <a:r>
              <a:rPr lang="en-US"/>
              <a:t>- AveragePrice: Giá bán trung bình của một quả bơ</a:t>
            </a:r>
          </a:p>
          <a:p>
            <a:r>
              <a:rPr lang="en-US"/>
              <a:t>- Total Volume: Tổng số lượng bơ bán ra trong tuần</a:t>
            </a:r>
          </a:p>
          <a:p>
            <a:r>
              <a:rPr lang="en-US"/>
              <a:t>- 4046: Bơ cỡ nhỏ / trung đã bán</a:t>
            </a:r>
          </a:p>
          <a:p>
            <a:r>
              <a:rPr lang="en-US"/>
              <a:t>- 4225: Bơ cỡ lớn đã bán</a:t>
            </a:r>
          </a:p>
          <a:p>
            <a:r>
              <a:rPr lang="en-US"/>
              <a:t>- 4770: Bơ cỡ rất lớn đã bán</a:t>
            </a:r>
          </a:p>
          <a:p>
            <a:r>
              <a:rPr lang="en-US"/>
              <a:t>- Total Bags: Tổng số túi bơ đã bán</a:t>
            </a:r>
          </a:p>
          <a:p>
            <a:r>
              <a:rPr lang="en-US"/>
              <a:t>- Small Bags: Số túi nhỏ đã bán</a:t>
            </a:r>
          </a:p>
          <a:p>
            <a:r>
              <a:rPr lang="en-US"/>
              <a:t>- Large Bags: Số túi lớn đã bán</a:t>
            </a:r>
          </a:p>
          <a:p>
            <a:r>
              <a:rPr lang="en-US"/>
              <a:t>- XLarge Bags: Số túi cực lớn đã bán</a:t>
            </a:r>
          </a:p>
          <a:p>
            <a:r>
              <a:rPr lang="en-US"/>
              <a:t>- type: Loại bơ. Gồm 2 loại: conventional (thông thường) hoặc organic (hữu cơ)</a:t>
            </a:r>
          </a:p>
          <a:p>
            <a:r>
              <a:rPr lang="en-US"/>
              <a:t>- year: Năm của dữ liệu đó (2015 - 2018)</a:t>
            </a:r>
          </a:p>
          <a:p>
            <a:r>
              <a:rPr lang="en-US"/>
              <a:t>- region: Khu vực bán hàng (vd: Albany, California...)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 điều chỉnh độ nhạy của mô hình đối với sự thay đổi trong xu hướng dữ liệu.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p : Tính tự hồi quy: Số lượng bước thgian trong quá khứ.</a:t>
            </a:r>
          </a:p>
          <a:p>
            <a:r>
              <a:rPr lang="en-US"/>
              <a:t>Nếu p=1: Giá trị hôm nay phụ thuộc vào giá trị ngày hôm qua.Nếu p=2: Giá trị hôm nay phụ thuộc vào cả ngày hôm qua và ngày hôm kia.</a:t>
            </a:r>
          </a:p>
          <a:p>
            <a:endParaRPr lang="en-US"/>
          </a:p>
          <a:p>
            <a:r>
              <a:rPr lang="en-US"/>
              <a:t>là số lượng sai số (nhiễu) trong quá khứ được đưa vào dự báo.</a:t>
            </a:r>
          </a:p>
          <a:p>
            <a:endParaRPr lang="en-US"/>
          </a:p>
          <a:p>
            <a:r>
              <a:rPr lang="en-US"/>
              <a:t>q : lấy sai số của quá khứ để nắn chỉnh cho hiện tại.</a:t>
            </a:r>
          </a:p>
          <a:p>
            <a:endParaRPr lang="en-US"/>
          </a:p>
          <a:p>
            <a:r>
              <a:rPr lang="en-US"/>
              <a:t>ham số d và D chính là bậc sai phân. Ở đây chúng ta để d=1 và D=1 làm mặc định ban đầu để khử trend và tính mùa vụ, giúp đưa dữ liệu về trạng thái dừng trước khi huấn luyện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CO(GT): Nồng độ khí CO (Carbon Monoxide) thực tế (mg/m³)</a:t>
            </a:r>
          </a:p>
          <a:p>
            <a:r>
              <a:rPr lang="en-US"/>
              <a:t>PT08.S1(CO): Giá trị cảm biến đo CO</a:t>
            </a:r>
          </a:p>
          <a:p>
            <a:r>
              <a:rPr lang="en-US"/>
              <a:t>NMHC(GT): Nồng độ Hydrocarbon không metan</a:t>
            </a:r>
          </a:p>
          <a:p>
            <a:r>
              <a:rPr lang="en-US"/>
              <a:t>C6H6(GT): Nồng độ Benzene (µg/m³)</a:t>
            </a:r>
          </a:p>
          <a:p>
            <a:r>
              <a:rPr lang="en-US"/>
              <a:t>PT08.S2(NMHC): Cảm biến liên quan đến NMHC</a:t>
            </a:r>
          </a:p>
          <a:p>
            <a:r>
              <a:rPr lang="en-US"/>
              <a:t>NOx(GT): Nồng độ Nitrogen Oxides</a:t>
            </a:r>
          </a:p>
          <a:p>
            <a:r>
              <a:rPr lang="en-US"/>
              <a:t>PT08.S3(NOx): Cảm biến đo NOx</a:t>
            </a:r>
          </a:p>
          <a:p>
            <a:r>
              <a:rPr lang="en-US"/>
              <a:t>NO2(GT): Nồng độ Nitrogen Dioxide</a:t>
            </a:r>
          </a:p>
          <a:p>
            <a:r>
              <a:rPr lang="en-US"/>
              <a:t>PT08.S4(NO2): Cảm biến đo NO2</a:t>
            </a:r>
          </a:p>
          <a:p>
            <a:r>
              <a:rPr lang="en-US"/>
              <a:t>PT08.S5(O3): Cảm biến đo Ozone (O₃)</a:t>
            </a:r>
          </a:p>
          <a:p>
            <a:r>
              <a:rPr lang="en-US"/>
              <a:t>T: Nhiệt độ (°C)</a:t>
            </a:r>
          </a:p>
          <a:p>
            <a:r>
              <a:rPr lang="en-US"/>
              <a:t>RH: Độ ẩm tương đối (%)</a:t>
            </a:r>
          </a:p>
          <a:p>
            <a:r>
              <a:rPr lang="en-US"/>
              <a:t>AH: Độ ẩm tuyệt đối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 dirty="0" err="1"/>
              <a:t>Khác</a:t>
            </a:r>
            <a:r>
              <a:rPr lang="en-US" dirty="0"/>
              <a:t> </a:t>
            </a:r>
            <a:r>
              <a:rPr lang="en-US" dirty="0" err="1"/>
              <a:t>với</a:t>
            </a:r>
            <a:r>
              <a:rPr lang="en-US" dirty="0"/>
              <a:t> ARIMA </a:t>
            </a:r>
            <a:r>
              <a:rPr lang="en-US" dirty="0" err="1"/>
              <a:t>thì</a:t>
            </a:r>
            <a:r>
              <a:rPr lang="en-US" dirty="0"/>
              <a:t> VAR </a:t>
            </a:r>
            <a:r>
              <a:rPr lang="en-US" dirty="0" err="1"/>
              <a:t>cần</a:t>
            </a:r>
            <a:r>
              <a:rPr lang="en-US" dirty="0"/>
              <a:t> </a:t>
            </a:r>
            <a:r>
              <a:rPr lang="en-US" dirty="0" err="1"/>
              <a:t>kiểm</a:t>
            </a:r>
            <a:r>
              <a:rPr lang="en-US" dirty="0"/>
              <a:t>  </a:t>
            </a:r>
            <a:r>
              <a:rPr lang="en-US" dirty="0" err="1"/>
              <a:t>định</a:t>
            </a:r>
            <a:r>
              <a:rPr lang="en-US" dirty="0"/>
              <a:t> cointegration </a:t>
            </a:r>
            <a:r>
              <a:rPr lang="en-US" dirty="0" err="1"/>
              <a:t>vì</a:t>
            </a:r>
            <a:r>
              <a:rPr lang="en-US" dirty="0"/>
              <a:t> </a:t>
            </a:r>
            <a:r>
              <a:rPr lang="en-US" dirty="0" err="1"/>
              <a:t>nó</a:t>
            </a:r>
            <a:r>
              <a:rPr lang="en-US" dirty="0"/>
              <a:t> </a:t>
            </a:r>
            <a:r>
              <a:rPr lang="en-US" dirty="0" err="1"/>
              <a:t>là</a:t>
            </a:r>
            <a:r>
              <a:rPr lang="en-US" dirty="0"/>
              <a:t> </a:t>
            </a:r>
            <a:r>
              <a:rPr lang="en-US" dirty="0" err="1"/>
              <a:t>mô</a:t>
            </a:r>
            <a:r>
              <a:rPr lang="en-US" dirty="0"/>
              <a:t> </a:t>
            </a:r>
            <a:r>
              <a:rPr lang="en-US" dirty="0" err="1"/>
              <a:t>hình</a:t>
            </a:r>
            <a:r>
              <a:rPr lang="en-US" dirty="0"/>
              <a:t> </a:t>
            </a:r>
            <a:r>
              <a:rPr lang="en-US" dirty="0" err="1"/>
              <a:t>đa</a:t>
            </a:r>
            <a:r>
              <a:rPr lang="en-US" dirty="0"/>
              <a:t> </a:t>
            </a:r>
            <a:r>
              <a:rPr lang="en-US" dirty="0" err="1"/>
              <a:t>biến</a:t>
            </a:r>
            <a:r>
              <a:rPr lang="en-US" dirty="0"/>
              <a:t>, </a:t>
            </a:r>
            <a:r>
              <a:rPr lang="en-US" dirty="0" err="1"/>
              <a:t>các</a:t>
            </a:r>
            <a:r>
              <a:rPr lang="en-US" dirty="0"/>
              <a:t> </a:t>
            </a:r>
            <a:r>
              <a:rPr lang="en-US" dirty="0" err="1"/>
              <a:t>biến</a:t>
            </a:r>
            <a:r>
              <a:rPr lang="en-US" dirty="0"/>
              <a:t> </a:t>
            </a:r>
            <a:r>
              <a:rPr lang="en-US" dirty="0" err="1"/>
              <a:t>có</a:t>
            </a:r>
            <a:r>
              <a:rPr lang="en-US" dirty="0"/>
              <a:t> </a:t>
            </a:r>
            <a:r>
              <a:rPr lang="en-US" dirty="0" err="1"/>
              <a:t>thể</a:t>
            </a:r>
            <a:r>
              <a:rPr lang="en-US" dirty="0"/>
              <a:t> </a:t>
            </a:r>
            <a:r>
              <a:rPr lang="en-US" dirty="0" err="1"/>
              <a:t>có</a:t>
            </a:r>
            <a:r>
              <a:rPr lang="en-US" dirty="0"/>
              <a:t> </a:t>
            </a:r>
            <a:r>
              <a:rPr lang="en-US" dirty="0" err="1"/>
              <a:t>mối</a:t>
            </a:r>
            <a:r>
              <a:rPr lang="en-US" dirty="0"/>
              <a:t> </a:t>
            </a:r>
            <a:r>
              <a:rPr lang="en-US" dirty="0" err="1"/>
              <a:t>quan</a:t>
            </a:r>
            <a:r>
              <a:rPr lang="en-US" dirty="0"/>
              <a:t> </a:t>
            </a:r>
            <a:r>
              <a:rPr lang="en-US" dirty="0" err="1"/>
              <a:t>hệ</a:t>
            </a:r>
            <a:r>
              <a:rPr lang="en-US" dirty="0"/>
              <a:t> </a:t>
            </a:r>
            <a:r>
              <a:rPr lang="en-US" dirty="0" err="1"/>
              <a:t>dài</a:t>
            </a:r>
            <a:r>
              <a:rPr lang="en-US" dirty="0"/>
              <a:t> </a:t>
            </a:r>
            <a:r>
              <a:rPr lang="en-US" dirty="0" err="1"/>
              <a:t>hạn</a:t>
            </a:r>
            <a:r>
              <a:rPr lang="en-US" dirty="0"/>
              <a:t> </a:t>
            </a:r>
            <a:r>
              <a:rPr lang="en-US" dirty="0" err="1"/>
              <a:t>với</a:t>
            </a:r>
            <a:r>
              <a:rPr lang="en-US" dirty="0"/>
              <a:t> </a:t>
            </a:r>
            <a:r>
              <a:rPr lang="en-US" dirty="0" err="1"/>
              <a:t>nhau</a:t>
            </a:r>
            <a:r>
              <a:rPr lang="en-US" dirty="0"/>
              <a:t> 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Như trong hình, kết quả dự báo không phải là 1 cột,</a:t>
            </a:r>
          </a:p>
          <a:p>
            <a:r>
              <a:rPr lang="en-US"/>
              <a:t>mà là một ma trận, vì VAR dự báo nhiều biến cùng lúc.</a:t>
            </a:r>
          </a:p>
          <a:p>
            <a:endParaRPr lang="en-US"/>
          </a:p>
          <a:p>
            <a:r>
              <a:rPr lang="en-US"/>
              <a:t>Mỗi hàng là một thời điểm trong tương lai,</a:t>
            </a:r>
          </a:p>
          <a:p>
            <a:r>
              <a:rPr lang="en-US"/>
              <a:t>mỗi cột là một biến như CO, NO2, nhiệt độ, độ ẩm,…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endParaRPr/>
          </a:p>
          <a:p>
            <a:r>
              <a:rPr lang="en-US"/>
              <a:t>Như vậy, sau khi huấn luyện và dự báo bằng VAR,</a:t>
            </a:r>
          </a:p>
          <a:p>
            <a:r>
              <a:rPr lang="en-US"/>
              <a:t>chúng ta có thể đánh giá hiệu quả mô hình thông qua RMSE cho từng biến.</a:t>
            </a:r>
          </a:p>
          <a:p>
            <a:endParaRPr lang="en-US"/>
          </a:p>
          <a:p>
            <a:r>
              <a:rPr lang="en-US"/>
              <a:t>RMSE là sai số giữa giá trị dự báo và giá trị thực tế.</a:t>
            </a:r>
          </a:p>
          <a:p>
            <a:r>
              <a:rPr lang="en-US"/>
              <a:t>Giá trị này càng nhỏ thì mô hình dự đoán càng chính xác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Dữ liệu kinh doanh có tính chu kỳ, bị nhiễu, có ngày lễ</a:t>
            </a:r>
          </a:p>
          <a:p>
            <a:endParaRPr lang="en-US"/>
          </a:p>
          <a:p>
            <a:r>
              <a:rPr lang="en-US"/>
              <a:t>Dữ liệu tài chính ngắn hạn, cấu trúc ổn định</a:t>
            </a:r>
          </a:p>
          <a:p>
            <a:endParaRPr lang="en-US"/>
          </a:p>
          <a:p>
            <a:r>
              <a:rPr lang="en-US"/>
              <a:t>Dự báo mối quan hệ tương hỗ giữa nhiều biến kinh tế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4/23/2026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4/23/2026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4/23/2026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4/23/2026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4/23/2026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4/23/2026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4/23/2026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sv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4.svg"/><Relationship Id="rId4" Type="http://schemas.openxmlformats.org/officeDocument/2006/relationships/image" Target="../media/image3.sv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sv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.sv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sv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9.png"/><Relationship Id="rId4" Type="http://schemas.openxmlformats.org/officeDocument/2006/relationships/image" Target="../media/image8.sv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sv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0.gif"/><Relationship Id="rId5" Type="http://schemas.openxmlformats.org/officeDocument/2006/relationships/image" Target="../media/image9.png"/><Relationship Id="rId4" Type="http://schemas.openxmlformats.org/officeDocument/2006/relationships/image" Target="../media/image8.sv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svg"/><Relationship Id="rId2" Type="http://schemas.openxmlformats.org/officeDocument/2006/relationships/image" Target="../media/image7.sv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10.gif"/><Relationship Id="rId4" Type="http://schemas.openxmlformats.org/officeDocument/2006/relationships/image" Target="../media/image9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sv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0.gif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2.gif"/><Relationship Id="rId5" Type="http://schemas.openxmlformats.org/officeDocument/2006/relationships/image" Target="../media/image11.png"/><Relationship Id="rId4" Type="http://schemas.openxmlformats.org/officeDocument/2006/relationships/image" Target="../media/image8.sv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8.sv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sv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3.sv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7.sv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6.png"/><Relationship Id="rId5" Type="http://schemas.openxmlformats.org/officeDocument/2006/relationships/image" Target="../media/image8.svg"/><Relationship Id="rId4" Type="http://schemas.openxmlformats.org/officeDocument/2006/relationships/image" Target="../media/image15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7.sv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8.png"/><Relationship Id="rId5" Type="http://schemas.openxmlformats.org/officeDocument/2006/relationships/image" Target="../media/image8.svg"/><Relationship Id="rId4" Type="http://schemas.openxmlformats.org/officeDocument/2006/relationships/image" Target="../media/image17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sv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19.png"/><Relationship Id="rId4" Type="http://schemas.openxmlformats.org/officeDocument/2006/relationships/image" Target="../media/image18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sv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1.png"/><Relationship Id="rId5" Type="http://schemas.openxmlformats.org/officeDocument/2006/relationships/image" Target="../media/image20.png"/><Relationship Id="rId4" Type="http://schemas.openxmlformats.org/officeDocument/2006/relationships/image" Target="../media/image9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7.sv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2.gif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7.svg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7.sv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3.png"/></Relationships>
</file>

<file path=ppt/slides/_rels/slide18.xml.rels><?xml version="1.0" encoding="UTF-8" standalone="yes"?>
<Relationships xmlns="http://schemas.openxmlformats.org/package/2006/relationships"><Relationship Id="rId8" Type="http://schemas.openxmlformats.org/officeDocument/2006/relationships/image" Target="../media/image28.svg"/><Relationship Id="rId3" Type="http://schemas.openxmlformats.org/officeDocument/2006/relationships/image" Target="../media/image9.png"/><Relationship Id="rId7" Type="http://schemas.openxmlformats.org/officeDocument/2006/relationships/image" Target="../media/image27.svg"/><Relationship Id="rId2" Type="http://schemas.openxmlformats.org/officeDocument/2006/relationships/image" Target="../media/image7.sv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6.svg"/><Relationship Id="rId5" Type="http://schemas.openxmlformats.org/officeDocument/2006/relationships/image" Target="../media/image25.svg"/><Relationship Id="rId4" Type="http://schemas.openxmlformats.org/officeDocument/2006/relationships/image" Target="../media/image24.svg"/><Relationship Id="rId9" Type="http://schemas.openxmlformats.org/officeDocument/2006/relationships/image" Target="../media/image29.sv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7.sv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8.svg"/><Relationship Id="rId4" Type="http://schemas.openxmlformats.org/officeDocument/2006/relationships/image" Target="../media/image30.pn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7.sv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32.svg"/><Relationship Id="rId4" Type="http://schemas.openxmlformats.org/officeDocument/2006/relationships/image" Target="../media/image31.gif"/></Relationships>
</file>

<file path=ppt/slides/_rels/slide21.xml.rels><?xml version="1.0" encoding="UTF-8" standalone="yes"?>
<Relationships xmlns="http://schemas.openxmlformats.org/package/2006/relationships"><Relationship Id="rId8" Type="http://schemas.openxmlformats.org/officeDocument/2006/relationships/image" Target="../media/image27.svg"/><Relationship Id="rId3" Type="http://schemas.openxmlformats.org/officeDocument/2006/relationships/image" Target="../media/image9.png"/><Relationship Id="rId7" Type="http://schemas.openxmlformats.org/officeDocument/2006/relationships/image" Target="../media/image29.svg"/><Relationship Id="rId2" Type="http://schemas.openxmlformats.org/officeDocument/2006/relationships/image" Target="../media/image7.sv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6.svg"/><Relationship Id="rId5" Type="http://schemas.openxmlformats.org/officeDocument/2006/relationships/image" Target="../media/image25.svg"/><Relationship Id="rId4" Type="http://schemas.openxmlformats.org/officeDocument/2006/relationships/image" Target="../media/image24.svg"/><Relationship Id="rId9" Type="http://schemas.openxmlformats.org/officeDocument/2006/relationships/image" Target="../media/image33.png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7.sv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35.png"/><Relationship Id="rId4" Type="http://schemas.openxmlformats.org/officeDocument/2006/relationships/image" Target="../media/image34.png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sv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9.png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7.sv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8.svg"/><Relationship Id="rId4" Type="http://schemas.openxmlformats.org/officeDocument/2006/relationships/image" Target="../media/image36.png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7.sv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0.gif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sv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37.png"/><Relationship Id="rId4" Type="http://schemas.openxmlformats.org/officeDocument/2006/relationships/image" Target="../media/image9.png"/></Relationships>
</file>

<file path=ppt/slides/_rels/slide27.xml.rels><?xml version="1.0" encoding="UTF-8" standalone="yes"?>
<Relationships xmlns="http://schemas.openxmlformats.org/package/2006/relationships"><Relationship Id="rId8" Type="http://schemas.openxmlformats.org/officeDocument/2006/relationships/image" Target="../media/image27.svg"/><Relationship Id="rId3" Type="http://schemas.openxmlformats.org/officeDocument/2006/relationships/image" Target="../media/image9.png"/><Relationship Id="rId7" Type="http://schemas.openxmlformats.org/officeDocument/2006/relationships/image" Target="../media/image29.svg"/><Relationship Id="rId2" Type="http://schemas.openxmlformats.org/officeDocument/2006/relationships/image" Target="../media/image7.sv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6.svg"/><Relationship Id="rId5" Type="http://schemas.openxmlformats.org/officeDocument/2006/relationships/image" Target="../media/image25.svg"/><Relationship Id="rId4" Type="http://schemas.openxmlformats.org/officeDocument/2006/relationships/image" Target="../media/image24.svg"/><Relationship Id="rId9" Type="http://schemas.openxmlformats.org/officeDocument/2006/relationships/image" Target="../media/image38.gif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svg"/><Relationship Id="rId7" Type="http://schemas.openxmlformats.org/officeDocument/2006/relationships/image" Target="../media/image41.sv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40.svg"/><Relationship Id="rId5" Type="http://schemas.openxmlformats.org/officeDocument/2006/relationships/image" Target="../media/image39.svg"/><Relationship Id="rId4" Type="http://schemas.openxmlformats.org/officeDocument/2006/relationships/image" Target="../media/image9.png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sv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42.png"/><Relationship Id="rId5" Type="http://schemas.openxmlformats.org/officeDocument/2006/relationships/image" Target="../media/image8.svg"/><Relationship Id="rId4" Type="http://schemas.openxmlformats.org/officeDocument/2006/relationships/image" Target="../media/image9.png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sv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43.png"/><Relationship Id="rId5" Type="http://schemas.openxmlformats.org/officeDocument/2006/relationships/image" Target="../media/image8.svg"/><Relationship Id="rId4" Type="http://schemas.openxmlformats.org/officeDocument/2006/relationships/image" Target="../media/image9.png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sv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9.png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44.sv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3.svg"/><Relationship Id="rId4" Type="http://schemas.openxmlformats.org/officeDocument/2006/relationships/image" Target="../media/image1.sv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EF6F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3900700" y="2781078"/>
            <a:ext cx="10486600" cy="395922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9699"/>
              </a:lnSpc>
            </a:pPr>
            <a:r>
              <a:rPr lang="en-US" sz="9999">
                <a:solidFill>
                  <a:srgbClr val="090147"/>
                </a:solidFill>
                <a:latin typeface="Bungee"/>
                <a:ea typeface="Bungee"/>
                <a:cs typeface="Bungee"/>
                <a:sym typeface="Bungee"/>
              </a:rPr>
              <a:t>Time Series Algorithms Recipes</a:t>
            </a:r>
          </a:p>
        </p:txBody>
      </p:sp>
      <p:sp>
        <p:nvSpPr>
          <p:cNvPr id="3" name="Freeform 3"/>
          <p:cNvSpPr/>
          <p:nvPr/>
        </p:nvSpPr>
        <p:spPr>
          <a:xfrm>
            <a:off x="14322918" y="4783378"/>
            <a:ext cx="6733446" cy="7030847"/>
          </a:xfrm>
          <a:custGeom>
            <a:avLst/>
            <a:gdLst/>
            <a:ahLst/>
            <a:cxnLst/>
            <a:rect l="l" t="t" r="r" b="b"/>
            <a:pathLst>
              <a:path w="6733446" h="7030847">
                <a:moveTo>
                  <a:pt x="0" y="0"/>
                </a:moveTo>
                <a:lnTo>
                  <a:pt x="6733447" y="0"/>
                </a:lnTo>
                <a:lnTo>
                  <a:pt x="6733447" y="7030846"/>
                </a:lnTo>
                <a:lnTo>
                  <a:pt x="0" y="7030846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4" name="Freeform 4"/>
          <p:cNvSpPr/>
          <p:nvPr/>
        </p:nvSpPr>
        <p:spPr>
          <a:xfrm>
            <a:off x="15502852" y="-2947892"/>
            <a:ext cx="5174922" cy="5172766"/>
          </a:xfrm>
          <a:custGeom>
            <a:avLst/>
            <a:gdLst/>
            <a:ahLst/>
            <a:cxnLst/>
            <a:rect l="l" t="t" r="r" b="b"/>
            <a:pathLst>
              <a:path w="5174922" h="5172766">
                <a:moveTo>
                  <a:pt x="0" y="0"/>
                </a:moveTo>
                <a:lnTo>
                  <a:pt x="5174923" y="0"/>
                </a:lnTo>
                <a:lnTo>
                  <a:pt x="5174923" y="5172766"/>
                </a:lnTo>
                <a:lnTo>
                  <a:pt x="0" y="5172766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grpSp>
        <p:nvGrpSpPr>
          <p:cNvPr id="5" name="Group 5"/>
          <p:cNvGrpSpPr/>
          <p:nvPr/>
        </p:nvGrpSpPr>
        <p:grpSpPr>
          <a:xfrm>
            <a:off x="6618371" y="6818096"/>
            <a:ext cx="4950995" cy="880311"/>
            <a:chOff x="0" y="0"/>
            <a:chExt cx="1303966" cy="231851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1303966" cy="231851"/>
            </a:xfrm>
            <a:custGeom>
              <a:avLst/>
              <a:gdLst/>
              <a:ahLst/>
              <a:cxnLst/>
              <a:rect l="l" t="t" r="r" b="b"/>
              <a:pathLst>
                <a:path w="1303966" h="231851">
                  <a:moveTo>
                    <a:pt x="79163" y="0"/>
                  </a:moveTo>
                  <a:lnTo>
                    <a:pt x="1224803" y="0"/>
                  </a:lnTo>
                  <a:cubicBezTo>
                    <a:pt x="1268523" y="0"/>
                    <a:pt x="1303966" y="35442"/>
                    <a:pt x="1303966" y="79163"/>
                  </a:cubicBezTo>
                  <a:lnTo>
                    <a:pt x="1303966" y="152689"/>
                  </a:lnTo>
                  <a:cubicBezTo>
                    <a:pt x="1303966" y="173684"/>
                    <a:pt x="1295625" y="193819"/>
                    <a:pt x="1280779" y="208665"/>
                  </a:cubicBezTo>
                  <a:cubicBezTo>
                    <a:pt x="1265933" y="223511"/>
                    <a:pt x="1245798" y="231851"/>
                    <a:pt x="1224803" y="231851"/>
                  </a:cubicBezTo>
                  <a:lnTo>
                    <a:pt x="79163" y="231851"/>
                  </a:lnTo>
                  <a:cubicBezTo>
                    <a:pt x="58168" y="231851"/>
                    <a:pt x="38032" y="223511"/>
                    <a:pt x="23186" y="208665"/>
                  </a:cubicBezTo>
                  <a:cubicBezTo>
                    <a:pt x="8340" y="193819"/>
                    <a:pt x="0" y="173684"/>
                    <a:pt x="0" y="152689"/>
                  </a:cubicBezTo>
                  <a:lnTo>
                    <a:pt x="0" y="79163"/>
                  </a:lnTo>
                  <a:cubicBezTo>
                    <a:pt x="0" y="58168"/>
                    <a:pt x="8340" y="38032"/>
                    <a:pt x="23186" y="23186"/>
                  </a:cubicBezTo>
                  <a:cubicBezTo>
                    <a:pt x="38032" y="8340"/>
                    <a:pt x="58168" y="0"/>
                    <a:pt x="79163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2D8BBA">
                    <a:alpha val="100000"/>
                  </a:srgbClr>
                </a:gs>
                <a:gs pos="100000">
                  <a:srgbClr val="192385">
                    <a:alpha val="100000"/>
                  </a:srgbClr>
                </a:gs>
              </a:gsLst>
              <a:lin ang="0"/>
            </a:gradFill>
          </p:spPr>
          <p:txBody>
            <a:bodyPr/>
            <a:lstStyle/>
            <a:p>
              <a:endParaRPr lang="en-US"/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0" y="-38100"/>
              <a:ext cx="1303966" cy="269951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8" name="Freeform 8"/>
          <p:cNvSpPr/>
          <p:nvPr/>
        </p:nvSpPr>
        <p:spPr>
          <a:xfrm>
            <a:off x="6300712" y="-1889926"/>
            <a:ext cx="4420195" cy="4114800"/>
          </a:xfrm>
          <a:custGeom>
            <a:avLst/>
            <a:gdLst/>
            <a:ahLst/>
            <a:cxnLst/>
            <a:rect l="l" t="t" r="r" b="b"/>
            <a:pathLst>
              <a:path w="4420195" h="4114800">
                <a:moveTo>
                  <a:pt x="0" y="0"/>
                </a:moveTo>
                <a:lnTo>
                  <a:pt x="4420195" y="0"/>
                </a:lnTo>
                <a:lnTo>
                  <a:pt x="4420195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alphaModFix amt="46000"/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9" name="TextBox 9"/>
          <p:cNvSpPr txBox="1"/>
          <p:nvPr/>
        </p:nvSpPr>
        <p:spPr>
          <a:xfrm>
            <a:off x="5879607" y="6830234"/>
            <a:ext cx="6528787" cy="77031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6366"/>
              </a:lnSpc>
            </a:pPr>
            <a:r>
              <a:rPr lang="en-US" sz="4547" b="1" spc="50">
                <a:solidFill>
                  <a:srgbClr val="FFFFFF"/>
                </a:solidFill>
                <a:latin typeface="Krub Bold"/>
                <a:ea typeface="Krub Bold"/>
                <a:cs typeface="Krub Bold"/>
                <a:sym typeface="Krub Bold"/>
              </a:rPr>
              <a:t>CHAPTER 3</a:t>
            </a:r>
          </a:p>
        </p:txBody>
      </p:sp>
      <p:sp>
        <p:nvSpPr>
          <p:cNvPr id="10" name="Freeform 10"/>
          <p:cNvSpPr/>
          <p:nvPr/>
        </p:nvSpPr>
        <p:spPr>
          <a:xfrm rot="-10321493">
            <a:off x="6300712" y="8352127"/>
            <a:ext cx="4420195" cy="4114800"/>
          </a:xfrm>
          <a:custGeom>
            <a:avLst/>
            <a:gdLst/>
            <a:ahLst/>
            <a:cxnLst/>
            <a:rect l="l" t="t" r="r" b="b"/>
            <a:pathLst>
              <a:path w="4420195" h="4114800">
                <a:moveTo>
                  <a:pt x="0" y="0"/>
                </a:moveTo>
                <a:lnTo>
                  <a:pt x="4420195" y="0"/>
                </a:lnTo>
                <a:lnTo>
                  <a:pt x="4420195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alphaModFix amt="46000"/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11" name="Freeform 11"/>
          <p:cNvSpPr/>
          <p:nvPr/>
        </p:nvSpPr>
        <p:spPr>
          <a:xfrm>
            <a:off x="-110928" y="-199848"/>
            <a:ext cx="2583945" cy="2457096"/>
          </a:xfrm>
          <a:custGeom>
            <a:avLst/>
            <a:gdLst/>
            <a:ahLst/>
            <a:cxnLst/>
            <a:rect l="l" t="t" r="r" b="b"/>
            <a:pathLst>
              <a:path w="2583945" h="2457096">
                <a:moveTo>
                  <a:pt x="0" y="0"/>
                </a:moveTo>
                <a:lnTo>
                  <a:pt x="2583944" y="0"/>
                </a:lnTo>
                <a:lnTo>
                  <a:pt x="2583944" y="2457096"/>
                </a:lnTo>
                <a:lnTo>
                  <a:pt x="0" y="2457096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EF6F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15006202" y="1547800"/>
            <a:ext cx="7131854" cy="9334888"/>
          </a:xfrm>
          <a:custGeom>
            <a:avLst/>
            <a:gdLst/>
            <a:ahLst/>
            <a:cxnLst/>
            <a:rect l="l" t="t" r="r" b="b"/>
            <a:pathLst>
              <a:path w="7131854" h="9334888">
                <a:moveTo>
                  <a:pt x="0" y="0"/>
                </a:moveTo>
                <a:lnTo>
                  <a:pt x="7131854" y="0"/>
                </a:lnTo>
                <a:lnTo>
                  <a:pt x="7131854" y="9334887"/>
                </a:lnTo>
                <a:lnTo>
                  <a:pt x="0" y="9334887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grpSp>
        <p:nvGrpSpPr>
          <p:cNvPr id="3" name="Group 3"/>
          <p:cNvGrpSpPr/>
          <p:nvPr/>
        </p:nvGrpSpPr>
        <p:grpSpPr>
          <a:xfrm>
            <a:off x="3520655" y="5538491"/>
            <a:ext cx="11246689" cy="1343924"/>
            <a:chOff x="0" y="0"/>
            <a:chExt cx="2962091" cy="353955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2962091" cy="353955"/>
            </a:xfrm>
            <a:custGeom>
              <a:avLst/>
              <a:gdLst/>
              <a:ahLst/>
              <a:cxnLst/>
              <a:rect l="l" t="t" r="r" b="b"/>
              <a:pathLst>
                <a:path w="2962091" h="353955">
                  <a:moveTo>
                    <a:pt x="34849" y="0"/>
                  </a:moveTo>
                  <a:lnTo>
                    <a:pt x="2927242" y="0"/>
                  </a:lnTo>
                  <a:cubicBezTo>
                    <a:pt x="2936485" y="0"/>
                    <a:pt x="2945349" y="3672"/>
                    <a:pt x="2951884" y="10207"/>
                  </a:cubicBezTo>
                  <a:cubicBezTo>
                    <a:pt x="2958420" y="16742"/>
                    <a:pt x="2962091" y="25606"/>
                    <a:pt x="2962091" y="34849"/>
                  </a:cubicBezTo>
                  <a:lnTo>
                    <a:pt x="2962091" y="319106"/>
                  </a:lnTo>
                  <a:cubicBezTo>
                    <a:pt x="2962091" y="338353"/>
                    <a:pt x="2946489" y="353955"/>
                    <a:pt x="2927242" y="353955"/>
                  </a:cubicBezTo>
                  <a:lnTo>
                    <a:pt x="34849" y="353955"/>
                  </a:lnTo>
                  <a:cubicBezTo>
                    <a:pt x="25606" y="353955"/>
                    <a:pt x="16742" y="350284"/>
                    <a:pt x="10207" y="343748"/>
                  </a:cubicBezTo>
                  <a:cubicBezTo>
                    <a:pt x="3672" y="337213"/>
                    <a:pt x="0" y="328349"/>
                    <a:pt x="0" y="319106"/>
                  </a:cubicBezTo>
                  <a:lnTo>
                    <a:pt x="0" y="34849"/>
                  </a:lnTo>
                  <a:cubicBezTo>
                    <a:pt x="0" y="25606"/>
                    <a:pt x="3672" y="16742"/>
                    <a:pt x="10207" y="10207"/>
                  </a:cubicBezTo>
                  <a:cubicBezTo>
                    <a:pt x="16742" y="3672"/>
                    <a:pt x="25606" y="0"/>
                    <a:pt x="34849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2D8BBA">
                    <a:alpha val="100000"/>
                  </a:srgbClr>
                </a:gs>
                <a:gs pos="100000">
                  <a:srgbClr val="192385">
                    <a:alpha val="100000"/>
                  </a:srgbClr>
                </a:gs>
              </a:gsLst>
              <a:lin ang="0"/>
            </a:gradFill>
          </p:spPr>
          <p:txBody>
            <a:bodyPr/>
            <a:lstStyle/>
            <a:p>
              <a:endParaRPr lang="en-US"/>
            </a:p>
          </p:txBody>
        </p:sp>
        <p:sp>
          <p:nvSpPr>
            <p:cNvPr id="5" name="TextBox 5"/>
            <p:cNvSpPr txBox="1"/>
            <p:nvPr/>
          </p:nvSpPr>
          <p:spPr>
            <a:xfrm>
              <a:off x="0" y="-38100"/>
              <a:ext cx="2962091" cy="39205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6" name="Group 6"/>
          <p:cNvGrpSpPr/>
          <p:nvPr/>
        </p:nvGrpSpPr>
        <p:grpSpPr>
          <a:xfrm>
            <a:off x="3520655" y="3349843"/>
            <a:ext cx="11246689" cy="1343924"/>
            <a:chOff x="0" y="0"/>
            <a:chExt cx="2962091" cy="353955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2962091" cy="353955"/>
            </a:xfrm>
            <a:custGeom>
              <a:avLst/>
              <a:gdLst/>
              <a:ahLst/>
              <a:cxnLst/>
              <a:rect l="l" t="t" r="r" b="b"/>
              <a:pathLst>
                <a:path w="2962091" h="353955">
                  <a:moveTo>
                    <a:pt x="34849" y="0"/>
                  </a:moveTo>
                  <a:lnTo>
                    <a:pt x="2927242" y="0"/>
                  </a:lnTo>
                  <a:cubicBezTo>
                    <a:pt x="2936485" y="0"/>
                    <a:pt x="2945349" y="3672"/>
                    <a:pt x="2951884" y="10207"/>
                  </a:cubicBezTo>
                  <a:cubicBezTo>
                    <a:pt x="2958420" y="16742"/>
                    <a:pt x="2962091" y="25606"/>
                    <a:pt x="2962091" y="34849"/>
                  </a:cubicBezTo>
                  <a:lnTo>
                    <a:pt x="2962091" y="319106"/>
                  </a:lnTo>
                  <a:cubicBezTo>
                    <a:pt x="2962091" y="338353"/>
                    <a:pt x="2946489" y="353955"/>
                    <a:pt x="2927242" y="353955"/>
                  </a:cubicBezTo>
                  <a:lnTo>
                    <a:pt x="34849" y="353955"/>
                  </a:lnTo>
                  <a:cubicBezTo>
                    <a:pt x="25606" y="353955"/>
                    <a:pt x="16742" y="350284"/>
                    <a:pt x="10207" y="343748"/>
                  </a:cubicBezTo>
                  <a:cubicBezTo>
                    <a:pt x="3672" y="337213"/>
                    <a:pt x="0" y="328349"/>
                    <a:pt x="0" y="319106"/>
                  </a:cubicBezTo>
                  <a:lnTo>
                    <a:pt x="0" y="34849"/>
                  </a:lnTo>
                  <a:cubicBezTo>
                    <a:pt x="0" y="25606"/>
                    <a:pt x="3672" y="16742"/>
                    <a:pt x="10207" y="10207"/>
                  </a:cubicBezTo>
                  <a:cubicBezTo>
                    <a:pt x="16742" y="3672"/>
                    <a:pt x="25606" y="0"/>
                    <a:pt x="34849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2D8BBA">
                    <a:alpha val="100000"/>
                  </a:srgbClr>
                </a:gs>
                <a:gs pos="100000">
                  <a:srgbClr val="192385">
                    <a:alpha val="100000"/>
                  </a:srgbClr>
                </a:gs>
              </a:gsLst>
              <a:lin ang="0"/>
            </a:gradFill>
          </p:spPr>
          <p:txBody>
            <a:bodyPr/>
            <a:lstStyle/>
            <a:p>
              <a:endParaRPr lang="en-US"/>
            </a:p>
          </p:txBody>
        </p:sp>
        <p:sp>
          <p:nvSpPr>
            <p:cNvPr id="8" name="TextBox 8"/>
            <p:cNvSpPr txBox="1"/>
            <p:nvPr/>
          </p:nvSpPr>
          <p:spPr>
            <a:xfrm>
              <a:off x="0" y="-38100"/>
              <a:ext cx="2962091" cy="39205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9" name="Freeform 9"/>
          <p:cNvSpPr/>
          <p:nvPr/>
        </p:nvSpPr>
        <p:spPr>
          <a:xfrm>
            <a:off x="-4040081" y="4473503"/>
            <a:ext cx="5750433" cy="8229600"/>
          </a:xfrm>
          <a:custGeom>
            <a:avLst/>
            <a:gdLst/>
            <a:ahLst/>
            <a:cxnLst/>
            <a:rect l="l" t="t" r="r" b="b"/>
            <a:pathLst>
              <a:path w="5750433" h="8229600">
                <a:moveTo>
                  <a:pt x="0" y="0"/>
                </a:moveTo>
                <a:lnTo>
                  <a:pt x="5750433" y="0"/>
                </a:lnTo>
                <a:lnTo>
                  <a:pt x="5750433" y="8229600"/>
                </a:lnTo>
                <a:lnTo>
                  <a:pt x="0" y="822960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10" name="TextBox 10"/>
          <p:cNvSpPr txBox="1"/>
          <p:nvPr/>
        </p:nvSpPr>
        <p:spPr>
          <a:xfrm>
            <a:off x="4695842" y="1038225"/>
            <a:ext cx="8896315" cy="102867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6641"/>
              </a:lnSpc>
            </a:pPr>
            <a:r>
              <a:rPr lang="en-US" sz="6846">
                <a:solidFill>
                  <a:srgbClr val="090147"/>
                </a:solidFill>
                <a:latin typeface="Bungee"/>
                <a:ea typeface="Bungee"/>
                <a:cs typeface="Bungee"/>
                <a:sym typeface="Bungee"/>
              </a:rPr>
              <a:t>tHÀNH VIÊN NHÓM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3281798" y="5436156"/>
            <a:ext cx="11724404" cy="128670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0454"/>
              </a:lnSpc>
            </a:pPr>
            <a:r>
              <a:rPr lang="en-US" sz="7467" spc="82">
                <a:solidFill>
                  <a:srgbClr val="FFFFFF"/>
                </a:solidFill>
                <a:latin typeface="DejaVu Serif"/>
                <a:ea typeface="DejaVu Serif"/>
                <a:cs typeface="DejaVu Serif"/>
                <a:sym typeface="DejaVu Serif"/>
              </a:rPr>
              <a:t>Lê Đoàn Kim Ngân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3827709" y="3328286"/>
            <a:ext cx="10632583" cy="124416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0174"/>
              </a:lnSpc>
            </a:pPr>
            <a:r>
              <a:rPr lang="en-US" sz="7267" spc="79">
                <a:solidFill>
                  <a:srgbClr val="FFFFFF"/>
                </a:solidFill>
                <a:latin typeface="DejaVu Serif"/>
                <a:ea typeface="DejaVu Serif"/>
                <a:cs typeface="DejaVu Serif"/>
                <a:sym typeface="DejaVu Serif"/>
              </a:rPr>
              <a:t>Lâm Tú Nhi</a:t>
            </a:r>
          </a:p>
        </p:txBody>
      </p:sp>
      <p:sp>
        <p:nvSpPr>
          <p:cNvPr id="13" name="Freeform 13"/>
          <p:cNvSpPr/>
          <p:nvPr/>
        </p:nvSpPr>
        <p:spPr>
          <a:xfrm rot="-10321493">
            <a:off x="675787" y="-2057400"/>
            <a:ext cx="4420195" cy="4114800"/>
          </a:xfrm>
          <a:custGeom>
            <a:avLst/>
            <a:gdLst/>
            <a:ahLst/>
            <a:cxnLst/>
            <a:rect l="l" t="t" r="r" b="b"/>
            <a:pathLst>
              <a:path w="4420195" h="4114800">
                <a:moveTo>
                  <a:pt x="0" y="0"/>
                </a:moveTo>
                <a:lnTo>
                  <a:pt x="4420195" y="0"/>
                </a:lnTo>
                <a:lnTo>
                  <a:pt x="4420195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alphaModFix amt="46000"/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14" name="Freeform 14"/>
          <p:cNvSpPr/>
          <p:nvPr/>
        </p:nvSpPr>
        <p:spPr>
          <a:xfrm rot="-10321493">
            <a:off x="8078558" y="8016876"/>
            <a:ext cx="4420195" cy="4114800"/>
          </a:xfrm>
          <a:custGeom>
            <a:avLst/>
            <a:gdLst/>
            <a:ahLst/>
            <a:cxnLst/>
            <a:rect l="l" t="t" r="r" b="b"/>
            <a:pathLst>
              <a:path w="4420195" h="4114800">
                <a:moveTo>
                  <a:pt x="0" y="0"/>
                </a:moveTo>
                <a:lnTo>
                  <a:pt x="4420196" y="0"/>
                </a:lnTo>
                <a:lnTo>
                  <a:pt x="4420196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alphaModFix amt="46000"/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EF6F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-2078885" y="-1028700"/>
            <a:ext cx="4062430" cy="4114800"/>
          </a:xfrm>
          <a:custGeom>
            <a:avLst/>
            <a:gdLst/>
            <a:ahLst/>
            <a:cxnLst/>
            <a:rect l="l" t="t" r="r" b="b"/>
            <a:pathLst>
              <a:path w="4062430" h="4114800">
                <a:moveTo>
                  <a:pt x="0" y="0"/>
                </a:moveTo>
                <a:lnTo>
                  <a:pt x="4062430" y="0"/>
                </a:lnTo>
                <a:lnTo>
                  <a:pt x="4062430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3" name="Freeform 3"/>
          <p:cNvSpPr/>
          <p:nvPr/>
        </p:nvSpPr>
        <p:spPr>
          <a:xfrm>
            <a:off x="-828710" y="8229600"/>
            <a:ext cx="4581255" cy="4114800"/>
          </a:xfrm>
          <a:custGeom>
            <a:avLst/>
            <a:gdLst/>
            <a:ahLst/>
            <a:cxnLst/>
            <a:rect l="l" t="t" r="r" b="b"/>
            <a:pathLst>
              <a:path w="4581255" h="4114800">
                <a:moveTo>
                  <a:pt x="0" y="0"/>
                </a:moveTo>
                <a:lnTo>
                  <a:pt x="4581255" y="0"/>
                </a:lnTo>
                <a:lnTo>
                  <a:pt x="4581255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4" name="TextBox 4"/>
          <p:cNvSpPr txBox="1"/>
          <p:nvPr/>
        </p:nvSpPr>
        <p:spPr>
          <a:xfrm>
            <a:off x="4823157" y="781525"/>
            <a:ext cx="8641686" cy="102867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6641"/>
              </a:lnSpc>
            </a:pPr>
            <a:r>
              <a:rPr lang="en-US" sz="6846">
                <a:solidFill>
                  <a:srgbClr val="090147"/>
                </a:solidFill>
                <a:latin typeface="Bungee"/>
                <a:ea typeface="Bungee"/>
                <a:cs typeface="Bungee"/>
                <a:sym typeface="Bungee"/>
              </a:rPr>
              <a:t>tổng quan</a:t>
            </a:r>
          </a:p>
        </p:txBody>
      </p:sp>
      <p:sp>
        <p:nvSpPr>
          <p:cNvPr id="5" name="Freeform 5"/>
          <p:cNvSpPr/>
          <p:nvPr/>
        </p:nvSpPr>
        <p:spPr>
          <a:xfrm flipH="1" flipV="1">
            <a:off x="12030500" y="-526283"/>
            <a:ext cx="7147278" cy="3993541"/>
          </a:xfrm>
          <a:custGeom>
            <a:avLst/>
            <a:gdLst/>
            <a:ahLst/>
            <a:cxnLst/>
            <a:rect l="l" t="t" r="r" b="b"/>
            <a:pathLst>
              <a:path w="7147278" h="3993541">
                <a:moveTo>
                  <a:pt x="7147277" y="3993542"/>
                </a:moveTo>
                <a:lnTo>
                  <a:pt x="0" y="3993542"/>
                </a:lnTo>
                <a:lnTo>
                  <a:pt x="0" y="0"/>
                </a:lnTo>
                <a:lnTo>
                  <a:pt x="7147277" y="0"/>
                </a:lnTo>
                <a:lnTo>
                  <a:pt x="7147277" y="3993542"/>
                </a:lnTo>
                <a:close/>
              </a:path>
            </a:pathLst>
          </a:custGeom>
          <a:blipFill>
            <a:blip r:embed="rId5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grpSp>
        <p:nvGrpSpPr>
          <p:cNvPr id="6" name="Group 6"/>
          <p:cNvGrpSpPr/>
          <p:nvPr/>
        </p:nvGrpSpPr>
        <p:grpSpPr>
          <a:xfrm>
            <a:off x="3520655" y="2710222"/>
            <a:ext cx="11246689" cy="1343924"/>
            <a:chOff x="0" y="0"/>
            <a:chExt cx="14995586" cy="1791898"/>
          </a:xfrm>
        </p:grpSpPr>
        <p:grpSp>
          <p:nvGrpSpPr>
            <p:cNvPr id="7" name="Group 7"/>
            <p:cNvGrpSpPr/>
            <p:nvPr/>
          </p:nvGrpSpPr>
          <p:grpSpPr>
            <a:xfrm>
              <a:off x="0" y="0"/>
              <a:ext cx="14995586" cy="1791898"/>
              <a:chOff x="0" y="0"/>
              <a:chExt cx="2962091" cy="353955"/>
            </a:xfrm>
          </p:grpSpPr>
          <p:sp>
            <p:nvSpPr>
              <p:cNvPr id="8" name="Freeform 8"/>
              <p:cNvSpPr/>
              <p:nvPr/>
            </p:nvSpPr>
            <p:spPr>
              <a:xfrm>
                <a:off x="0" y="0"/>
                <a:ext cx="2962091" cy="353955"/>
              </a:xfrm>
              <a:custGeom>
                <a:avLst/>
                <a:gdLst/>
                <a:ahLst/>
                <a:cxnLst/>
                <a:rect l="l" t="t" r="r" b="b"/>
                <a:pathLst>
                  <a:path w="2962091" h="353955">
                    <a:moveTo>
                      <a:pt x="34849" y="0"/>
                    </a:moveTo>
                    <a:lnTo>
                      <a:pt x="2927242" y="0"/>
                    </a:lnTo>
                    <a:cubicBezTo>
                      <a:pt x="2936485" y="0"/>
                      <a:pt x="2945349" y="3672"/>
                      <a:pt x="2951884" y="10207"/>
                    </a:cubicBezTo>
                    <a:cubicBezTo>
                      <a:pt x="2958420" y="16742"/>
                      <a:pt x="2962091" y="25606"/>
                      <a:pt x="2962091" y="34849"/>
                    </a:cubicBezTo>
                    <a:lnTo>
                      <a:pt x="2962091" y="319106"/>
                    </a:lnTo>
                    <a:cubicBezTo>
                      <a:pt x="2962091" y="338353"/>
                      <a:pt x="2946489" y="353955"/>
                      <a:pt x="2927242" y="353955"/>
                    </a:cubicBezTo>
                    <a:lnTo>
                      <a:pt x="34849" y="353955"/>
                    </a:lnTo>
                    <a:cubicBezTo>
                      <a:pt x="25606" y="353955"/>
                      <a:pt x="16742" y="350284"/>
                      <a:pt x="10207" y="343748"/>
                    </a:cubicBezTo>
                    <a:cubicBezTo>
                      <a:pt x="3672" y="337213"/>
                      <a:pt x="0" y="328349"/>
                      <a:pt x="0" y="319106"/>
                    </a:cubicBezTo>
                    <a:lnTo>
                      <a:pt x="0" y="34849"/>
                    </a:lnTo>
                    <a:cubicBezTo>
                      <a:pt x="0" y="25606"/>
                      <a:pt x="3672" y="16742"/>
                      <a:pt x="10207" y="10207"/>
                    </a:cubicBezTo>
                    <a:cubicBezTo>
                      <a:pt x="16742" y="3672"/>
                      <a:pt x="25606" y="0"/>
                      <a:pt x="34849" y="0"/>
                    </a:cubicBezTo>
                    <a:close/>
                  </a:path>
                </a:pathLst>
              </a:custGeom>
              <a:gradFill rotWithShape="1">
                <a:gsLst>
                  <a:gs pos="0">
                    <a:srgbClr val="2D8BBA">
                      <a:alpha val="100000"/>
                    </a:srgbClr>
                  </a:gs>
                  <a:gs pos="100000">
                    <a:srgbClr val="192385">
                      <a:alpha val="100000"/>
                    </a:srgbClr>
                  </a:gs>
                </a:gsLst>
                <a:lin ang="0"/>
              </a:gradFill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9" name="TextBox 9"/>
              <p:cNvSpPr txBox="1"/>
              <p:nvPr/>
            </p:nvSpPr>
            <p:spPr>
              <a:xfrm>
                <a:off x="0" y="-38100"/>
                <a:ext cx="2962091" cy="392055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659"/>
                  </a:lnSpc>
                  <a:spcBef>
                    <a:spcPct val="0"/>
                  </a:spcBef>
                </a:pPr>
                <a:endParaRPr/>
              </a:p>
            </p:txBody>
          </p:sp>
        </p:grpSp>
        <p:sp>
          <p:nvSpPr>
            <p:cNvPr id="10" name="TextBox 10"/>
            <p:cNvSpPr txBox="1"/>
            <p:nvPr/>
          </p:nvSpPr>
          <p:spPr>
            <a:xfrm>
              <a:off x="409404" y="365512"/>
              <a:ext cx="14176777" cy="965624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6019"/>
                </a:lnSpc>
              </a:pPr>
              <a:r>
                <a:rPr lang="en-US" sz="4299" b="1" spc="47">
                  <a:solidFill>
                    <a:srgbClr val="FFFFFF"/>
                  </a:solidFill>
                  <a:latin typeface="Josefin Sans Bold"/>
                  <a:ea typeface="Josefin Sans Bold"/>
                  <a:cs typeface="Josefin Sans Bold"/>
                  <a:sym typeface="Josefin Sans Bold"/>
                </a:rPr>
                <a:t> FBProphet: Recipe 3‑1 → 3‑5</a:t>
              </a:r>
            </a:p>
          </p:txBody>
        </p:sp>
      </p:grpSp>
      <p:grpSp>
        <p:nvGrpSpPr>
          <p:cNvPr id="11" name="Group 11"/>
          <p:cNvGrpSpPr/>
          <p:nvPr/>
        </p:nvGrpSpPr>
        <p:grpSpPr>
          <a:xfrm>
            <a:off x="3530180" y="4797949"/>
            <a:ext cx="11246689" cy="1343924"/>
            <a:chOff x="0" y="0"/>
            <a:chExt cx="14995586" cy="1791898"/>
          </a:xfrm>
        </p:grpSpPr>
        <p:grpSp>
          <p:nvGrpSpPr>
            <p:cNvPr id="12" name="Group 12"/>
            <p:cNvGrpSpPr/>
            <p:nvPr/>
          </p:nvGrpSpPr>
          <p:grpSpPr>
            <a:xfrm>
              <a:off x="0" y="0"/>
              <a:ext cx="14995586" cy="1791898"/>
              <a:chOff x="0" y="0"/>
              <a:chExt cx="2962091" cy="353955"/>
            </a:xfrm>
          </p:grpSpPr>
          <p:sp>
            <p:nvSpPr>
              <p:cNvPr id="13" name="Freeform 13"/>
              <p:cNvSpPr/>
              <p:nvPr/>
            </p:nvSpPr>
            <p:spPr>
              <a:xfrm>
                <a:off x="0" y="0"/>
                <a:ext cx="2962091" cy="353955"/>
              </a:xfrm>
              <a:custGeom>
                <a:avLst/>
                <a:gdLst/>
                <a:ahLst/>
                <a:cxnLst/>
                <a:rect l="l" t="t" r="r" b="b"/>
                <a:pathLst>
                  <a:path w="2962091" h="353955">
                    <a:moveTo>
                      <a:pt x="34849" y="0"/>
                    </a:moveTo>
                    <a:lnTo>
                      <a:pt x="2927242" y="0"/>
                    </a:lnTo>
                    <a:cubicBezTo>
                      <a:pt x="2936485" y="0"/>
                      <a:pt x="2945349" y="3672"/>
                      <a:pt x="2951884" y="10207"/>
                    </a:cubicBezTo>
                    <a:cubicBezTo>
                      <a:pt x="2958420" y="16742"/>
                      <a:pt x="2962091" y="25606"/>
                      <a:pt x="2962091" y="34849"/>
                    </a:cubicBezTo>
                    <a:lnTo>
                      <a:pt x="2962091" y="319106"/>
                    </a:lnTo>
                    <a:cubicBezTo>
                      <a:pt x="2962091" y="338353"/>
                      <a:pt x="2946489" y="353955"/>
                      <a:pt x="2927242" y="353955"/>
                    </a:cubicBezTo>
                    <a:lnTo>
                      <a:pt x="34849" y="353955"/>
                    </a:lnTo>
                    <a:cubicBezTo>
                      <a:pt x="25606" y="353955"/>
                      <a:pt x="16742" y="350284"/>
                      <a:pt x="10207" y="343748"/>
                    </a:cubicBezTo>
                    <a:cubicBezTo>
                      <a:pt x="3672" y="337213"/>
                      <a:pt x="0" y="328349"/>
                      <a:pt x="0" y="319106"/>
                    </a:cubicBezTo>
                    <a:lnTo>
                      <a:pt x="0" y="34849"/>
                    </a:lnTo>
                    <a:cubicBezTo>
                      <a:pt x="0" y="25606"/>
                      <a:pt x="3672" y="16742"/>
                      <a:pt x="10207" y="10207"/>
                    </a:cubicBezTo>
                    <a:cubicBezTo>
                      <a:pt x="16742" y="3672"/>
                      <a:pt x="25606" y="0"/>
                      <a:pt x="34849" y="0"/>
                    </a:cubicBezTo>
                    <a:close/>
                  </a:path>
                </a:pathLst>
              </a:custGeom>
              <a:gradFill rotWithShape="1">
                <a:gsLst>
                  <a:gs pos="0">
                    <a:srgbClr val="2D8BBA">
                      <a:alpha val="100000"/>
                    </a:srgbClr>
                  </a:gs>
                  <a:gs pos="100000">
                    <a:srgbClr val="192385">
                      <a:alpha val="100000"/>
                    </a:srgbClr>
                  </a:gs>
                </a:gsLst>
                <a:lin ang="0"/>
              </a:gradFill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4" name="TextBox 14"/>
              <p:cNvSpPr txBox="1"/>
              <p:nvPr/>
            </p:nvSpPr>
            <p:spPr>
              <a:xfrm>
                <a:off x="0" y="-38100"/>
                <a:ext cx="2962091" cy="392055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659"/>
                  </a:lnSpc>
                  <a:spcBef>
                    <a:spcPct val="0"/>
                  </a:spcBef>
                </a:pPr>
                <a:endParaRPr/>
              </a:p>
            </p:txBody>
          </p:sp>
        </p:grpSp>
        <p:sp>
          <p:nvSpPr>
            <p:cNvPr id="15" name="TextBox 15"/>
            <p:cNvSpPr txBox="1"/>
            <p:nvPr/>
          </p:nvSpPr>
          <p:spPr>
            <a:xfrm>
              <a:off x="254026" y="365512"/>
              <a:ext cx="14176777" cy="965624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6019"/>
                </a:lnSpc>
              </a:pPr>
              <a:r>
                <a:rPr lang="en-US" sz="4299" b="1" spc="47">
                  <a:solidFill>
                    <a:srgbClr val="FFFFFF"/>
                  </a:solidFill>
                  <a:latin typeface="Josefin Sans Bold"/>
                  <a:ea typeface="Josefin Sans Bold"/>
                  <a:cs typeface="Josefin Sans Bold"/>
                  <a:sym typeface="Josefin Sans Bold"/>
                </a:rPr>
                <a:t>Auto‑ARIMA: Recipe 3‑6</a:t>
              </a:r>
            </a:p>
          </p:txBody>
        </p:sp>
      </p:grpSp>
      <p:grpSp>
        <p:nvGrpSpPr>
          <p:cNvPr id="16" name="Group 16"/>
          <p:cNvGrpSpPr/>
          <p:nvPr/>
        </p:nvGrpSpPr>
        <p:grpSpPr>
          <a:xfrm>
            <a:off x="3520655" y="6885676"/>
            <a:ext cx="11246689" cy="1343924"/>
            <a:chOff x="0" y="0"/>
            <a:chExt cx="14995586" cy="1791898"/>
          </a:xfrm>
        </p:grpSpPr>
        <p:grpSp>
          <p:nvGrpSpPr>
            <p:cNvPr id="17" name="Group 17"/>
            <p:cNvGrpSpPr/>
            <p:nvPr/>
          </p:nvGrpSpPr>
          <p:grpSpPr>
            <a:xfrm>
              <a:off x="0" y="0"/>
              <a:ext cx="14995586" cy="1791898"/>
              <a:chOff x="0" y="0"/>
              <a:chExt cx="2962091" cy="353955"/>
            </a:xfrm>
          </p:grpSpPr>
          <p:sp>
            <p:nvSpPr>
              <p:cNvPr id="18" name="Freeform 18"/>
              <p:cNvSpPr/>
              <p:nvPr/>
            </p:nvSpPr>
            <p:spPr>
              <a:xfrm>
                <a:off x="0" y="0"/>
                <a:ext cx="2962091" cy="353955"/>
              </a:xfrm>
              <a:custGeom>
                <a:avLst/>
                <a:gdLst/>
                <a:ahLst/>
                <a:cxnLst/>
                <a:rect l="l" t="t" r="r" b="b"/>
                <a:pathLst>
                  <a:path w="2962091" h="353955">
                    <a:moveTo>
                      <a:pt x="34849" y="0"/>
                    </a:moveTo>
                    <a:lnTo>
                      <a:pt x="2927242" y="0"/>
                    </a:lnTo>
                    <a:cubicBezTo>
                      <a:pt x="2936485" y="0"/>
                      <a:pt x="2945349" y="3672"/>
                      <a:pt x="2951884" y="10207"/>
                    </a:cubicBezTo>
                    <a:cubicBezTo>
                      <a:pt x="2958420" y="16742"/>
                      <a:pt x="2962091" y="25606"/>
                      <a:pt x="2962091" y="34849"/>
                    </a:cubicBezTo>
                    <a:lnTo>
                      <a:pt x="2962091" y="319106"/>
                    </a:lnTo>
                    <a:cubicBezTo>
                      <a:pt x="2962091" y="338353"/>
                      <a:pt x="2946489" y="353955"/>
                      <a:pt x="2927242" y="353955"/>
                    </a:cubicBezTo>
                    <a:lnTo>
                      <a:pt x="34849" y="353955"/>
                    </a:lnTo>
                    <a:cubicBezTo>
                      <a:pt x="25606" y="353955"/>
                      <a:pt x="16742" y="350284"/>
                      <a:pt x="10207" y="343748"/>
                    </a:cubicBezTo>
                    <a:cubicBezTo>
                      <a:pt x="3672" y="337213"/>
                      <a:pt x="0" y="328349"/>
                      <a:pt x="0" y="319106"/>
                    </a:cubicBezTo>
                    <a:lnTo>
                      <a:pt x="0" y="34849"/>
                    </a:lnTo>
                    <a:cubicBezTo>
                      <a:pt x="0" y="25606"/>
                      <a:pt x="3672" y="16742"/>
                      <a:pt x="10207" y="10207"/>
                    </a:cubicBezTo>
                    <a:cubicBezTo>
                      <a:pt x="16742" y="3672"/>
                      <a:pt x="25606" y="0"/>
                      <a:pt x="34849" y="0"/>
                    </a:cubicBezTo>
                    <a:close/>
                  </a:path>
                </a:pathLst>
              </a:custGeom>
              <a:gradFill rotWithShape="1">
                <a:gsLst>
                  <a:gs pos="0">
                    <a:srgbClr val="2D8BBA">
                      <a:alpha val="100000"/>
                    </a:srgbClr>
                  </a:gs>
                  <a:gs pos="100000">
                    <a:srgbClr val="192385">
                      <a:alpha val="100000"/>
                    </a:srgbClr>
                  </a:gs>
                </a:gsLst>
                <a:lin ang="0"/>
              </a:gradFill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9" name="TextBox 19"/>
              <p:cNvSpPr txBox="1"/>
              <p:nvPr/>
            </p:nvSpPr>
            <p:spPr>
              <a:xfrm>
                <a:off x="0" y="-38100"/>
                <a:ext cx="2962091" cy="392055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659"/>
                  </a:lnSpc>
                  <a:spcBef>
                    <a:spcPct val="0"/>
                  </a:spcBef>
                </a:pPr>
                <a:endParaRPr/>
              </a:p>
            </p:txBody>
          </p:sp>
        </p:grpSp>
        <p:sp>
          <p:nvSpPr>
            <p:cNvPr id="20" name="TextBox 20"/>
            <p:cNvSpPr txBox="1"/>
            <p:nvPr/>
          </p:nvSpPr>
          <p:spPr>
            <a:xfrm>
              <a:off x="207696" y="365512"/>
              <a:ext cx="14176777" cy="965624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6019"/>
                </a:lnSpc>
              </a:pPr>
              <a:r>
                <a:rPr lang="en-US" sz="4299" b="1" spc="47">
                  <a:solidFill>
                    <a:srgbClr val="FFFFFF"/>
                  </a:solidFill>
                  <a:latin typeface="Josefin Sans Bold"/>
                  <a:ea typeface="Josefin Sans Bold"/>
                  <a:cs typeface="Josefin Sans Bold"/>
                  <a:sym typeface="Josefin Sans Bold"/>
                </a:rPr>
                <a:t> VAR: Recipe 3‑7</a:t>
              </a:r>
            </a:p>
          </p:txBody>
        </p:sp>
      </p:grp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EF6F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-2078885" y="-1028700"/>
            <a:ext cx="4062430" cy="4114800"/>
          </a:xfrm>
          <a:custGeom>
            <a:avLst/>
            <a:gdLst/>
            <a:ahLst/>
            <a:cxnLst/>
            <a:rect l="l" t="t" r="r" b="b"/>
            <a:pathLst>
              <a:path w="4062430" h="4114800">
                <a:moveTo>
                  <a:pt x="0" y="0"/>
                </a:moveTo>
                <a:lnTo>
                  <a:pt x="4062430" y="0"/>
                </a:lnTo>
                <a:lnTo>
                  <a:pt x="4062430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3" name="Freeform 3"/>
          <p:cNvSpPr/>
          <p:nvPr/>
        </p:nvSpPr>
        <p:spPr>
          <a:xfrm>
            <a:off x="-289565" y="9033630"/>
            <a:ext cx="1799545" cy="1616319"/>
          </a:xfrm>
          <a:custGeom>
            <a:avLst/>
            <a:gdLst/>
            <a:ahLst/>
            <a:cxnLst/>
            <a:rect l="l" t="t" r="r" b="b"/>
            <a:pathLst>
              <a:path w="1799545" h="1616319">
                <a:moveTo>
                  <a:pt x="0" y="0"/>
                </a:moveTo>
                <a:lnTo>
                  <a:pt x="1799546" y="0"/>
                </a:lnTo>
                <a:lnTo>
                  <a:pt x="1799546" y="1616319"/>
                </a:lnTo>
                <a:lnTo>
                  <a:pt x="0" y="1616319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4" name="Freeform 4"/>
          <p:cNvSpPr/>
          <p:nvPr/>
        </p:nvSpPr>
        <p:spPr>
          <a:xfrm flipH="1" flipV="1">
            <a:off x="12257421" y="-497427"/>
            <a:ext cx="7147278" cy="3993541"/>
          </a:xfrm>
          <a:custGeom>
            <a:avLst/>
            <a:gdLst/>
            <a:ahLst/>
            <a:cxnLst/>
            <a:rect l="l" t="t" r="r" b="b"/>
            <a:pathLst>
              <a:path w="7147278" h="3993541">
                <a:moveTo>
                  <a:pt x="7147278" y="3993541"/>
                </a:moveTo>
                <a:lnTo>
                  <a:pt x="0" y="3993541"/>
                </a:lnTo>
                <a:lnTo>
                  <a:pt x="0" y="0"/>
                </a:lnTo>
                <a:lnTo>
                  <a:pt x="7147278" y="0"/>
                </a:lnTo>
                <a:lnTo>
                  <a:pt x="7147278" y="3993541"/>
                </a:lnTo>
                <a:close/>
              </a:path>
            </a:pathLst>
          </a:custGeom>
          <a:blipFill>
            <a:blip r:embed="rId5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grpSp>
        <p:nvGrpSpPr>
          <p:cNvPr id="5" name="Group 5"/>
          <p:cNvGrpSpPr/>
          <p:nvPr/>
        </p:nvGrpSpPr>
        <p:grpSpPr>
          <a:xfrm>
            <a:off x="2074314" y="71757"/>
            <a:ext cx="8054657" cy="1374346"/>
            <a:chOff x="0" y="0"/>
            <a:chExt cx="2121391" cy="361968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2121391" cy="361968"/>
            </a:xfrm>
            <a:custGeom>
              <a:avLst/>
              <a:gdLst/>
              <a:ahLst/>
              <a:cxnLst/>
              <a:rect l="l" t="t" r="r" b="b"/>
              <a:pathLst>
                <a:path w="2121391" h="361968">
                  <a:moveTo>
                    <a:pt x="48659" y="0"/>
                  </a:moveTo>
                  <a:lnTo>
                    <a:pt x="2072732" y="0"/>
                  </a:lnTo>
                  <a:cubicBezTo>
                    <a:pt x="2085637" y="0"/>
                    <a:pt x="2098014" y="5127"/>
                    <a:pt x="2107139" y="14252"/>
                  </a:cubicBezTo>
                  <a:cubicBezTo>
                    <a:pt x="2116264" y="23377"/>
                    <a:pt x="2121391" y="35754"/>
                    <a:pt x="2121391" y="48659"/>
                  </a:cubicBezTo>
                  <a:lnTo>
                    <a:pt x="2121391" y="313308"/>
                  </a:lnTo>
                  <a:cubicBezTo>
                    <a:pt x="2121391" y="326214"/>
                    <a:pt x="2116264" y="338590"/>
                    <a:pt x="2107139" y="347716"/>
                  </a:cubicBezTo>
                  <a:cubicBezTo>
                    <a:pt x="2098014" y="356841"/>
                    <a:pt x="2085637" y="361968"/>
                    <a:pt x="2072732" y="361968"/>
                  </a:cubicBezTo>
                  <a:lnTo>
                    <a:pt x="48659" y="361968"/>
                  </a:lnTo>
                  <a:cubicBezTo>
                    <a:pt x="35754" y="361968"/>
                    <a:pt x="23377" y="356841"/>
                    <a:pt x="14252" y="347716"/>
                  </a:cubicBezTo>
                  <a:cubicBezTo>
                    <a:pt x="5127" y="338590"/>
                    <a:pt x="0" y="326214"/>
                    <a:pt x="0" y="313308"/>
                  </a:cubicBezTo>
                  <a:lnTo>
                    <a:pt x="0" y="48659"/>
                  </a:lnTo>
                  <a:cubicBezTo>
                    <a:pt x="0" y="35754"/>
                    <a:pt x="5127" y="23377"/>
                    <a:pt x="14252" y="14252"/>
                  </a:cubicBezTo>
                  <a:cubicBezTo>
                    <a:pt x="23377" y="5127"/>
                    <a:pt x="35754" y="0"/>
                    <a:pt x="48659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2D8BBA">
                    <a:alpha val="100000"/>
                  </a:srgbClr>
                </a:gs>
                <a:gs pos="100000">
                  <a:srgbClr val="192385">
                    <a:alpha val="100000"/>
                  </a:srgbClr>
                </a:gs>
              </a:gsLst>
              <a:lin ang="0"/>
            </a:gradFill>
          </p:spPr>
          <p:txBody>
            <a:bodyPr/>
            <a:lstStyle/>
            <a:p>
              <a:endParaRPr lang="en-US"/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0" y="-123825"/>
              <a:ext cx="2121391" cy="48579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8259"/>
                </a:lnSpc>
                <a:spcBef>
                  <a:spcPct val="0"/>
                </a:spcBef>
              </a:pPr>
              <a:r>
                <a:rPr lang="en-US" sz="5899">
                  <a:solidFill>
                    <a:srgbClr val="FFFFFF"/>
                  </a:solidFill>
                  <a:latin typeface="DejaVu Serif"/>
                  <a:ea typeface="DejaVu Serif"/>
                  <a:cs typeface="DejaVu Serif"/>
                  <a:sym typeface="DejaVu Serif"/>
                </a:rPr>
                <a:t>TIME SERIES</a:t>
              </a:r>
            </a:p>
          </p:txBody>
        </p:sp>
      </p:grpSp>
      <p:sp>
        <p:nvSpPr>
          <p:cNvPr id="8" name="TextBox 8"/>
          <p:cNvSpPr txBox="1"/>
          <p:nvPr/>
        </p:nvSpPr>
        <p:spPr>
          <a:xfrm>
            <a:off x="3778914" y="1746506"/>
            <a:ext cx="12773419" cy="68897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5599"/>
              </a:lnSpc>
              <a:spcBef>
                <a:spcPct val="0"/>
              </a:spcBef>
            </a:pPr>
            <a:r>
              <a:rPr lang="en-US" sz="3999">
                <a:solidFill>
                  <a:srgbClr val="000000"/>
                </a:solidFill>
                <a:latin typeface="Josefin Sans"/>
                <a:ea typeface="Josefin Sans"/>
                <a:cs typeface="Josefin Sans"/>
                <a:sym typeface="Josefin Sans"/>
              </a:rPr>
              <a:t>Một tập hợp các điểm dữ liệu phụ thuộc vào thời gian</a:t>
            </a:r>
          </a:p>
        </p:txBody>
      </p:sp>
      <p:pic>
        <p:nvPicPr>
          <p:cNvPr id="9" name="Picture 9"/>
          <p:cNvPicPr>
            <a:picLocks noChangeAspect="1"/>
          </p:cNvPicPr>
          <p:nvPr/>
        </p:nvPicPr>
        <p:blipFill>
          <a:blip r:embed="rId6">
            <a:alphaModFix amt="35000"/>
          </a:blip>
          <a:srcRect/>
          <a:stretch>
            <a:fillRect/>
          </a:stretch>
        </p:blipFill>
        <p:spPr>
          <a:xfrm rot="10146257" flipH="1">
            <a:off x="2286929" y="1167022"/>
            <a:ext cx="1378673" cy="1330419"/>
          </a:xfrm>
          <a:prstGeom prst="rect">
            <a:avLst/>
          </a:prstGeom>
        </p:spPr>
      </p:pic>
      <p:grpSp>
        <p:nvGrpSpPr>
          <p:cNvPr id="10" name="Group 10"/>
          <p:cNvGrpSpPr/>
          <p:nvPr/>
        </p:nvGrpSpPr>
        <p:grpSpPr>
          <a:xfrm>
            <a:off x="416177" y="3385876"/>
            <a:ext cx="2560088" cy="1174190"/>
            <a:chOff x="0" y="0"/>
            <a:chExt cx="674262" cy="309252"/>
          </a:xfrm>
        </p:grpSpPr>
        <p:sp>
          <p:nvSpPr>
            <p:cNvPr id="11" name="Freeform 11"/>
            <p:cNvSpPr/>
            <p:nvPr/>
          </p:nvSpPr>
          <p:spPr>
            <a:xfrm>
              <a:off x="0" y="0"/>
              <a:ext cx="674262" cy="309252"/>
            </a:xfrm>
            <a:custGeom>
              <a:avLst/>
              <a:gdLst/>
              <a:ahLst/>
              <a:cxnLst/>
              <a:rect l="l" t="t" r="r" b="b"/>
              <a:pathLst>
                <a:path w="674262" h="309252">
                  <a:moveTo>
                    <a:pt x="0" y="0"/>
                  </a:moveTo>
                  <a:lnTo>
                    <a:pt x="674262" y="0"/>
                  </a:lnTo>
                  <a:lnTo>
                    <a:pt x="674262" y="309252"/>
                  </a:lnTo>
                  <a:lnTo>
                    <a:pt x="0" y="309252"/>
                  </a:lnTo>
                  <a:close/>
                </a:path>
              </a:pathLst>
            </a:custGeom>
            <a:gradFill rotWithShape="1">
              <a:gsLst>
                <a:gs pos="0">
                  <a:srgbClr val="2D8BBA">
                    <a:alpha val="100000"/>
                  </a:srgbClr>
                </a:gs>
                <a:gs pos="100000">
                  <a:srgbClr val="192385">
                    <a:alpha val="100000"/>
                  </a:srgbClr>
                </a:gs>
              </a:gsLst>
              <a:lin ang="0"/>
            </a:gradFill>
          </p:spPr>
          <p:txBody>
            <a:bodyPr/>
            <a:lstStyle/>
            <a:p>
              <a:endParaRPr lang="en-US"/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0" y="-76200"/>
              <a:ext cx="674262" cy="38545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5880"/>
                </a:lnSpc>
              </a:pPr>
              <a:r>
                <a:rPr lang="en-US" sz="4200" b="1">
                  <a:solidFill>
                    <a:srgbClr val="FFFFFF"/>
                  </a:solidFill>
                  <a:latin typeface="Cabin Bold"/>
                  <a:ea typeface="Cabin Bold"/>
                  <a:cs typeface="Cabin Bold"/>
                  <a:sym typeface="Cabin Bold"/>
                </a:rPr>
                <a:t>TREND</a:t>
              </a:r>
            </a:p>
          </p:txBody>
        </p:sp>
      </p:grpSp>
      <p:grpSp>
        <p:nvGrpSpPr>
          <p:cNvPr id="13" name="Group 13"/>
          <p:cNvGrpSpPr/>
          <p:nvPr/>
        </p:nvGrpSpPr>
        <p:grpSpPr>
          <a:xfrm>
            <a:off x="3373355" y="3272224"/>
            <a:ext cx="14535455" cy="1479615"/>
            <a:chOff x="0" y="0"/>
            <a:chExt cx="19380607" cy="1972820"/>
          </a:xfrm>
        </p:grpSpPr>
        <p:sp>
          <p:nvSpPr>
            <p:cNvPr id="14" name="TextBox 14"/>
            <p:cNvSpPr txBox="1"/>
            <p:nvPr/>
          </p:nvSpPr>
          <p:spPr>
            <a:xfrm>
              <a:off x="0" y="1099057"/>
              <a:ext cx="19380607" cy="873763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5699"/>
                </a:lnSpc>
              </a:pPr>
              <a:endParaRPr/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0" y="-47625"/>
              <a:ext cx="19380607" cy="1640714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ts val="4901"/>
                </a:lnSpc>
                <a:spcBef>
                  <a:spcPct val="0"/>
                </a:spcBef>
              </a:pPr>
              <a:r>
                <a:rPr lang="en-US" sz="3799" spc="148">
                  <a:solidFill>
                    <a:srgbClr val="000000"/>
                  </a:solidFill>
                  <a:latin typeface="Josefin Sans"/>
                  <a:ea typeface="Josefin Sans"/>
                  <a:cs typeface="Josefin Sans"/>
                  <a:sym typeface="Josefin Sans"/>
                </a:rPr>
                <a:t>Xu hướng dài hạn của dữ liệu, có thể tăng hoặc giảm theo thời gian.</a:t>
              </a:r>
            </a:p>
          </p:txBody>
        </p:sp>
      </p:grpSp>
      <p:grpSp>
        <p:nvGrpSpPr>
          <p:cNvPr id="16" name="Group 16"/>
          <p:cNvGrpSpPr/>
          <p:nvPr/>
        </p:nvGrpSpPr>
        <p:grpSpPr>
          <a:xfrm>
            <a:off x="13794526" y="5143500"/>
            <a:ext cx="3761592" cy="1262198"/>
            <a:chOff x="0" y="0"/>
            <a:chExt cx="990707" cy="332431"/>
          </a:xfrm>
        </p:grpSpPr>
        <p:sp>
          <p:nvSpPr>
            <p:cNvPr id="17" name="Freeform 17"/>
            <p:cNvSpPr/>
            <p:nvPr/>
          </p:nvSpPr>
          <p:spPr>
            <a:xfrm>
              <a:off x="0" y="0"/>
              <a:ext cx="990707" cy="332431"/>
            </a:xfrm>
            <a:custGeom>
              <a:avLst/>
              <a:gdLst/>
              <a:ahLst/>
              <a:cxnLst/>
              <a:rect l="l" t="t" r="r" b="b"/>
              <a:pathLst>
                <a:path w="990707" h="332431">
                  <a:moveTo>
                    <a:pt x="0" y="0"/>
                  </a:moveTo>
                  <a:lnTo>
                    <a:pt x="990707" y="0"/>
                  </a:lnTo>
                  <a:lnTo>
                    <a:pt x="990707" y="332431"/>
                  </a:lnTo>
                  <a:lnTo>
                    <a:pt x="0" y="332431"/>
                  </a:lnTo>
                  <a:close/>
                </a:path>
              </a:pathLst>
            </a:custGeom>
            <a:gradFill rotWithShape="1">
              <a:gsLst>
                <a:gs pos="0">
                  <a:srgbClr val="2D8BBA">
                    <a:alpha val="100000"/>
                  </a:srgbClr>
                </a:gs>
                <a:gs pos="100000">
                  <a:srgbClr val="192385">
                    <a:alpha val="100000"/>
                  </a:srgbClr>
                </a:gs>
              </a:gsLst>
              <a:lin ang="0"/>
            </a:gradFill>
          </p:spPr>
          <p:txBody>
            <a:bodyPr/>
            <a:lstStyle/>
            <a:p>
              <a:endParaRPr lang="en-US"/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0" y="-76200"/>
              <a:ext cx="990707" cy="408631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5880"/>
                </a:lnSpc>
              </a:pPr>
              <a:r>
                <a:rPr lang="en-US" sz="4200" b="1">
                  <a:solidFill>
                    <a:srgbClr val="FFFFFF"/>
                  </a:solidFill>
                  <a:latin typeface="Cabin Bold"/>
                  <a:ea typeface="Cabin Bold"/>
                  <a:cs typeface="Cabin Bold"/>
                  <a:sym typeface="Cabin Bold"/>
                </a:rPr>
                <a:t>Seasonality</a:t>
              </a:r>
            </a:p>
          </p:txBody>
        </p:sp>
      </p:grpSp>
      <p:grpSp>
        <p:nvGrpSpPr>
          <p:cNvPr id="19" name="Group 19"/>
          <p:cNvGrpSpPr/>
          <p:nvPr/>
        </p:nvGrpSpPr>
        <p:grpSpPr>
          <a:xfrm>
            <a:off x="832394" y="4525761"/>
            <a:ext cx="12871363" cy="2070551"/>
            <a:chOff x="0" y="0"/>
            <a:chExt cx="17161817" cy="2760735"/>
          </a:xfrm>
        </p:grpSpPr>
        <p:sp>
          <p:nvSpPr>
            <p:cNvPr id="20" name="TextBox 20"/>
            <p:cNvSpPr txBox="1"/>
            <p:nvPr/>
          </p:nvSpPr>
          <p:spPr>
            <a:xfrm>
              <a:off x="0" y="934472"/>
              <a:ext cx="17161817" cy="1826263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5699"/>
                </a:lnSpc>
              </a:pPr>
              <a:r>
                <a:rPr lang="en-US" sz="3799" spc="75">
                  <a:solidFill>
                    <a:srgbClr val="000000"/>
                  </a:solidFill>
                  <a:latin typeface="Josefin Sans"/>
                  <a:ea typeface="Josefin Sans"/>
                  <a:cs typeface="Josefin Sans"/>
                  <a:sym typeface="Josefin Sans"/>
                </a:rPr>
                <a:t>Biến động tăng hoặc giảm lặp đi lặp lại một cách đều đặn của dữ liệu trong một khoảng thời gian.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1936399" y="-47625"/>
              <a:ext cx="13894144" cy="815214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ts val="4901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22" name="AutoShape 22"/>
          <p:cNvSpPr/>
          <p:nvPr/>
        </p:nvSpPr>
        <p:spPr>
          <a:xfrm>
            <a:off x="610208" y="4828022"/>
            <a:ext cx="15703135" cy="0"/>
          </a:xfrm>
          <a:prstGeom prst="line">
            <a:avLst/>
          </a:prstGeom>
          <a:ln w="28575" cap="flat">
            <a:solidFill>
              <a:srgbClr val="D9D9D9"/>
            </a:solidFill>
            <a:prstDash val="sysDash"/>
            <a:headEnd type="none" w="sm" len="sm"/>
            <a:tailEnd type="none" w="sm" len="sm"/>
          </a:ln>
        </p:spPr>
        <p:txBody>
          <a:bodyPr/>
          <a:lstStyle/>
          <a:p>
            <a:endParaRPr lang="en-US"/>
          </a:p>
        </p:txBody>
      </p:sp>
      <p:sp>
        <p:nvSpPr>
          <p:cNvPr id="23" name="AutoShape 23"/>
          <p:cNvSpPr/>
          <p:nvPr/>
        </p:nvSpPr>
        <p:spPr>
          <a:xfrm>
            <a:off x="832394" y="6782050"/>
            <a:ext cx="15703135" cy="0"/>
          </a:xfrm>
          <a:prstGeom prst="line">
            <a:avLst/>
          </a:prstGeom>
          <a:ln w="28575" cap="flat">
            <a:solidFill>
              <a:srgbClr val="D9D9D9"/>
            </a:solidFill>
            <a:prstDash val="sysDash"/>
            <a:headEnd type="none" w="sm" len="sm"/>
            <a:tailEnd type="none" w="sm" len="sm"/>
          </a:ln>
        </p:spPr>
        <p:txBody>
          <a:bodyPr/>
          <a:lstStyle/>
          <a:p>
            <a:endParaRPr lang="en-US"/>
          </a:p>
        </p:txBody>
      </p:sp>
      <p:grpSp>
        <p:nvGrpSpPr>
          <p:cNvPr id="24" name="Group 24"/>
          <p:cNvGrpSpPr/>
          <p:nvPr/>
        </p:nvGrpSpPr>
        <p:grpSpPr>
          <a:xfrm>
            <a:off x="416177" y="7547850"/>
            <a:ext cx="2560088" cy="1174190"/>
            <a:chOff x="0" y="0"/>
            <a:chExt cx="674262" cy="309252"/>
          </a:xfrm>
        </p:grpSpPr>
        <p:sp>
          <p:nvSpPr>
            <p:cNvPr id="25" name="Freeform 25"/>
            <p:cNvSpPr/>
            <p:nvPr/>
          </p:nvSpPr>
          <p:spPr>
            <a:xfrm>
              <a:off x="0" y="0"/>
              <a:ext cx="674262" cy="309252"/>
            </a:xfrm>
            <a:custGeom>
              <a:avLst/>
              <a:gdLst/>
              <a:ahLst/>
              <a:cxnLst/>
              <a:rect l="l" t="t" r="r" b="b"/>
              <a:pathLst>
                <a:path w="674262" h="309252">
                  <a:moveTo>
                    <a:pt x="0" y="0"/>
                  </a:moveTo>
                  <a:lnTo>
                    <a:pt x="674262" y="0"/>
                  </a:lnTo>
                  <a:lnTo>
                    <a:pt x="674262" y="309252"/>
                  </a:lnTo>
                  <a:lnTo>
                    <a:pt x="0" y="309252"/>
                  </a:lnTo>
                  <a:close/>
                </a:path>
              </a:pathLst>
            </a:custGeom>
            <a:gradFill rotWithShape="1">
              <a:gsLst>
                <a:gs pos="0">
                  <a:srgbClr val="2D8BBA">
                    <a:alpha val="100000"/>
                  </a:srgbClr>
                </a:gs>
                <a:gs pos="100000">
                  <a:srgbClr val="192385">
                    <a:alpha val="100000"/>
                  </a:srgbClr>
                </a:gs>
              </a:gsLst>
              <a:lin ang="0"/>
            </a:gradFill>
          </p:spPr>
          <p:txBody>
            <a:bodyPr/>
            <a:lstStyle/>
            <a:p>
              <a:endParaRPr lang="en-US"/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0" y="-76200"/>
              <a:ext cx="674262" cy="38545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5880"/>
                </a:lnSpc>
              </a:pPr>
              <a:r>
                <a:rPr lang="en-US" sz="4200" b="1">
                  <a:solidFill>
                    <a:srgbClr val="FFFFFF"/>
                  </a:solidFill>
                  <a:latin typeface="Cabin Bold"/>
                  <a:ea typeface="Cabin Bold"/>
                  <a:cs typeface="Cabin Bold"/>
                  <a:sym typeface="Cabin Bold"/>
                </a:rPr>
                <a:t>Holidays</a:t>
              </a:r>
            </a:p>
          </p:txBody>
        </p:sp>
      </p:grpSp>
      <p:grpSp>
        <p:nvGrpSpPr>
          <p:cNvPr id="27" name="Group 27"/>
          <p:cNvGrpSpPr/>
          <p:nvPr/>
        </p:nvGrpSpPr>
        <p:grpSpPr>
          <a:xfrm>
            <a:off x="3344780" y="6910637"/>
            <a:ext cx="12871363" cy="2070551"/>
            <a:chOff x="0" y="0"/>
            <a:chExt cx="17161817" cy="2760735"/>
          </a:xfrm>
        </p:grpSpPr>
        <p:sp>
          <p:nvSpPr>
            <p:cNvPr id="28" name="TextBox 28"/>
            <p:cNvSpPr txBox="1"/>
            <p:nvPr/>
          </p:nvSpPr>
          <p:spPr>
            <a:xfrm>
              <a:off x="0" y="934472"/>
              <a:ext cx="17161817" cy="1826263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5699"/>
                </a:lnSpc>
              </a:pPr>
              <a:r>
                <a:rPr lang="en-US" sz="3799" spc="75">
                  <a:solidFill>
                    <a:srgbClr val="000000"/>
                  </a:solidFill>
                  <a:latin typeface="Josefin Sans"/>
                  <a:ea typeface="Josefin Sans"/>
                  <a:cs typeface="Josefin Sans"/>
                  <a:sym typeface="Josefin Sans"/>
                </a:rPr>
                <a:t>Sự kiện đặc biệt xảy ra không thường xuyên nhưng ảnh hưởng mạnh đến dữ liệu </a:t>
              </a:r>
            </a:p>
          </p:txBody>
        </p:sp>
        <p:sp>
          <p:nvSpPr>
            <p:cNvPr id="29" name="TextBox 29"/>
            <p:cNvSpPr txBox="1"/>
            <p:nvPr/>
          </p:nvSpPr>
          <p:spPr>
            <a:xfrm>
              <a:off x="1936399" y="-47625"/>
              <a:ext cx="13894144" cy="815214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ts val="4901"/>
                </a:lnSpc>
                <a:spcBef>
                  <a:spcPct val="0"/>
                </a:spcBef>
              </a:pPr>
              <a:endParaRPr/>
            </a:p>
          </p:txBody>
        </p:sp>
      </p:grp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EF6F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-2078885" y="-1028700"/>
            <a:ext cx="4062430" cy="4114800"/>
          </a:xfrm>
          <a:custGeom>
            <a:avLst/>
            <a:gdLst/>
            <a:ahLst/>
            <a:cxnLst/>
            <a:rect l="l" t="t" r="r" b="b"/>
            <a:pathLst>
              <a:path w="4062430" h="4114800">
                <a:moveTo>
                  <a:pt x="0" y="0"/>
                </a:moveTo>
                <a:lnTo>
                  <a:pt x="4062430" y="0"/>
                </a:lnTo>
                <a:lnTo>
                  <a:pt x="4062430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3" name="Freeform 3"/>
          <p:cNvSpPr/>
          <p:nvPr/>
        </p:nvSpPr>
        <p:spPr>
          <a:xfrm>
            <a:off x="-420251" y="8652196"/>
            <a:ext cx="2190229" cy="1967224"/>
          </a:xfrm>
          <a:custGeom>
            <a:avLst/>
            <a:gdLst/>
            <a:ahLst/>
            <a:cxnLst/>
            <a:rect l="l" t="t" r="r" b="b"/>
            <a:pathLst>
              <a:path w="2190229" h="1967224">
                <a:moveTo>
                  <a:pt x="0" y="0"/>
                </a:moveTo>
                <a:lnTo>
                  <a:pt x="2190229" y="0"/>
                </a:lnTo>
                <a:lnTo>
                  <a:pt x="2190229" y="1967224"/>
                </a:lnTo>
                <a:lnTo>
                  <a:pt x="0" y="1967224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4" name="Freeform 4"/>
          <p:cNvSpPr/>
          <p:nvPr/>
        </p:nvSpPr>
        <p:spPr>
          <a:xfrm flipH="1" flipV="1">
            <a:off x="14332341" y="-371291"/>
            <a:ext cx="7147278" cy="3993541"/>
          </a:xfrm>
          <a:custGeom>
            <a:avLst/>
            <a:gdLst/>
            <a:ahLst/>
            <a:cxnLst/>
            <a:rect l="l" t="t" r="r" b="b"/>
            <a:pathLst>
              <a:path w="7147278" h="3993541">
                <a:moveTo>
                  <a:pt x="7147277" y="3993542"/>
                </a:moveTo>
                <a:lnTo>
                  <a:pt x="0" y="3993542"/>
                </a:lnTo>
                <a:lnTo>
                  <a:pt x="0" y="0"/>
                </a:lnTo>
                <a:lnTo>
                  <a:pt x="7147277" y="0"/>
                </a:lnTo>
                <a:lnTo>
                  <a:pt x="7147277" y="3993542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grpSp>
        <p:nvGrpSpPr>
          <p:cNvPr id="5" name="Group 5"/>
          <p:cNvGrpSpPr/>
          <p:nvPr/>
        </p:nvGrpSpPr>
        <p:grpSpPr>
          <a:xfrm>
            <a:off x="972200" y="2950289"/>
            <a:ext cx="7037674" cy="5701908"/>
            <a:chOff x="0" y="0"/>
            <a:chExt cx="1853544" cy="1501737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1853544" cy="1501737"/>
            </a:xfrm>
            <a:custGeom>
              <a:avLst/>
              <a:gdLst/>
              <a:ahLst/>
              <a:cxnLst/>
              <a:rect l="l" t="t" r="r" b="b"/>
              <a:pathLst>
                <a:path w="1853544" h="1501737">
                  <a:moveTo>
                    <a:pt x="56103" y="0"/>
                  </a:moveTo>
                  <a:lnTo>
                    <a:pt x="1797440" y="0"/>
                  </a:lnTo>
                  <a:cubicBezTo>
                    <a:pt x="1812320" y="0"/>
                    <a:pt x="1826590" y="5911"/>
                    <a:pt x="1837112" y="16432"/>
                  </a:cubicBezTo>
                  <a:cubicBezTo>
                    <a:pt x="1847633" y="26954"/>
                    <a:pt x="1853544" y="41224"/>
                    <a:pt x="1853544" y="56103"/>
                  </a:cubicBezTo>
                  <a:lnTo>
                    <a:pt x="1853544" y="1445634"/>
                  </a:lnTo>
                  <a:cubicBezTo>
                    <a:pt x="1853544" y="1460513"/>
                    <a:pt x="1847633" y="1474783"/>
                    <a:pt x="1837112" y="1485305"/>
                  </a:cubicBezTo>
                  <a:cubicBezTo>
                    <a:pt x="1826590" y="1495826"/>
                    <a:pt x="1812320" y="1501737"/>
                    <a:pt x="1797440" y="1501737"/>
                  </a:cubicBezTo>
                  <a:lnTo>
                    <a:pt x="56103" y="1501737"/>
                  </a:lnTo>
                  <a:cubicBezTo>
                    <a:pt x="25118" y="1501737"/>
                    <a:pt x="0" y="1476619"/>
                    <a:pt x="0" y="1445634"/>
                  </a:cubicBezTo>
                  <a:lnTo>
                    <a:pt x="0" y="56103"/>
                  </a:lnTo>
                  <a:cubicBezTo>
                    <a:pt x="0" y="41224"/>
                    <a:pt x="5911" y="26954"/>
                    <a:pt x="16432" y="16432"/>
                  </a:cubicBezTo>
                  <a:cubicBezTo>
                    <a:pt x="26954" y="5911"/>
                    <a:pt x="41224" y="0"/>
                    <a:pt x="56103" y="0"/>
                  </a:cubicBezTo>
                  <a:close/>
                </a:path>
              </a:pathLst>
            </a:custGeom>
            <a:solidFill>
              <a:srgbClr val="E9EBF7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0" y="47625"/>
              <a:ext cx="1853544" cy="145411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l">
                <a:lnSpc>
                  <a:spcPts val="12492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8" name="Group 8"/>
          <p:cNvGrpSpPr/>
          <p:nvPr/>
        </p:nvGrpSpPr>
        <p:grpSpPr>
          <a:xfrm>
            <a:off x="10660341" y="2950289"/>
            <a:ext cx="7037674" cy="5701908"/>
            <a:chOff x="0" y="0"/>
            <a:chExt cx="1853544" cy="1501737"/>
          </a:xfrm>
        </p:grpSpPr>
        <p:sp>
          <p:nvSpPr>
            <p:cNvPr id="9" name="Freeform 9"/>
            <p:cNvSpPr/>
            <p:nvPr/>
          </p:nvSpPr>
          <p:spPr>
            <a:xfrm>
              <a:off x="0" y="0"/>
              <a:ext cx="1853544" cy="1501737"/>
            </a:xfrm>
            <a:custGeom>
              <a:avLst/>
              <a:gdLst/>
              <a:ahLst/>
              <a:cxnLst/>
              <a:rect l="l" t="t" r="r" b="b"/>
              <a:pathLst>
                <a:path w="1853544" h="1501737">
                  <a:moveTo>
                    <a:pt x="56103" y="0"/>
                  </a:moveTo>
                  <a:lnTo>
                    <a:pt x="1797440" y="0"/>
                  </a:lnTo>
                  <a:cubicBezTo>
                    <a:pt x="1812320" y="0"/>
                    <a:pt x="1826590" y="5911"/>
                    <a:pt x="1837112" y="16432"/>
                  </a:cubicBezTo>
                  <a:cubicBezTo>
                    <a:pt x="1847633" y="26954"/>
                    <a:pt x="1853544" y="41224"/>
                    <a:pt x="1853544" y="56103"/>
                  </a:cubicBezTo>
                  <a:lnTo>
                    <a:pt x="1853544" y="1445634"/>
                  </a:lnTo>
                  <a:cubicBezTo>
                    <a:pt x="1853544" y="1460513"/>
                    <a:pt x="1847633" y="1474783"/>
                    <a:pt x="1837112" y="1485305"/>
                  </a:cubicBezTo>
                  <a:cubicBezTo>
                    <a:pt x="1826590" y="1495826"/>
                    <a:pt x="1812320" y="1501737"/>
                    <a:pt x="1797440" y="1501737"/>
                  </a:cubicBezTo>
                  <a:lnTo>
                    <a:pt x="56103" y="1501737"/>
                  </a:lnTo>
                  <a:cubicBezTo>
                    <a:pt x="25118" y="1501737"/>
                    <a:pt x="0" y="1476619"/>
                    <a:pt x="0" y="1445634"/>
                  </a:cubicBezTo>
                  <a:lnTo>
                    <a:pt x="0" y="56103"/>
                  </a:lnTo>
                  <a:cubicBezTo>
                    <a:pt x="0" y="41224"/>
                    <a:pt x="5911" y="26954"/>
                    <a:pt x="16432" y="16432"/>
                  </a:cubicBezTo>
                  <a:cubicBezTo>
                    <a:pt x="26954" y="5911"/>
                    <a:pt x="41224" y="0"/>
                    <a:pt x="56103" y="0"/>
                  </a:cubicBezTo>
                  <a:close/>
                </a:path>
              </a:pathLst>
            </a:custGeom>
            <a:solidFill>
              <a:srgbClr val="E9EBF7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0" y="47625"/>
              <a:ext cx="1853544" cy="145411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l">
                <a:lnSpc>
                  <a:spcPts val="12492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11" name="TextBox 11"/>
          <p:cNvSpPr txBox="1"/>
          <p:nvPr/>
        </p:nvSpPr>
        <p:spPr>
          <a:xfrm>
            <a:off x="2766279" y="647816"/>
            <a:ext cx="12755441" cy="134044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8932"/>
              </a:lnSpc>
              <a:spcBef>
                <a:spcPct val="0"/>
              </a:spcBef>
            </a:pPr>
            <a:r>
              <a:rPr lang="en-US" sz="8426">
                <a:solidFill>
                  <a:srgbClr val="4288DD"/>
                </a:solidFill>
                <a:latin typeface="Bungee"/>
                <a:ea typeface="Bungee"/>
                <a:cs typeface="Bungee"/>
                <a:sym typeface="Bungee"/>
              </a:rPr>
              <a:t>Đơn biến v</a:t>
            </a:r>
            <a:r>
              <a:rPr lang="en-US" sz="8426" u="none" strike="noStrike">
                <a:solidFill>
                  <a:srgbClr val="4288DD"/>
                </a:solidFill>
                <a:latin typeface="Bungee"/>
                <a:ea typeface="Bungee"/>
                <a:cs typeface="Bungee"/>
                <a:sym typeface="Bungee"/>
              </a:rPr>
              <a:t>s Đa biến</a:t>
            </a:r>
          </a:p>
        </p:txBody>
      </p:sp>
      <p:grpSp>
        <p:nvGrpSpPr>
          <p:cNvPr id="12" name="Group 12"/>
          <p:cNvGrpSpPr/>
          <p:nvPr/>
        </p:nvGrpSpPr>
        <p:grpSpPr>
          <a:xfrm>
            <a:off x="972200" y="2950289"/>
            <a:ext cx="7037674" cy="1343924"/>
            <a:chOff x="0" y="0"/>
            <a:chExt cx="1853544" cy="353955"/>
          </a:xfrm>
        </p:grpSpPr>
        <p:sp>
          <p:nvSpPr>
            <p:cNvPr id="13" name="Freeform 13"/>
            <p:cNvSpPr/>
            <p:nvPr/>
          </p:nvSpPr>
          <p:spPr>
            <a:xfrm>
              <a:off x="0" y="0"/>
              <a:ext cx="1853544" cy="353955"/>
            </a:xfrm>
            <a:custGeom>
              <a:avLst/>
              <a:gdLst/>
              <a:ahLst/>
              <a:cxnLst/>
              <a:rect l="l" t="t" r="r" b="b"/>
              <a:pathLst>
                <a:path w="1853544" h="353955">
                  <a:moveTo>
                    <a:pt x="55691" y="0"/>
                  </a:moveTo>
                  <a:lnTo>
                    <a:pt x="1797853" y="0"/>
                  </a:lnTo>
                  <a:cubicBezTo>
                    <a:pt x="1828610" y="0"/>
                    <a:pt x="1853544" y="24934"/>
                    <a:pt x="1853544" y="55691"/>
                  </a:cubicBezTo>
                  <a:lnTo>
                    <a:pt x="1853544" y="298264"/>
                  </a:lnTo>
                  <a:cubicBezTo>
                    <a:pt x="1853544" y="329022"/>
                    <a:pt x="1828610" y="353955"/>
                    <a:pt x="1797853" y="353955"/>
                  </a:cubicBezTo>
                  <a:lnTo>
                    <a:pt x="55691" y="353955"/>
                  </a:lnTo>
                  <a:cubicBezTo>
                    <a:pt x="40921" y="353955"/>
                    <a:pt x="26756" y="348088"/>
                    <a:pt x="16311" y="337644"/>
                  </a:cubicBezTo>
                  <a:cubicBezTo>
                    <a:pt x="5867" y="327200"/>
                    <a:pt x="0" y="313034"/>
                    <a:pt x="0" y="298264"/>
                  </a:cubicBezTo>
                  <a:lnTo>
                    <a:pt x="0" y="55691"/>
                  </a:lnTo>
                  <a:cubicBezTo>
                    <a:pt x="0" y="24934"/>
                    <a:pt x="24934" y="0"/>
                    <a:pt x="55691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2D8BBA">
                    <a:alpha val="100000"/>
                  </a:srgbClr>
                </a:gs>
                <a:gs pos="100000">
                  <a:srgbClr val="192385">
                    <a:alpha val="100000"/>
                  </a:srgbClr>
                </a:gs>
              </a:gsLst>
              <a:lin ang="0"/>
            </a:gradFill>
          </p:spPr>
          <p:txBody>
            <a:bodyPr/>
            <a:lstStyle/>
            <a:p>
              <a:endParaRPr lang="en-US"/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0" y="-38100"/>
              <a:ext cx="1853544" cy="39205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15" name="Group 15"/>
          <p:cNvGrpSpPr/>
          <p:nvPr/>
        </p:nvGrpSpPr>
        <p:grpSpPr>
          <a:xfrm>
            <a:off x="10660341" y="2950289"/>
            <a:ext cx="7037674" cy="1562634"/>
            <a:chOff x="0" y="0"/>
            <a:chExt cx="1853544" cy="411558"/>
          </a:xfrm>
        </p:grpSpPr>
        <p:sp>
          <p:nvSpPr>
            <p:cNvPr id="16" name="Freeform 16"/>
            <p:cNvSpPr/>
            <p:nvPr/>
          </p:nvSpPr>
          <p:spPr>
            <a:xfrm>
              <a:off x="0" y="0"/>
              <a:ext cx="1853544" cy="411558"/>
            </a:xfrm>
            <a:custGeom>
              <a:avLst/>
              <a:gdLst/>
              <a:ahLst/>
              <a:cxnLst/>
              <a:rect l="l" t="t" r="r" b="b"/>
              <a:pathLst>
                <a:path w="1853544" h="411558">
                  <a:moveTo>
                    <a:pt x="55691" y="0"/>
                  </a:moveTo>
                  <a:lnTo>
                    <a:pt x="1797853" y="0"/>
                  </a:lnTo>
                  <a:cubicBezTo>
                    <a:pt x="1828610" y="0"/>
                    <a:pt x="1853544" y="24934"/>
                    <a:pt x="1853544" y="55691"/>
                  </a:cubicBezTo>
                  <a:lnTo>
                    <a:pt x="1853544" y="355867"/>
                  </a:lnTo>
                  <a:cubicBezTo>
                    <a:pt x="1853544" y="370637"/>
                    <a:pt x="1847676" y="384802"/>
                    <a:pt x="1837232" y="395246"/>
                  </a:cubicBezTo>
                  <a:cubicBezTo>
                    <a:pt x="1826788" y="405690"/>
                    <a:pt x="1812623" y="411558"/>
                    <a:pt x="1797853" y="411558"/>
                  </a:cubicBezTo>
                  <a:lnTo>
                    <a:pt x="55691" y="411558"/>
                  </a:lnTo>
                  <a:cubicBezTo>
                    <a:pt x="24934" y="411558"/>
                    <a:pt x="0" y="386624"/>
                    <a:pt x="0" y="355867"/>
                  </a:cubicBezTo>
                  <a:lnTo>
                    <a:pt x="0" y="55691"/>
                  </a:lnTo>
                  <a:cubicBezTo>
                    <a:pt x="0" y="24934"/>
                    <a:pt x="24934" y="0"/>
                    <a:pt x="55691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2D8BBA">
                    <a:alpha val="100000"/>
                  </a:srgbClr>
                </a:gs>
                <a:gs pos="100000">
                  <a:srgbClr val="192385">
                    <a:alpha val="100000"/>
                  </a:srgbClr>
                </a:gs>
              </a:gsLst>
              <a:lin ang="0"/>
            </a:gradFill>
          </p:spPr>
          <p:txBody>
            <a:bodyPr/>
            <a:lstStyle/>
            <a:p>
              <a:endParaRPr lang="en-US"/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0" y="-76200"/>
              <a:ext cx="1853544" cy="487758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5180"/>
                </a:lnSpc>
                <a:spcBef>
                  <a:spcPct val="0"/>
                </a:spcBef>
              </a:pPr>
              <a:r>
                <a:rPr lang="en-US" sz="3700" b="1">
                  <a:solidFill>
                    <a:srgbClr val="FFFFFF"/>
                  </a:solidFill>
                  <a:latin typeface="Josefin Sans Bold"/>
                  <a:ea typeface="Josefin Sans Bold"/>
                  <a:cs typeface="Josefin Sans Bold"/>
                  <a:sym typeface="Josefin Sans Bold"/>
                </a:rPr>
                <a:t>Mô hình hóa Đa biến (Multivariate)</a:t>
              </a:r>
            </a:p>
          </p:txBody>
        </p:sp>
      </p:grpSp>
      <p:sp>
        <p:nvSpPr>
          <p:cNvPr id="18" name="TextBox 18"/>
          <p:cNvSpPr txBox="1"/>
          <p:nvPr/>
        </p:nvSpPr>
        <p:spPr>
          <a:xfrm>
            <a:off x="1000450" y="2935816"/>
            <a:ext cx="6981174" cy="129667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5180"/>
              </a:lnSpc>
            </a:pPr>
            <a:r>
              <a:rPr lang="en-US" sz="3700" b="1" spc="40">
                <a:solidFill>
                  <a:srgbClr val="FFFFFF"/>
                </a:solidFill>
                <a:latin typeface="Josefin Sans Bold"/>
                <a:ea typeface="Josefin Sans Bold"/>
                <a:cs typeface="Josefin Sans Bold"/>
                <a:sym typeface="Josefin Sans Bold"/>
              </a:rPr>
              <a:t>Mô hình hóa Đơn biến (Univariate)</a:t>
            </a:r>
          </a:p>
        </p:txBody>
      </p:sp>
      <p:pic>
        <p:nvPicPr>
          <p:cNvPr id="19" name="Picture 19"/>
          <p:cNvPicPr>
            <a:picLocks noChangeAspect="1"/>
          </p:cNvPicPr>
          <p:nvPr/>
        </p:nvPicPr>
        <p:blipFill>
          <a:blip r:embed="rId5">
            <a:alphaModFix amt="35000"/>
          </a:blip>
          <a:srcRect/>
          <a:stretch>
            <a:fillRect/>
          </a:stretch>
        </p:blipFill>
        <p:spPr>
          <a:xfrm rot="7589990" flipH="1">
            <a:off x="8307895" y="5636579"/>
            <a:ext cx="2130669" cy="2056095"/>
          </a:xfrm>
          <a:prstGeom prst="rect">
            <a:avLst/>
          </a:prstGeom>
        </p:spPr>
      </p:pic>
      <p:sp>
        <p:nvSpPr>
          <p:cNvPr id="20" name="TextBox 20"/>
          <p:cNvSpPr txBox="1"/>
          <p:nvPr/>
        </p:nvSpPr>
        <p:spPr>
          <a:xfrm>
            <a:off x="1197856" y="4446248"/>
            <a:ext cx="6586363" cy="125158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5040"/>
              </a:lnSpc>
              <a:spcBef>
                <a:spcPct val="0"/>
              </a:spcBef>
            </a:pPr>
            <a:r>
              <a:rPr lang="en-US" sz="3600">
                <a:solidFill>
                  <a:srgbClr val="000000"/>
                </a:solidFill>
                <a:latin typeface="Josefin Sans"/>
                <a:ea typeface="Josefin Sans"/>
                <a:cs typeface="Josefin Sans"/>
                <a:sym typeface="Josefin Sans"/>
              </a:rPr>
              <a:t>Chỉ dựa vào một biến duy nhất theo thời gian</a:t>
            </a:r>
          </a:p>
        </p:txBody>
      </p:sp>
      <p:sp>
        <p:nvSpPr>
          <p:cNvPr id="21" name="TextBox 21"/>
          <p:cNvSpPr txBox="1"/>
          <p:nvPr/>
        </p:nvSpPr>
        <p:spPr>
          <a:xfrm>
            <a:off x="10994601" y="4709042"/>
            <a:ext cx="6147305" cy="127063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5039"/>
              </a:lnSpc>
              <a:spcBef>
                <a:spcPct val="0"/>
              </a:spcBef>
            </a:pPr>
            <a:r>
              <a:rPr lang="en-US" sz="3599">
                <a:solidFill>
                  <a:srgbClr val="000000"/>
                </a:solidFill>
                <a:latin typeface="Josefin Sans"/>
                <a:ea typeface="Josefin Sans"/>
                <a:cs typeface="Josefin Sans"/>
                <a:sym typeface="Josefin Sans"/>
              </a:rPr>
              <a:t>Dựa vào nhiều biến phụ theo thời gian</a:t>
            </a:r>
          </a:p>
        </p:txBody>
      </p:sp>
      <p:sp>
        <p:nvSpPr>
          <p:cNvPr id="22" name="TextBox 22"/>
          <p:cNvSpPr txBox="1"/>
          <p:nvPr/>
        </p:nvSpPr>
        <p:spPr>
          <a:xfrm>
            <a:off x="1197856" y="6141715"/>
            <a:ext cx="6586363" cy="188976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5040"/>
              </a:lnSpc>
              <a:spcBef>
                <a:spcPct val="0"/>
              </a:spcBef>
            </a:pPr>
            <a:r>
              <a:rPr lang="en-US" sz="3600">
                <a:solidFill>
                  <a:srgbClr val="000000"/>
                </a:solidFill>
                <a:latin typeface="Josefin Sans"/>
                <a:ea typeface="Josefin Sans"/>
                <a:cs typeface="Josefin Sans"/>
                <a:sym typeface="Josefin Sans"/>
              </a:rPr>
              <a:t>Dự báo dựa trên các quy luật và giá trị trong quá khứ của chính nó</a:t>
            </a:r>
          </a:p>
        </p:txBody>
      </p:sp>
      <p:sp>
        <p:nvSpPr>
          <p:cNvPr id="23" name="TextBox 23"/>
          <p:cNvSpPr txBox="1"/>
          <p:nvPr/>
        </p:nvSpPr>
        <p:spPr>
          <a:xfrm>
            <a:off x="10966666" y="6122664"/>
            <a:ext cx="6731349" cy="190881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5039"/>
              </a:lnSpc>
              <a:spcBef>
                <a:spcPct val="0"/>
              </a:spcBef>
            </a:pPr>
            <a:r>
              <a:rPr lang="en-US" sz="3599">
                <a:solidFill>
                  <a:srgbClr val="000000"/>
                </a:solidFill>
                <a:latin typeface="Josefin Sans"/>
                <a:ea typeface="Josefin Sans"/>
                <a:cs typeface="Josefin Sans"/>
                <a:sym typeface="Josefin Sans"/>
              </a:rPr>
              <a:t>Dự báo dựa trên giá trị quá khứ của mục tiêu kết hợp với các biến liên quan khác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EF6F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 flipH="1" flipV="1">
            <a:off x="14905152" y="372708"/>
            <a:ext cx="7147278" cy="3993541"/>
          </a:xfrm>
          <a:custGeom>
            <a:avLst/>
            <a:gdLst/>
            <a:ahLst/>
            <a:cxnLst/>
            <a:rect l="l" t="t" r="r" b="b"/>
            <a:pathLst>
              <a:path w="7147278" h="3993541">
                <a:moveTo>
                  <a:pt x="7147278" y="3993541"/>
                </a:moveTo>
                <a:lnTo>
                  <a:pt x="0" y="3993541"/>
                </a:lnTo>
                <a:lnTo>
                  <a:pt x="0" y="0"/>
                </a:lnTo>
                <a:lnTo>
                  <a:pt x="7147278" y="0"/>
                </a:lnTo>
                <a:lnTo>
                  <a:pt x="7147278" y="3993541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3" name="Freeform 3"/>
          <p:cNvSpPr/>
          <p:nvPr/>
        </p:nvSpPr>
        <p:spPr>
          <a:xfrm>
            <a:off x="14404197" y="9258300"/>
            <a:ext cx="4581255" cy="4114800"/>
          </a:xfrm>
          <a:custGeom>
            <a:avLst/>
            <a:gdLst/>
            <a:ahLst/>
            <a:cxnLst/>
            <a:rect l="l" t="t" r="r" b="b"/>
            <a:pathLst>
              <a:path w="4581255" h="4114800">
                <a:moveTo>
                  <a:pt x="0" y="0"/>
                </a:moveTo>
                <a:lnTo>
                  <a:pt x="4581255" y="0"/>
                </a:lnTo>
                <a:lnTo>
                  <a:pt x="4581255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4" name="TextBox 4"/>
          <p:cNvSpPr txBox="1"/>
          <p:nvPr/>
        </p:nvSpPr>
        <p:spPr>
          <a:xfrm>
            <a:off x="-952238" y="382233"/>
            <a:ext cx="12264285" cy="82740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5334"/>
              </a:lnSpc>
            </a:pPr>
            <a:r>
              <a:rPr lang="en-US" sz="5499">
                <a:solidFill>
                  <a:srgbClr val="090147"/>
                </a:solidFill>
                <a:latin typeface="Bungee"/>
                <a:ea typeface="Bungee"/>
                <a:cs typeface="Bungee"/>
                <a:sym typeface="Bungee"/>
              </a:rPr>
              <a:t>RECIPE 3-1: FBPROPHET 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-143315" y="1569077"/>
            <a:ext cx="6398836" cy="140512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5406"/>
              </a:lnSpc>
              <a:spcBef>
                <a:spcPct val="0"/>
              </a:spcBef>
            </a:pPr>
            <a:r>
              <a:rPr lang="en-US" sz="5100">
                <a:solidFill>
                  <a:srgbClr val="4288DD"/>
                </a:solidFill>
                <a:latin typeface="Josefin Sans"/>
                <a:ea typeface="Josefin Sans"/>
                <a:cs typeface="Josefin Sans"/>
                <a:sym typeface="Josefin Sans"/>
              </a:rPr>
              <a:t>Cơ chế hoạt động (Components)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10978804" y="5308559"/>
            <a:ext cx="5716020" cy="195389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5180"/>
              </a:lnSpc>
            </a:pPr>
            <a:r>
              <a:rPr lang="en-US" sz="3700" b="1" spc="40">
                <a:solidFill>
                  <a:srgbClr val="0A008E"/>
                </a:solidFill>
                <a:latin typeface="Josefin Sans Bold"/>
                <a:ea typeface="Josefin Sans Bold"/>
                <a:cs typeface="Josefin Sans Bold"/>
                <a:sym typeface="Josefin Sans Bold"/>
              </a:rPr>
              <a:t>Cộng dồn (Summation)</a:t>
            </a:r>
          </a:p>
          <a:p>
            <a:pPr algn="ctr">
              <a:lnSpc>
                <a:spcPts val="5180"/>
              </a:lnSpc>
              <a:spcBef>
                <a:spcPct val="0"/>
              </a:spcBef>
            </a:pPr>
            <a:r>
              <a:rPr lang="en-US" sz="3700" b="1" spc="40">
                <a:solidFill>
                  <a:srgbClr val="0A008E"/>
                </a:solidFill>
                <a:latin typeface="Josefin Sans Bold"/>
                <a:ea typeface="Josefin Sans Bold"/>
                <a:cs typeface="Josefin Sans Bold"/>
                <a:sym typeface="Josefin Sans Bold"/>
              </a:rPr>
              <a:t>Y = Trend + Seasonality + Holidays + Error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0" y="5072022"/>
            <a:ext cx="5323219" cy="125158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5040"/>
              </a:lnSpc>
            </a:pPr>
            <a:r>
              <a:rPr lang="en-US" sz="3600" b="1" spc="39">
                <a:solidFill>
                  <a:srgbClr val="0A008E"/>
                </a:solidFill>
                <a:latin typeface="Josefin Sans Bold"/>
                <a:ea typeface="Josefin Sans Bold"/>
                <a:cs typeface="Josefin Sans Bold"/>
                <a:sym typeface="Josefin Sans Bold"/>
              </a:rPr>
              <a:t>Phân tách (Decomposition)</a:t>
            </a:r>
          </a:p>
        </p:txBody>
      </p:sp>
      <p:sp>
        <p:nvSpPr>
          <p:cNvPr id="8" name="AutoShape 8"/>
          <p:cNvSpPr/>
          <p:nvPr/>
        </p:nvSpPr>
        <p:spPr>
          <a:xfrm>
            <a:off x="585063" y="4732962"/>
            <a:ext cx="16230600" cy="0"/>
          </a:xfrm>
          <a:prstGeom prst="line">
            <a:avLst/>
          </a:prstGeom>
          <a:ln w="123825" cap="flat">
            <a:gradFill>
              <a:gsLst>
                <a:gs pos="0">
                  <a:srgbClr val="8CA4FF">
                    <a:alpha val="100000"/>
                  </a:srgbClr>
                </a:gs>
                <a:gs pos="100000">
                  <a:srgbClr val="4068FF">
                    <a:alpha val="100000"/>
                  </a:srgbClr>
                </a:gs>
              </a:gsLst>
              <a:lin ang="0"/>
            </a:gradFill>
            <a:prstDash val="solid"/>
            <a:headEnd type="oval" w="lg" len="lg"/>
            <a:tailEnd type="diamond" w="lg" len="lg"/>
          </a:ln>
        </p:spPr>
        <p:txBody>
          <a:bodyPr/>
          <a:lstStyle/>
          <a:p>
            <a:endParaRPr lang="en-US"/>
          </a:p>
        </p:txBody>
      </p:sp>
      <p:grpSp>
        <p:nvGrpSpPr>
          <p:cNvPr id="9" name="Group 9"/>
          <p:cNvGrpSpPr/>
          <p:nvPr/>
        </p:nvGrpSpPr>
        <p:grpSpPr>
          <a:xfrm>
            <a:off x="1934473" y="3566660"/>
            <a:ext cx="969396" cy="969396"/>
            <a:chOff x="0" y="0"/>
            <a:chExt cx="812800" cy="812800"/>
          </a:xfrm>
        </p:grpSpPr>
        <p:sp>
          <p:nvSpPr>
            <p:cNvPr id="10" name="Freeform 10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FFF"/>
            </a:solidFill>
            <a:ln w="85725" cap="sq">
              <a:gradFill>
                <a:gsLst>
                  <a:gs pos="0">
                    <a:srgbClr val="8CA4FF">
                      <a:alpha val="100000"/>
                    </a:srgbClr>
                  </a:gs>
                  <a:gs pos="100000">
                    <a:srgbClr val="4068FF">
                      <a:alpha val="100000"/>
                    </a:srgbClr>
                  </a:gs>
                </a:gsLst>
                <a:lin ang="5400000"/>
              </a:gradFill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r>
                <a:rPr lang="en-US" sz="1899">
                  <a:solidFill>
                    <a:srgbClr val="000000"/>
                  </a:solidFill>
                  <a:latin typeface="Noto Sans"/>
                  <a:ea typeface="Noto Sans"/>
                  <a:cs typeface="Noto Sans"/>
                  <a:sym typeface="Noto Sans"/>
                </a:rPr>
                <a:t>1</a:t>
              </a:r>
            </a:p>
          </p:txBody>
        </p:sp>
      </p:grpSp>
      <p:pic>
        <p:nvPicPr>
          <p:cNvPr id="12" name="Picture 12"/>
          <p:cNvPicPr>
            <a:picLocks noChangeAspect="1"/>
          </p:cNvPicPr>
          <p:nvPr/>
        </p:nvPicPr>
        <p:blipFill>
          <a:blip r:embed="rId4">
            <a:alphaModFix amt="35000"/>
          </a:blip>
          <a:srcRect/>
          <a:stretch>
            <a:fillRect/>
          </a:stretch>
        </p:blipFill>
        <p:spPr>
          <a:xfrm rot="9770252" flipH="1">
            <a:off x="9053575" y="5622233"/>
            <a:ext cx="1529900" cy="1476354"/>
          </a:xfrm>
          <a:prstGeom prst="rect">
            <a:avLst/>
          </a:prstGeom>
        </p:spPr>
      </p:pic>
      <p:grpSp>
        <p:nvGrpSpPr>
          <p:cNvPr id="13" name="Group 13"/>
          <p:cNvGrpSpPr/>
          <p:nvPr/>
        </p:nvGrpSpPr>
        <p:grpSpPr>
          <a:xfrm>
            <a:off x="4567478" y="6856719"/>
            <a:ext cx="2352472" cy="869442"/>
            <a:chOff x="0" y="0"/>
            <a:chExt cx="3136630" cy="1159256"/>
          </a:xfrm>
        </p:grpSpPr>
        <p:grpSp>
          <p:nvGrpSpPr>
            <p:cNvPr id="14" name="Group 14"/>
            <p:cNvGrpSpPr/>
            <p:nvPr/>
          </p:nvGrpSpPr>
          <p:grpSpPr>
            <a:xfrm>
              <a:off x="0" y="0"/>
              <a:ext cx="3136630" cy="1159256"/>
              <a:chOff x="0" y="0"/>
              <a:chExt cx="676662" cy="250085"/>
            </a:xfrm>
          </p:grpSpPr>
          <p:sp>
            <p:nvSpPr>
              <p:cNvPr id="15" name="Freeform 15"/>
              <p:cNvSpPr/>
              <p:nvPr/>
            </p:nvSpPr>
            <p:spPr>
              <a:xfrm>
                <a:off x="0" y="0"/>
                <a:ext cx="676662" cy="250085"/>
              </a:xfrm>
              <a:custGeom>
                <a:avLst/>
                <a:gdLst/>
                <a:ahLst/>
                <a:cxnLst/>
                <a:rect l="l" t="t" r="r" b="b"/>
                <a:pathLst>
                  <a:path w="676662" h="250085">
                    <a:moveTo>
                      <a:pt x="125042" y="0"/>
                    </a:moveTo>
                    <a:lnTo>
                      <a:pt x="551619" y="0"/>
                    </a:lnTo>
                    <a:cubicBezTo>
                      <a:pt x="620678" y="0"/>
                      <a:pt x="676662" y="55983"/>
                      <a:pt x="676662" y="125042"/>
                    </a:cubicBezTo>
                    <a:lnTo>
                      <a:pt x="676662" y="125042"/>
                    </a:lnTo>
                    <a:cubicBezTo>
                      <a:pt x="676662" y="158206"/>
                      <a:pt x="663488" y="190011"/>
                      <a:pt x="640038" y="213461"/>
                    </a:cubicBezTo>
                    <a:cubicBezTo>
                      <a:pt x="616588" y="236911"/>
                      <a:pt x="584782" y="250085"/>
                      <a:pt x="551619" y="250085"/>
                    </a:cubicBezTo>
                    <a:lnTo>
                      <a:pt x="125042" y="250085"/>
                    </a:lnTo>
                    <a:cubicBezTo>
                      <a:pt x="91879" y="250085"/>
                      <a:pt x="60074" y="236911"/>
                      <a:pt x="36624" y="213461"/>
                    </a:cubicBezTo>
                    <a:cubicBezTo>
                      <a:pt x="13174" y="190011"/>
                      <a:pt x="0" y="158206"/>
                      <a:pt x="0" y="125042"/>
                    </a:cubicBezTo>
                    <a:lnTo>
                      <a:pt x="0" y="125042"/>
                    </a:lnTo>
                    <a:cubicBezTo>
                      <a:pt x="0" y="91879"/>
                      <a:pt x="13174" y="60074"/>
                      <a:pt x="36624" y="36624"/>
                    </a:cubicBezTo>
                    <a:cubicBezTo>
                      <a:pt x="60074" y="13174"/>
                      <a:pt x="91879" y="0"/>
                      <a:pt x="125042" y="0"/>
                    </a:cubicBezTo>
                    <a:close/>
                  </a:path>
                </a:pathLst>
              </a:custGeom>
              <a:gradFill rotWithShape="1">
                <a:gsLst>
                  <a:gs pos="0">
                    <a:srgbClr val="2D8BBA">
                      <a:alpha val="100000"/>
                    </a:srgbClr>
                  </a:gs>
                  <a:gs pos="100000">
                    <a:srgbClr val="192385">
                      <a:alpha val="100000"/>
                    </a:srgbClr>
                  </a:gs>
                </a:gsLst>
                <a:lin ang="0"/>
              </a:gradFill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6" name="TextBox 16"/>
              <p:cNvSpPr txBox="1"/>
              <p:nvPr/>
            </p:nvSpPr>
            <p:spPr>
              <a:xfrm>
                <a:off x="0" y="47625"/>
                <a:ext cx="676662" cy="202460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marL="0" lvl="0" indent="0" algn="l">
                  <a:lnSpc>
                    <a:spcPts val="12492"/>
                  </a:lnSpc>
                  <a:spcBef>
                    <a:spcPct val="0"/>
                  </a:spcBef>
                </a:pPr>
                <a:endParaRPr/>
              </a:p>
            </p:txBody>
          </p:sp>
        </p:grpSp>
        <p:sp>
          <p:nvSpPr>
            <p:cNvPr id="17" name="TextBox 17"/>
            <p:cNvSpPr txBox="1"/>
            <p:nvPr/>
          </p:nvSpPr>
          <p:spPr>
            <a:xfrm>
              <a:off x="0" y="159606"/>
              <a:ext cx="3136630" cy="763843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4743"/>
                </a:lnSpc>
              </a:pPr>
              <a:r>
                <a:rPr lang="en-US" sz="3387" b="1" spc="37">
                  <a:solidFill>
                    <a:srgbClr val="FFFFFF"/>
                  </a:solidFill>
                  <a:latin typeface="Josefin Sans Bold"/>
                  <a:ea typeface="Josefin Sans Bold"/>
                  <a:cs typeface="Josefin Sans Bold"/>
                  <a:sym typeface="Josefin Sans Bold"/>
                </a:rPr>
                <a:t> Holidays </a:t>
              </a:r>
            </a:p>
          </p:txBody>
        </p:sp>
      </p:grpSp>
      <p:grpSp>
        <p:nvGrpSpPr>
          <p:cNvPr id="18" name="Group 18"/>
          <p:cNvGrpSpPr/>
          <p:nvPr/>
        </p:nvGrpSpPr>
        <p:grpSpPr>
          <a:xfrm>
            <a:off x="138772" y="6548398"/>
            <a:ext cx="2281352" cy="904719"/>
            <a:chOff x="0" y="0"/>
            <a:chExt cx="3041802" cy="1206292"/>
          </a:xfrm>
        </p:grpSpPr>
        <p:grpSp>
          <p:nvGrpSpPr>
            <p:cNvPr id="19" name="Group 19"/>
            <p:cNvGrpSpPr/>
            <p:nvPr/>
          </p:nvGrpSpPr>
          <p:grpSpPr>
            <a:xfrm>
              <a:off x="0" y="0"/>
              <a:ext cx="3041802" cy="1206292"/>
              <a:chOff x="0" y="0"/>
              <a:chExt cx="600850" cy="238280"/>
            </a:xfrm>
          </p:grpSpPr>
          <p:sp>
            <p:nvSpPr>
              <p:cNvPr id="20" name="Freeform 20"/>
              <p:cNvSpPr/>
              <p:nvPr/>
            </p:nvSpPr>
            <p:spPr>
              <a:xfrm>
                <a:off x="0" y="0"/>
                <a:ext cx="600850" cy="238280"/>
              </a:xfrm>
              <a:custGeom>
                <a:avLst/>
                <a:gdLst/>
                <a:ahLst/>
                <a:cxnLst/>
                <a:rect l="l" t="t" r="r" b="b"/>
                <a:pathLst>
                  <a:path w="600850" h="238280">
                    <a:moveTo>
                      <a:pt x="119140" y="0"/>
                    </a:moveTo>
                    <a:lnTo>
                      <a:pt x="481710" y="0"/>
                    </a:lnTo>
                    <a:cubicBezTo>
                      <a:pt x="547509" y="0"/>
                      <a:pt x="600850" y="53341"/>
                      <a:pt x="600850" y="119140"/>
                    </a:cubicBezTo>
                    <a:lnTo>
                      <a:pt x="600850" y="119140"/>
                    </a:lnTo>
                    <a:cubicBezTo>
                      <a:pt x="600850" y="184939"/>
                      <a:pt x="547509" y="238280"/>
                      <a:pt x="481710" y="238280"/>
                    </a:cubicBezTo>
                    <a:lnTo>
                      <a:pt x="119140" y="238280"/>
                    </a:lnTo>
                    <a:cubicBezTo>
                      <a:pt x="53341" y="238280"/>
                      <a:pt x="0" y="184939"/>
                      <a:pt x="0" y="119140"/>
                    </a:cubicBezTo>
                    <a:lnTo>
                      <a:pt x="0" y="119140"/>
                    </a:lnTo>
                    <a:cubicBezTo>
                      <a:pt x="0" y="53341"/>
                      <a:pt x="53341" y="0"/>
                      <a:pt x="119140" y="0"/>
                    </a:cubicBezTo>
                    <a:close/>
                  </a:path>
                </a:pathLst>
              </a:custGeom>
              <a:gradFill rotWithShape="1">
                <a:gsLst>
                  <a:gs pos="0">
                    <a:srgbClr val="2D8BBA">
                      <a:alpha val="100000"/>
                    </a:srgbClr>
                  </a:gs>
                  <a:gs pos="100000">
                    <a:srgbClr val="192385">
                      <a:alpha val="100000"/>
                    </a:srgbClr>
                  </a:gs>
                </a:gsLst>
                <a:lin ang="0"/>
              </a:gradFill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1" name="TextBox 21"/>
              <p:cNvSpPr txBox="1"/>
              <p:nvPr/>
            </p:nvSpPr>
            <p:spPr>
              <a:xfrm>
                <a:off x="0" y="47625"/>
                <a:ext cx="600850" cy="190655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marL="0" lvl="0" indent="0" algn="l">
                  <a:lnSpc>
                    <a:spcPts val="12492"/>
                  </a:lnSpc>
                  <a:spcBef>
                    <a:spcPct val="0"/>
                  </a:spcBef>
                </a:pPr>
                <a:endParaRPr/>
              </a:p>
            </p:txBody>
          </p:sp>
        </p:grpSp>
        <p:sp>
          <p:nvSpPr>
            <p:cNvPr id="22" name="TextBox 22"/>
            <p:cNvSpPr txBox="1"/>
            <p:nvPr/>
          </p:nvSpPr>
          <p:spPr>
            <a:xfrm>
              <a:off x="194466" y="151449"/>
              <a:ext cx="2706201" cy="827193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5180"/>
                </a:lnSpc>
              </a:pPr>
              <a:r>
                <a:rPr lang="en-US" sz="3700" b="1" spc="40">
                  <a:solidFill>
                    <a:srgbClr val="FFFFFF"/>
                  </a:solidFill>
                  <a:latin typeface="Josefin Sans Bold"/>
                  <a:ea typeface="Josefin Sans Bold"/>
                  <a:cs typeface="Josefin Sans Bold"/>
                  <a:sym typeface="Josefin Sans Bold"/>
                </a:rPr>
                <a:t>Trend</a:t>
              </a:r>
            </a:p>
          </p:txBody>
        </p:sp>
      </p:grpSp>
      <p:grpSp>
        <p:nvGrpSpPr>
          <p:cNvPr id="23" name="Group 23"/>
          <p:cNvGrpSpPr/>
          <p:nvPr/>
        </p:nvGrpSpPr>
        <p:grpSpPr>
          <a:xfrm>
            <a:off x="1413444" y="8180775"/>
            <a:ext cx="3048137" cy="858772"/>
            <a:chOff x="0" y="0"/>
            <a:chExt cx="4064182" cy="1145030"/>
          </a:xfrm>
        </p:grpSpPr>
        <p:grpSp>
          <p:nvGrpSpPr>
            <p:cNvPr id="24" name="Group 24"/>
            <p:cNvGrpSpPr/>
            <p:nvPr/>
          </p:nvGrpSpPr>
          <p:grpSpPr>
            <a:xfrm>
              <a:off x="0" y="0"/>
              <a:ext cx="4064182" cy="1145030"/>
              <a:chOff x="0" y="0"/>
              <a:chExt cx="802801" cy="226179"/>
            </a:xfrm>
          </p:grpSpPr>
          <p:sp>
            <p:nvSpPr>
              <p:cNvPr id="25" name="Freeform 25"/>
              <p:cNvSpPr/>
              <p:nvPr/>
            </p:nvSpPr>
            <p:spPr>
              <a:xfrm>
                <a:off x="0" y="0"/>
                <a:ext cx="802801" cy="226179"/>
              </a:xfrm>
              <a:custGeom>
                <a:avLst/>
                <a:gdLst/>
                <a:ahLst/>
                <a:cxnLst/>
                <a:rect l="l" t="t" r="r" b="b"/>
                <a:pathLst>
                  <a:path w="802801" h="226179">
                    <a:moveTo>
                      <a:pt x="113089" y="0"/>
                    </a:moveTo>
                    <a:lnTo>
                      <a:pt x="689712" y="0"/>
                    </a:lnTo>
                    <a:cubicBezTo>
                      <a:pt x="752170" y="0"/>
                      <a:pt x="802801" y="50632"/>
                      <a:pt x="802801" y="113089"/>
                    </a:cubicBezTo>
                    <a:lnTo>
                      <a:pt x="802801" y="113089"/>
                    </a:lnTo>
                    <a:cubicBezTo>
                      <a:pt x="802801" y="175547"/>
                      <a:pt x="752170" y="226179"/>
                      <a:pt x="689712" y="226179"/>
                    </a:cubicBezTo>
                    <a:lnTo>
                      <a:pt x="113089" y="226179"/>
                    </a:lnTo>
                    <a:cubicBezTo>
                      <a:pt x="50632" y="226179"/>
                      <a:pt x="0" y="175547"/>
                      <a:pt x="0" y="113089"/>
                    </a:cubicBezTo>
                    <a:lnTo>
                      <a:pt x="0" y="113089"/>
                    </a:lnTo>
                    <a:cubicBezTo>
                      <a:pt x="0" y="50632"/>
                      <a:pt x="50632" y="0"/>
                      <a:pt x="113089" y="0"/>
                    </a:cubicBezTo>
                    <a:close/>
                  </a:path>
                </a:pathLst>
              </a:custGeom>
              <a:gradFill rotWithShape="1">
                <a:gsLst>
                  <a:gs pos="0">
                    <a:srgbClr val="2D8BBA">
                      <a:alpha val="100000"/>
                    </a:srgbClr>
                  </a:gs>
                  <a:gs pos="100000">
                    <a:srgbClr val="192385">
                      <a:alpha val="100000"/>
                    </a:srgbClr>
                  </a:gs>
                </a:gsLst>
                <a:lin ang="0"/>
              </a:gradFill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6" name="TextBox 26"/>
              <p:cNvSpPr txBox="1"/>
              <p:nvPr/>
            </p:nvSpPr>
            <p:spPr>
              <a:xfrm>
                <a:off x="0" y="47625"/>
                <a:ext cx="802801" cy="178554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marL="0" lvl="0" indent="0" algn="l">
                  <a:lnSpc>
                    <a:spcPts val="12492"/>
                  </a:lnSpc>
                  <a:spcBef>
                    <a:spcPct val="0"/>
                  </a:spcBef>
                </a:pPr>
                <a:endParaRPr/>
              </a:p>
            </p:txBody>
          </p:sp>
        </p:grpSp>
        <p:sp>
          <p:nvSpPr>
            <p:cNvPr id="27" name="TextBox 27"/>
            <p:cNvSpPr txBox="1"/>
            <p:nvPr/>
          </p:nvSpPr>
          <p:spPr>
            <a:xfrm>
              <a:off x="0" y="120818"/>
              <a:ext cx="4064182" cy="827193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5180"/>
                </a:lnSpc>
              </a:pPr>
              <a:r>
                <a:rPr lang="en-US" sz="3700" b="1" spc="40">
                  <a:solidFill>
                    <a:srgbClr val="FFFFFF"/>
                  </a:solidFill>
                  <a:latin typeface="Josefin Sans Bold"/>
                  <a:ea typeface="Josefin Sans Bold"/>
                  <a:cs typeface="Josefin Sans Bold"/>
                  <a:sym typeface="Josefin Sans Bold"/>
                </a:rPr>
                <a:t>Seasonality</a:t>
              </a:r>
            </a:p>
          </p:txBody>
        </p:sp>
      </p:grpSp>
      <p:grpSp>
        <p:nvGrpSpPr>
          <p:cNvPr id="28" name="Group 28"/>
          <p:cNvGrpSpPr/>
          <p:nvPr/>
        </p:nvGrpSpPr>
        <p:grpSpPr>
          <a:xfrm>
            <a:off x="7779619" y="5246453"/>
            <a:ext cx="969396" cy="969396"/>
            <a:chOff x="0" y="0"/>
            <a:chExt cx="812800" cy="812800"/>
          </a:xfrm>
        </p:grpSpPr>
        <p:sp>
          <p:nvSpPr>
            <p:cNvPr id="29" name="Freeform 29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FFF"/>
            </a:solidFill>
            <a:ln w="85725" cap="sq">
              <a:gradFill>
                <a:gsLst>
                  <a:gs pos="0">
                    <a:srgbClr val="8CA4FF">
                      <a:alpha val="100000"/>
                    </a:srgbClr>
                  </a:gs>
                  <a:gs pos="100000">
                    <a:srgbClr val="4068FF">
                      <a:alpha val="100000"/>
                    </a:srgbClr>
                  </a:gs>
                </a:gsLst>
                <a:lin ang="5400000"/>
              </a:gradFill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30" name="TextBox 30"/>
            <p:cNvSpPr txBox="1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r>
                <a:rPr lang="en-US" sz="1899">
                  <a:solidFill>
                    <a:srgbClr val="000000"/>
                  </a:solidFill>
                  <a:latin typeface="Noto Sans"/>
                  <a:ea typeface="Noto Sans"/>
                  <a:cs typeface="Noto Sans"/>
                  <a:sym typeface="Noto Sans"/>
                </a:rPr>
                <a:t>2</a:t>
              </a:r>
            </a:p>
          </p:txBody>
        </p:sp>
      </p:grpSp>
      <p:sp>
        <p:nvSpPr>
          <p:cNvPr id="31" name="TextBox 31"/>
          <p:cNvSpPr txBox="1"/>
          <p:nvPr/>
        </p:nvSpPr>
        <p:spPr>
          <a:xfrm>
            <a:off x="5179904" y="3163497"/>
            <a:ext cx="5323219" cy="125158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5040"/>
              </a:lnSpc>
            </a:pPr>
            <a:r>
              <a:rPr lang="en-US" sz="3600" b="1" spc="39">
                <a:solidFill>
                  <a:srgbClr val="0A008E"/>
                </a:solidFill>
                <a:latin typeface="Josefin Sans Bold"/>
                <a:ea typeface="Josefin Sans Bold"/>
                <a:cs typeface="Josefin Sans Bold"/>
                <a:sym typeface="Josefin Sans Bold"/>
              </a:rPr>
              <a:t>Dự đoán từng phần (Extrapolation)</a:t>
            </a:r>
          </a:p>
        </p:txBody>
      </p:sp>
      <p:grpSp>
        <p:nvGrpSpPr>
          <p:cNvPr id="32" name="Group 32"/>
          <p:cNvGrpSpPr/>
          <p:nvPr/>
        </p:nvGrpSpPr>
        <p:grpSpPr>
          <a:xfrm>
            <a:off x="12867418" y="3566660"/>
            <a:ext cx="969396" cy="969396"/>
            <a:chOff x="0" y="0"/>
            <a:chExt cx="812800" cy="812800"/>
          </a:xfrm>
        </p:grpSpPr>
        <p:sp>
          <p:nvSpPr>
            <p:cNvPr id="33" name="Freeform 33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FFF"/>
            </a:solidFill>
            <a:ln w="85725" cap="sq">
              <a:gradFill>
                <a:gsLst>
                  <a:gs pos="0">
                    <a:srgbClr val="8CA4FF">
                      <a:alpha val="100000"/>
                    </a:srgbClr>
                  </a:gs>
                  <a:gs pos="100000">
                    <a:srgbClr val="4068FF">
                      <a:alpha val="100000"/>
                    </a:srgbClr>
                  </a:gs>
                </a:gsLst>
                <a:lin ang="5400000"/>
              </a:gradFill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34" name="TextBox 34"/>
            <p:cNvSpPr txBox="1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r>
                <a:rPr lang="en-US" sz="1899">
                  <a:solidFill>
                    <a:srgbClr val="000000"/>
                  </a:solidFill>
                  <a:latin typeface="Noto Sans"/>
                  <a:ea typeface="Noto Sans"/>
                  <a:cs typeface="Noto Sans"/>
                  <a:sym typeface="Noto Sans"/>
                </a:rPr>
                <a:t>3</a:t>
              </a:r>
            </a:p>
          </p:txBody>
        </p:sp>
      </p:grp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EF6F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 flipH="1" flipV="1">
            <a:off x="15411813" y="-190537"/>
            <a:ext cx="7147278" cy="3993541"/>
          </a:xfrm>
          <a:custGeom>
            <a:avLst/>
            <a:gdLst/>
            <a:ahLst/>
            <a:cxnLst/>
            <a:rect l="l" t="t" r="r" b="b"/>
            <a:pathLst>
              <a:path w="7147278" h="3993541">
                <a:moveTo>
                  <a:pt x="7147278" y="3993542"/>
                </a:moveTo>
                <a:lnTo>
                  <a:pt x="0" y="3993542"/>
                </a:lnTo>
                <a:lnTo>
                  <a:pt x="0" y="0"/>
                </a:lnTo>
                <a:lnTo>
                  <a:pt x="7147278" y="0"/>
                </a:lnTo>
                <a:lnTo>
                  <a:pt x="7147278" y="3993542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3" name="Freeform 3"/>
          <p:cNvSpPr/>
          <p:nvPr/>
        </p:nvSpPr>
        <p:spPr>
          <a:xfrm>
            <a:off x="14739126" y="8684137"/>
            <a:ext cx="4581255" cy="4114800"/>
          </a:xfrm>
          <a:custGeom>
            <a:avLst/>
            <a:gdLst/>
            <a:ahLst/>
            <a:cxnLst/>
            <a:rect l="l" t="t" r="r" b="b"/>
            <a:pathLst>
              <a:path w="4581255" h="4114800">
                <a:moveTo>
                  <a:pt x="0" y="0"/>
                </a:moveTo>
                <a:lnTo>
                  <a:pt x="4581255" y="0"/>
                </a:lnTo>
                <a:lnTo>
                  <a:pt x="4581255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grpSp>
        <p:nvGrpSpPr>
          <p:cNvPr id="4" name="Group 4"/>
          <p:cNvGrpSpPr/>
          <p:nvPr/>
        </p:nvGrpSpPr>
        <p:grpSpPr>
          <a:xfrm>
            <a:off x="392668" y="2593205"/>
            <a:ext cx="5423475" cy="2169295"/>
            <a:chOff x="0" y="0"/>
            <a:chExt cx="1428405" cy="571337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1428405" cy="571337"/>
            </a:xfrm>
            <a:custGeom>
              <a:avLst/>
              <a:gdLst/>
              <a:ahLst/>
              <a:cxnLst/>
              <a:rect l="l" t="t" r="r" b="b"/>
              <a:pathLst>
                <a:path w="1428405" h="571337">
                  <a:moveTo>
                    <a:pt x="72802" y="0"/>
                  </a:moveTo>
                  <a:lnTo>
                    <a:pt x="1355603" y="0"/>
                  </a:lnTo>
                  <a:cubicBezTo>
                    <a:pt x="1374911" y="0"/>
                    <a:pt x="1393429" y="7670"/>
                    <a:pt x="1407082" y="21323"/>
                  </a:cubicBezTo>
                  <a:cubicBezTo>
                    <a:pt x="1420735" y="34976"/>
                    <a:pt x="1428405" y="53493"/>
                    <a:pt x="1428405" y="72802"/>
                  </a:cubicBezTo>
                  <a:lnTo>
                    <a:pt x="1428405" y="498535"/>
                  </a:lnTo>
                  <a:cubicBezTo>
                    <a:pt x="1428405" y="517844"/>
                    <a:pt x="1420735" y="536361"/>
                    <a:pt x="1407082" y="550014"/>
                  </a:cubicBezTo>
                  <a:cubicBezTo>
                    <a:pt x="1393429" y="563667"/>
                    <a:pt x="1374911" y="571337"/>
                    <a:pt x="1355603" y="571337"/>
                  </a:cubicBezTo>
                  <a:lnTo>
                    <a:pt x="72802" y="571337"/>
                  </a:lnTo>
                  <a:cubicBezTo>
                    <a:pt x="53493" y="571337"/>
                    <a:pt x="34976" y="563667"/>
                    <a:pt x="21323" y="550014"/>
                  </a:cubicBezTo>
                  <a:cubicBezTo>
                    <a:pt x="7670" y="536361"/>
                    <a:pt x="0" y="517844"/>
                    <a:pt x="0" y="498535"/>
                  </a:cubicBezTo>
                  <a:lnTo>
                    <a:pt x="0" y="72802"/>
                  </a:lnTo>
                  <a:cubicBezTo>
                    <a:pt x="0" y="53493"/>
                    <a:pt x="7670" y="34976"/>
                    <a:pt x="21323" y="21323"/>
                  </a:cubicBezTo>
                  <a:cubicBezTo>
                    <a:pt x="34976" y="7670"/>
                    <a:pt x="53493" y="0"/>
                    <a:pt x="72802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2D8BBA">
                    <a:alpha val="100000"/>
                  </a:srgbClr>
                </a:gs>
                <a:gs pos="100000">
                  <a:srgbClr val="192385">
                    <a:alpha val="100000"/>
                  </a:srgbClr>
                </a:gs>
              </a:gsLst>
              <a:lin ang="0"/>
            </a:gradFill>
          </p:spPr>
          <p:txBody>
            <a:bodyPr/>
            <a:lstStyle/>
            <a:p>
              <a:endParaRPr lang="en-US"/>
            </a:p>
          </p:txBody>
        </p:sp>
        <p:sp>
          <p:nvSpPr>
            <p:cNvPr id="6" name="TextBox 6"/>
            <p:cNvSpPr txBox="1"/>
            <p:nvPr/>
          </p:nvSpPr>
          <p:spPr>
            <a:xfrm>
              <a:off x="0" y="47625"/>
              <a:ext cx="1428405" cy="52371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l">
                <a:lnSpc>
                  <a:spcPts val="12492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7" name="Freeform 7"/>
          <p:cNvSpPr/>
          <p:nvPr/>
        </p:nvSpPr>
        <p:spPr>
          <a:xfrm>
            <a:off x="205678" y="6310870"/>
            <a:ext cx="11220930" cy="3590646"/>
          </a:xfrm>
          <a:custGeom>
            <a:avLst/>
            <a:gdLst/>
            <a:ahLst/>
            <a:cxnLst/>
            <a:rect l="l" t="t" r="r" b="b"/>
            <a:pathLst>
              <a:path w="11220930" h="3590646">
                <a:moveTo>
                  <a:pt x="0" y="0"/>
                </a:moveTo>
                <a:lnTo>
                  <a:pt x="11220930" y="0"/>
                </a:lnTo>
                <a:lnTo>
                  <a:pt x="11220930" y="3590645"/>
                </a:lnTo>
                <a:lnTo>
                  <a:pt x="0" y="3590645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t="-105445" b="-2760"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8" name="Freeform 8"/>
          <p:cNvSpPr/>
          <p:nvPr/>
        </p:nvSpPr>
        <p:spPr>
          <a:xfrm>
            <a:off x="6255521" y="1511927"/>
            <a:ext cx="11210772" cy="3734588"/>
          </a:xfrm>
          <a:custGeom>
            <a:avLst/>
            <a:gdLst/>
            <a:ahLst/>
            <a:cxnLst/>
            <a:rect l="l" t="t" r="r" b="b"/>
            <a:pathLst>
              <a:path w="11210772" h="3734588">
                <a:moveTo>
                  <a:pt x="0" y="0"/>
                </a:moveTo>
                <a:lnTo>
                  <a:pt x="11210772" y="0"/>
                </a:lnTo>
                <a:lnTo>
                  <a:pt x="11210772" y="3734588"/>
                </a:lnTo>
                <a:lnTo>
                  <a:pt x="0" y="3734588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b="-100000"/>
            </a:stretch>
          </a:blipFill>
        </p:spPr>
        <p:txBody>
          <a:bodyPr/>
          <a:lstStyle/>
          <a:p>
            <a:endParaRPr lang="en-US"/>
          </a:p>
        </p:txBody>
      </p:sp>
      <p:pic>
        <p:nvPicPr>
          <p:cNvPr id="9" name="Picture 9"/>
          <p:cNvPicPr>
            <a:picLocks noChangeAspect="1"/>
          </p:cNvPicPr>
          <p:nvPr/>
        </p:nvPicPr>
        <p:blipFill>
          <a:blip r:embed="rId6"/>
          <a:srcRect/>
          <a:stretch>
            <a:fillRect/>
          </a:stretch>
        </p:blipFill>
        <p:spPr>
          <a:xfrm rot="-640587">
            <a:off x="8807636" y="6112790"/>
            <a:ext cx="1548410" cy="696785"/>
          </a:xfrm>
          <a:prstGeom prst="rect">
            <a:avLst/>
          </a:prstGeom>
          <a:ln cap="sq">
            <a:noFill/>
            <a:prstDash val="solid"/>
          </a:ln>
        </p:spPr>
      </p:pic>
      <p:sp>
        <p:nvSpPr>
          <p:cNvPr id="10" name="TextBox 10"/>
          <p:cNvSpPr txBox="1"/>
          <p:nvPr/>
        </p:nvSpPr>
        <p:spPr>
          <a:xfrm>
            <a:off x="-961763" y="382233"/>
            <a:ext cx="12264285" cy="82740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5334"/>
              </a:lnSpc>
            </a:pPr>
            <a:r>
              <a:rPr lang="en-US" sz="5499">
                <a:solidFill>
                  <a:srgbClr val="090147"/>
                </a:solidFill>
                <a:latin typeface="Bungee"/>
                <a:ea typeface="Bungee"/>
                <a:cs typeface="Bungee"/>
                <a:sym typeface="Bungee"/>
              </a:rPr>
              <a:t>RECIPE 3-1: FBPROPHET 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-143315" y="1569077"/>
            <a:ext cx="6398836" cy="71932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5406"/>
              </a:lnSpc>
              <a:spcBef>
                <a:spcPct val="0"/>
              </a:spcBef>
            </a:pPr>
            <a:r>
              <a:rPr lang="en-US" sz="5100">
                <a:solidFill>
                  <a:srgbClr val="4288DD"/>
                </a:solidFill>
                <a:latin typeface="Josefin Sans"/>
                <a:ea typeface="Josefin Sans"/>
                <a:cs typeface="Josefin Sans"/>
                <a:sym typeface="Josefin Sans"/>
              </a:rPr>
              <a:t>Ưu điểm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1118709" y="3021398"/>
            <a:ext cx="3971393" cy="63944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5180"/>
              </a:lnSpc>
            </a:pPr>
            <a:r>
              <a:rPr lang="en-US" sz="3700" b="1" spc="40">
                <a:solidFill>
                  <a:srgbClr val="FFFFFF"/>
                </a:solidFill>
                <a:latin typeface="Josefin Sans Bold"/>
                <a:ea typeface="Josefin Sans Bold"/>
                <a:cs typeface="Josefin Sans Bold"/>
                <a:sym typeface="Josefin Sans Bold"/>
              </a:rPr>
              <a:t>Xử lý thời vụ tốt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1405295" y="3726805"/>
            <a:ext cx="3398221" cy="63944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5180"/>
              </a:lnSpc>
              <a:spcBef>
                <a:spcPct val="0"/>
              </a:spcBef>
            </a:pPr>
            <a:r>
              <a:rPr lang="en-US" sz="3700" b="1" spc="40">
                <a:solidFill>
                  <a:srgbClr val="FFFFFF"/>
                </a:solidFill>
                <a:latin typeface="Josefin Sans Bold"/>
                <a:ea typeface="Josefin Sans Bold"/>
                <a:cs typeface="Josefin Sans Bold"/>
                <a:sym typeface="Josefin Sans Bold"/>
              </a:rPr>
              <a:t>Kháng nhiễu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10407188" y="5617567"/>
            <a:ext cx="3539551" cy="63944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5180"/>
              </a:lnSpc>
              <a:spcBef>
                <a:spcPct val="0"/>
              </a:spcBef>
            </a:pPr>
            <a:r>
              <a:rPr lang="en-US" sz="3700" b="1" spc="40">
                <a:solidFill>
                  <a:srgbClr val="0A008E"/>
                </a:solidFill>
                <a:latin typeface="Josefin Sans Bold"/>
                <a:ea typeface="Josefin Sans Bold"/>
                <a:cs typeface="Josefin Sans Bold"/>
                <a:sym typeface="Josefin Sans Bold"/>
              </a:rPr>
              <a:t>Mùa cao điểm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EF6F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 flipH="1" flipV="1">
            <a:off x="14905152" y="372708"/>
            <a:ext cx="7147278" cy="3993541"/>
          </a:xfrm>
          <a:custGeom>
            <a:avLst/>
            <a:gdLst/>
            <a:ahLst/>
            <a:cxnLst/>
            <a:rect l="l" t="t" r="r" b="b"/>
            <a:pathLst>
              <a:path w="7147278" h="3993541">
                <a:moveTo>
                  <a:pt x="7147278" y="3993541"/>
                </a:moveTo>
                <a:lnTo>
                  <a:pt x="0" y="3993541"/>
                </a:lnTo>
                <a:lnTo>
                  <a:pt x="0" y="0"/>
                </a:lnTo>
                <a:lnTo>
                  <a:pt x="7147278" y="0"/>
                </a:lnTo>
                <a:lnTo>
                  <a:pt x="7147278" y="3993541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3" name="Freeform 3"/>
          <p:cNvSpPr/>
          <p:nvPr/>
        </p:nvSpPr>
        <p:spPr>
          <a:xfrm>
            <a:off x="15476920" y="9170900"/>
            <a:ext cx="4581255" cy="4114800"/>
          </a:xfrm>
          <a:custGeom>
            <a:avLst/>
            <a:gdLst/>
            <a:ahLst/>
            <a:cxnLst/>
            <a:rect l="l" t="t" r="r" b="b"/>
            <a:pathLst>
              <a:path w="4581255" h="4114800">
                <a:moveTo>
                  <a:pt x="0" y="0"/>
                </a:moveTo>
                <a:lnTo>
                  <a:pt x="4581255" y="0"/>
                </a:lnTo>
                <a:lnTo>
                  <a:pt x="4581255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5" name="TextBox 5"/>
          <p:cNvSpPr txBox="1"/>
          <p:nvPr/>
        </p:nvSpPr>
        <p:spPr>
          <a:xfrm>
            <a:off x="553539" y="382233"/>
            <a:ext cx="8996612" cy="82740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5334"/>
              </a:lnSpc>
            </a:pPr>
            <a:r>
              <a:rPr lang="en-US" sz="5499">
                <a:solidFill>
                  <a:srgbClr val="090147"/>
                </a:solidFill>
                <a:latin typeface="Bungee"/>
                <a:ea typeface="Bungee"/>
                <a:cs typeface="Bungee"/>
                <a:sym typeface="Bungee"/>
              </a:rPr>
              <a:t>RECIPE 3-1: FBPROPHET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4811922" y="9340450"/>
            <a:ext cx="8664155" cy="52420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3981"/>
              </a:lnSpc>
              <a:spcBef>
                <a:spcPct val="0"/>
              </a:spcBef>
            </a:pPr>
            <a:r>
              <a:rPr lang="en-US" sz="3755">
                <a:solidFill>
                  <a:srgbClr val="020BB5"/>
                </a:solidFill>
                <a:latin typeface="Josefin Sans"/>
                <a:ea typeface="Josefin Sans"/>
                <a:cs typeface="Josefin Sans"/>
                <a:sym typeface="Josefin Sans"/>
              </a:rPr>
              <a:t>Doanh số bán lẻ hằng tuần của quả bơ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536996" y="1413615"/>
            <a:ext cx="11913050" cy="125158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5040"/>
              </a:lnSpc>
              <a:spcBef>
                <a:spcPct val="0"/>
              </a:spcBef>
            </a:pPr>
            <a:r>
              <a:rPr lang="en-US" sz="3600" dirty="0" err="1">
                <a:solidFill>
                  <a:srgbClr val="000000"/>
                </a:solidFill>
                <a:latin typeface="Josefin Sans"/>
                <a:ea typeface="Josefin Sans"/>
                <a:cs typeface="Josefin Sans"/>
                <a:sym typeface="Josefin Sans"/>
              </a:rPr>
              <a:t>Mục</a:t>
            </a:r>
            <a:r>
              <a:rPr lang="en-US" sz="3600" dirty="0">
                <a:solidFill>
                  <a:srgbClr val="000000"/>
                </a:solidFill>
                <a:latin typeface="Josefin Sans"/>
                <a:ea typeface="Josefin Sans"/>
                <a:cs typeface="Josefin Sans"/>
                <a:sym typeface="Josefin Sans"/>
              </a:rPr>
              <a:t> </a:t>
            </a:r>
            <a:r>
              <a:rPr lang="en-US" sz="3600" dirty="0" err="1">
                <a:solidFill>
                  <a:srgbClr val="000000"/>
                </a:solidFill>
                <a:latin typeface="Josefin Sans"/>
                <a:ea typeface="Josefin Sans"/>
                <a:cs typeface="Josefin Sans"/>
                <a:sym typeface="Josefin Sans"/>
              </a:rPr>
              <a:t>tiêu</a:t>
            </a:r>
            <a:r>
              <a:rPr lang="en-US" sz="3600" dirty="0">
                <a:solidFill>
                  <a:srgbClr val="000000"/>
                </a:solidFill>
                <a:latin typeface="Josefin Sans"/>
                <a:ea typeface="Josefin Sans"/>
                <a:cs typeface="Josefin Sans"/>
                <a:sym typeface="Josefin Sans"/>
              </a:rPr>
              <a:t>: </a:t>
            </a:r>
            <a:r>
              <a:rPr lang="en-US" sz="3600" dirty="0" err="1">
                <a:solidFill>
                  <a:srgbClr val="000000"/>
                </a:solidFill>
                <a:latin typeface="Josefin Sans"/>
                <a:ea typeface="Josefin Sans"/>
                <a:cs typeface="Josefin Sans"/>
                <a:sym typeface="Josefin Sans"/>
              </a:rPr>
              <a:t>Xây</a:t>
            </a:r>
            <a:r>
              <a:rPr lang="en-US" sz="3600" dirty="0">
                <a:solidFill>
                  <a:srgbClr val="000000"/>
                </a:solidFill>
                <a:latin typeface="Josefin Sans"/>
                <a:ea typeface="Josefin Sans"/>
                <a:cs typeface="Josefin Sans"/>
                <a:sym typeface="Josefin Sans"/>
              </a:rPr>
              <a:t> </a:t>
            </a:r>
            <a:r>
              <a:rPr lang="en-US" sz="3600" dirty="0" err="1">
                <a:solidFill>
                  <a:srgbClr val="000000"/>
                </a:solidFill>
                <a:latin typeface="Josefin Sans"/>
                <a:ea typeface="Josefin Sans"/>
                <a:cs typeface="Josefin Sans"/>
                <a:sym typeface="Josefin Sans"/>
              </a:rPr>
              <a:t>một</a:t>
            </a:r>
            <a:r>
              <a:rPr lang="en-US" sz="3600" dirty="0">
                <a:solidFill>
                  <a:srgbClr val="000000"/>
                </a:solidFill>
                <a:latin typeface="Josefin Sans"/>
                <a:ea typeface="Josefin Sans"/>
                <a:cs typeface="Josefin Sans"/>
                <a:sym typeface="Josefin Sans"/>
              </a:rPr>
              <a:t> </a:t>
            </a:r>
            <a:r>
              <a:rPr lang="en-US" sz="3600" dirty="0" err="1">
                <a:solidFill>
                  <a:srgbClr val="000000"/>
                </a:solidFill>
                <a:latin typeface="Josefin Sans"/>
                <a:ea typeface="Josefin Sans"/>
                <a:cs typeface="Josefin Sans"/>
                <a:sym typeface="Josefin Sans"/>
              </a:rPr>
              <a:t>mô</a:t>
            </a:r>
            <a:r>
              <a:rPr lang="en-US" sz="3600" dirty="0">
                <a:solidFill>
                  <a:srgbClr val="000000"/>
                </a:solidFill>
                <a:latin typeface="Josefin Sans"/>
                <a:ea typeface="Josefin Sans"/>
                <a:cs typeface="Josefin Sans"/>
                <a:sym typeface="Josefin Sans"/>
              </a:rPr>
              <a:t> </a:t>
            </a:r>
            <a:r>
              <a:rPr lang="en-US" sz="3600" dirty="0" err="1">
                <a:solidFill>
                  <a:srgbClr val="000000"/>
                </a:solidFill>
                <a:latin typeface="Josefin Sans"/>
                <a:ea typeface="Josefin Sans"/>
                <a:cs typeface="Josefin Sans"/>
                <a:sym typeface="Josefin Sans"/>
              </a:rPr>
              <a:t>hình</a:t>
            </a:r>
            <a:r>
              <a:rPr lang="en-US" sz="3600" dirty="0">
                <a:solidFill>
                  <a:srgbClr val="000000"/>
                </a:solidFill>
                <a:latin typeface="Josefin Sans"/>
                <a:ea typeface="Josefin Sans"/>
                <a:cs typeface="Josefin Sans"/>
                <a:sym typeface="Josefin Sans"/>
              </a:rPr>
              <a:t> Prophet </a:t>
            </a:r>
            <a:r>
              <a:rPr lang="en-US" sz="3600" dirty="0" err="1">
                <a:solidFill>
                  <a:srgbClr val="000000"/>
                </a:solidFill>
                <a:latin typeface="Josefin Sans"/>
                <a:ea typeface="Josefin Sans"/>
                <a:cs typeface="Josefin Sans"/>
                <a:sym typeface="Josefin Sans"/>
              </a:rPr>
              <a:t>đơn</a:t>
            </a:r>
            <a:r>
              <a:rPr lang="en-US" sz="3600" dirty="0">
                <a:solidFill>
                  <a:srgbClr val="000000"/>
                </a:solidFill>
                <a:latin typeface="Josefin Sans"/>
                <a:ea typeface="Josefin Sans"/>
                <a:cs typeface="Josefin Sans"/>
                <a:sym typeface="Josefin Sans"/>
              </a:rPr>
              <a:t> </a:t>
            </a:r>
            <a:r>
              <a:rPr lang="en-US" sz="3600" dirty="0" err="1">
                <a:solidFill>
                  <a:srgbClr val="000000"/>
                </a:solidFill>
                <a:latin typeface="Josefin Sans"/>
                <a:ea typeface="Josefin Sans"/>
                <a:cs typeface="Josefin Sans"/>
                <a:sym typeface="Josefin Sans"/>
              </a:rPr>
              <a:t>giản</a:t>
            </a:r>
            <a:r>
              <a:rPr lang="en-US" sz="3600" dirty="0">
                <a:solidFill>
                  <a:srgbClr val="000000"/>
                </a:solidFill>
                <a:latin typeface="Josefin Sans"/>
                <a:ea typeface="Josefin Sans"/>
                <a:cs typeface="Josefin Sans"/>
                <a:sym typeface="Josefin Sans"/>
              </a:rPr>
              <a:t> </a:t>
            </a:r>
            <a:r>
              <a:rPr lang="en-US" sz="3600" dirty="0" err="1">
                <a:solidFill>
                  <a:srgbClr val="000000"/>
                </a:solidFill>
                <a:latin typeface="Josefin Sans"/>
                <a:ea typeface="Josefin Sans"/>
                <a:cs typeface="Josefin Sans"/>
                <a:sym typeface="Josefin Sans"/>
              </a:rPr>
              <a:t>để</a:t>
            </a:r>
            <a:r>
              <a:rPr lang="en-US" sz="3600" dirty="0">
                <a:solidFill>
                  <a:srgbClr val="000000"/>
                </a:solidFill>
                <a:latin typeface="Josefin Sans"/>
                <a:ea typeface="Josefin Sans"/>
                <a:cs typeface="Josefin Sans"/>
                <a:sym typeface="Josefin Sans"/>
              </a:rPr>
              <a:t> </a:t>
            </a:r>
            <a:r>
              <a:rPr lang="en-US" sz="3600" dirty="0" err="1">
                <a:solidFill>
                  <a:srgbClr val="000000"/>
                </a:solidFill>
                <a:latin typeface="Josefin Sans"/>
                <a:ea typeface="Josefin Sans"/>
                <a:cs typeface="Josefin Sans"/>
                <a:sym typeface="Josefin Sans"/>
              </a:rPr>
              <a:t>dự</a:t>
            </a:r>
            <a:r>
              <a:rPr lang="en-US" sz="3600" dirty="0">
                <a:solidFill>
                  <a:srgbClr val="000000"/>
                </a:solidFill>
                <a:latin typeface="Josefin Sans"/>
                <a:ea typeface="Josefin Sans"/>
                <a:cs typeface="Josefin Sans"/>
                <a:sym typeface="Josefin Sans"/>
              </a:rPr>
              <a:t> </a:t>
            </a:r>
            <a:r>
              <a:rPr lang="en-US" sz="3600" dirty="0" err="1">
                <a:solidFill>
                  <a:srgbClr val="000000"/>
                </a:solidFill>
                <a:latin typeface="Josefin Sans"/>
                <a:ea typeface="Josefin Sans"/>
                <a:cs typeface="Josefin Sans"/>
                <a:sym typeface="Josefin Sans"/>
              </a:rPr>
              <a:t>báo</a:t>
            </a:r>
            <a:r>
              <a:rPr lang="en-US" sz="3600" dirty="0">
                <a:solidFill>
                  <a:srgbClr val="000000"/>
                </a:solidFill>
                <a:latin typeface="Josefin Sans"/>
                <a:ea typeface="Josefin Sans"/>
                <a:cs typeface="Josefin Sans"/>
                <a:sym typeface="Josefin Sans"/>
              </a:rPr>
              <a:t> </a:t>
            </a:r>
            <a:r>
              <a:rPr lang="en-US" sz="3600" dirty="0" err="1">
                <a:solidFill>
                  <a:srgbClr val="000000"/>
                </a:solidFill>
                <a:latin typeface="Josefin Sans"/>
                <a:ea typeface="Josefin Sans"/>
                <a:cs typeface="Josefin Sans"/>
                <a:sym typeface="Josefin Sans"/>
              </a:rPr>
              <a:t>AveragePrice</a:t>
            </a:r>
            <a:r>
              <a:rPr lang="en-US" sz="3600" dirty="0">
                <a:solidFill>
                  <a:srgbClr val="000000"/>
                </a:solidFill>
                <a:latin typeface="Josefin Sans"/>
                <a:ea typeface="Josefin Sans"/>
                <a:cs typeface="Josefin Sans"/>
                <a:sym typeface="Josefin Sans"/>
              </a:rPr>
              <a:t> </a:t>
            </a:r>
            <a:r>
              <a:rPr lang="en-US" sz="3600" dirty="0" err="1">
                <a:solidFill>
                  <a:srgbClr val="000000"/>
                </a:solidFill>
                <a:latin typeface="Josefin Sans"/>
                <a:ea typeface="Josefin Sans"/>
                <a:cs typeface="Josefin Sans"/>
                <a:sym typeface="Josefin Sans"/>
              </a:rPr>
              <a:t>của</a:t>
            </a:r>
            <a:r>
              <a:rPr lang="en-US" sz="3600" dirty="0">
                <a:solidFill>
                  <a:srgbClr val="000000"/>
                </a:solidFill>
                <a:latin typeface="Josefin Sans"/>
                <a:ea typeface="Josefin Sans"/>
                <a:cs typeface="Josefin Sans"/>
                <a:sym typeface="Josefin Sans"/>
              </a:rPr>
              <a:t> </a:t>
            </a:r>
            <a:r>
              <a:rPr lang="en-US" sz="3600" dirty="0" err="1">
                <a:solidFill>
                  <a:srgbClr val="000000"/>
                </a:solidFill>
                <a:latin typeface="Josefin Sans"/>
                <a:ea typeface="Josefin Sans"/>
                <a:cs typeface="Josefin Sans"/>
                <a:sym typeface="Josefin Sans"/>
              </a:rPr>
              <a:t>bơ</a:t>
            </a:r>
            <a:r>
              <a:rPr lang="en-US" sz="3600" dirty="0">
                <a:solidFill>
                  <a:srgbClr val="000000"/>
                </a:solidFill>
                <a:latin typeface="Josefin Sans"/>
                <a:ea typeface="Josefin Sans"/>
                <a:cs typeface="Josefin Sans"/>
                <a:sym typeface="Josefin Sans"/>
              </a:rPr>
              <a:t> </a:t>
            </a:r>
            <a:r>
              <a:rPr lang="en-US" sz="3600" dirty="0" err="1">
                <a:solidFill>
                  <a:srgbClr val="000000"/>
                </a:solidFill>
                <a:latin typeface="Josefin Sans"/>
                <a:ea typeface="Josefin Sans"/>
                <a:cs typeface="Josefin Sans"/>
                <a:sym typeface="Josefin Sans"/>
              </a:rPr>
              <a:t>theo</a:t>
            </a:r>
            <a:r>
              <a:rPr lang="en-US" sz="3600" dirty="0">
                <a:solidFill>
                  <a:srgbClr val="000000"/>
                </a:solidFill>
                <a:latin typeface="Josefin Sans"/>
                <a:ea typeface="Josefin Sans"/>
                <a:cs typeface="Josefin Sans"/>
                <a:sym typeface="Josefin Sans"/>
              </a:rPr>
              <a:t> </a:t>
            </a:r>
            <a:r>
              <a:rPr lang="en-US" sz="3600" dirty="0" err="1">
                <a:solidFill>
                  <a:srgbClr val="000000"/>
                </a:solidFill>
                <a:latin typeface="Josefin Sans"/>
                <a:ea typeface="Josefin Sans"/>
                <a:cs typeface="Josefin Sans"/>
                <a:sym typeface="Josefin Sans"/>
              </a:rPr>
              <a:t>thời</a:t>
            </a:r>
            <a:r>
              <a:rPr lang="en-US" sz="3600" dirty="0">
                <a:solidFill>
                  <a:srgbClr val="000000"/>
                </a:solidFill>
                <a:latin typeface="Josefin Sans"/>
                <a:ea typeface="Josefin Sans"/>
                <a:cs typeface="Josefin Sans"/>
                <a:sym typeface="Josefin Sans"/>
              </a:rPr>
              <a:t> </a:t>
            </a:r>
            <a:r>
              <a:rPr lang="en-US" sz="3600" dirty="0" err="1">
                <a:solidFill>
                  <a:srgbClr val="000000"/>
                </a:solidFill>
                <a:latin typeface="Josefin Sans"/>
                <a:ea typeface="Josefin Sans"/>
                <a:cs typeface="Josefin Sans"/>
                <a:sym typeface="Josefin Sans"/>
              </a:rPr>
              <a:t>gian</a:t>
            </a:r>
            <a:r>
              <a:rPr lang="en-US" sz="3600" dirty="0">
                <a:solidFill>
                  <a:srgbClr val="000000"/>
                </a:solidFill>
                <a:latin typeface="Josefin Sans"/>
                <a:ea typeface="Josefin Sans"/>
                <a:cs typeface="Josefin Sans"/>
                <a:sym typeface="Josefin Sans"/>
              </a:rPr>
              <a:t>.</a:t>
            </a:r>
          </a:p>
        </p:txBody>
      </p:sp>
      <p:graphicFrame>
        <p:nvGraphicFramePr>
          <p:cNvPr id="10" name="Table 9">
            <a:extLst>
              <a:ext uri="{FF2B5EF4-FFF2-40B4-BE49-F238E27FC236}">
                <a16:creationId xmlns:a16="http://schemas.microsoft.com/office/drawing/2014/main" id="{837F7959-63C5-305C-9B2E-1E007B61855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330197426"/>
              </p:ext>
            </p:extLst>
          </p:nvPr>
        </p:nvGraphicFramePr>
        <p:xfrm>
          <a:off x="891753" y="2957545"/>
          <a:ext cx="16504492" cy="6055188"/>
        </p:xfrm>
        <a:graphic>
          <a:graphicData uri="http://schemas.openxmlformats.org/drawingml/2006/table">
            <a:tbl>
              <a:tblPr/>
              <a:tblGrid>
                <a:gridCol w="1705782">
                  <a:extLst>
                    <a:ext uri="{9D8B030D-6E8A-4147-A177-3AD203B41FA5}">
                      <a16:colId xmlns:a16="http://schemas.microsoft.com/office/drawing/2014/main" val="2267003662"/>
                    </a:ext>
                  </a:extLst>
                </a:gridCol>
                <a:gridCol w="1262422">
                  <a:extLst>
                    <a:ext uri="{9D8B030D-6E8A-4147-A177-3AD203B41FA5}">
                      <a16:colId xmlns:a16="http://schemas.microsoft.com/office/drawing/2014/main" val="112784850"/>
                    </a:ext>
                  </a:extLst>
                </a:gridCol>
                <a:gridCol w="1524000">
                  <a:extLst>
                    <a:ext uri="{9D8B030D-6E8A-4147-A177-3AD203B41FA5}">
                      <a16:colId xmlns:a16="http://schemas.microsoft.com/office/drawing/2014/main" val="3923792450"/>
                    </a:ext>
                  </a:extLst>
                </a:gridCol>
                <a:gridCol w="1253345">
                  <a:extLst>
                    <a:ext uri="{9D8B030D-6E8A-4147-A177-3AD203B41FA5}">
                      <a16:colId xmlns:a16="http://schemas.microsoft.com/office/drawing/2014/main" val="100348585"/>
                    </a:ext>
                  </a:extLst>
                </a:gridCol>
                <a:gridCol w="1574020">
                  <a:extLst>
                    <a:ext uri="{9D8B030D-6E8A-4147-A177-3AD203B41FA5}">
                      <a16:colId xmlns:a16="http://schemas.microsoft.com/office/drawing/2014/main" val="1086665965"/>
                    </a:ext>
                  </a:extLst>
                </a:gridCol>
                <a:gridCol w="1093007">
                  <a:extLst>
                    <a:ext uri="{9D8B030D-6E8A-4147-A177-3AD203B41FA5}">
                      <a16:colId xmlns:a16="http://schemas.microsoft.com/office/drawing/2014/main" val="1289877913"/>
                    </a:ext>
                  </a:extLst>
                </a:gridCol>
                <a:gridCol w="1261228">
                  <a:extLst>
                    <a:ext uri="{9D8B030D-6E8A-4147-A177-3AD203B41FA5}">
                      <a16:colId xmlns:a16="http://schemas.microsoft.com/office/drawing/2014/main" val="4275863650"/>
                    </a:ext>
                  </a:extLst>
                </a:gridCol>
                <a:gridCol w="1219200">
                  <a:extLst>
                    <a:ext uri="{9D8B030D-6E8A-4147-A177-3AD203B41FA5}">
                      <a16:colId xmlns:a16="http://schemas.microsoft.com/office/drawing/2014/main" val="4064881579"/>
                    </a:ext>
                  </a:extLst>
                </a:gridCol>
                <a:gridCol w="1143000">
                  <a:extLst>
                    <a:ext uri="{9D8B030D-6E8A-4147-A177-3AD203B41FA5}">
                      <a16:colId xmlns:a16="http://schemas.microsoft.com/office/drawing/2014/main" val="798299461"/>
                    </a:ext>
                  </a:extLst>
                </a:gridCol>
                <a:gridCol w="1143000">
                  <a:extLst>
                    <a:ext uri="{9D8B030D-6E8A-4147-A177-3AD203B41FA5}">
                      <a16:colId xmlns:a16="http://schemas.microsoft.com/office/drawing/2014/main" val="4110054003"/>
                    </a:ext>
                  </a:extLst>
                </a:gridCol>
                <a:gridCol w="1143000">
                  <a:extLst>
                    <a:ext uri="{9D8B030D-6E8A-4147-A177-3AD203B41FA5}">
                      <a16:colId xmlns:a16="http://schemas.microsoft.com/office/drawing/2014/main" val="1501263791"/>
                    </a:ext>
                  </a:extLst>
                </a:gridCol>
                <a:gridCol w="858057">
                  <a:extLst>
                    <a:ext uri="{9D8B030D-6E8A-4147-A177-3AD203B41FA5}">
                      <a16:colId xmlns:a16="http://schemas.microsoft.com/office/drawing/2014/main" val="2457016701"/>
                    </a:ext>
                  </a:extLst>
                </a:gridCol>
                <a:gridCol w="1324431">
                  <a:extLst>
                    <a:ext uri="{9D8B030D-6E8A-4147-A177-3AD203B41FA5}">
                      <a16:colId xmlns:a16="http://schemas.microsoft.com/office/drawing/2014/main" val="1740460034"/>
                    </a:ext>
                  </a:extLst>
                </a:gridCol>
              </a:tblGrid>
              <a:tr h="1249483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2200" b="1" dirty="0">
                          <a:effectLst/>
                          <a:latin typeface="Open Sans" panose="020F0502020204030204" pitchFamily="34" charset="0"/>
                          <a:ea typeface="Open Sans" panose="020F0502020204030204" pitchFamily="34" charset="0"/>
                          <a:cs typeface="Open Sans" panose="020F0502020204030204" pitchFamily="34" charset="0"/>
                        </a:rPr>
                        <a:t>Date</a:t>
                      </a:r>
                    </a:p>
                  </a:txBody>
                  <a:tcPr marL="71841" marR="71841" marT="35920" marB="35920" anchor="ctr">
                    <a:lnL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8B3E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2200" b="1" dirty="0" err="1">
                          <a:effectLst/>
                          <a:latin typeface="Open Sans" panose="020F0502020204030204" pitchFamily="34" charset="0"/>
                          <a:ea typeface="Open Sans" panose="020F0502020204030204" pitchFamily="34" charset="0"/>
                          <a:cs typeface="Open Sans" panose="020F0502020204030204" pitchFamily="34" charset="0"/>
                        </a:rPr>
                        <a:t>AveragePrice</a:t>
                      </a:r>
                      <a:endParaRPr lang="en-US" sz="2200" b="1" dirty="0">
                        <a:effectLst/>
                        <a:latin typeface="Open Sans" panose="020F0502020204030204" pitchFamily="34" charset="0"/>
                        <a:ea typeface="Open Sans" panose="020F0502020204030204" pitchFamily="34" charset="0"/>
                        <a:cs typeface="Open Sans" panose="020F0502020204030204" pitchFamily="34" charset="0"/>
                      </a:endParaRPr>
                    </a:p>
                  </a:txBody>
                  <a:tcPr marL="71841" marR="71841" marT="35920" marB="35920" anchor="ctr">
                    <a:lnL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8B3E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2200" b="0" dirty="0">
                          <a:effectLst/>
                          <a:latin typeface="Open Sans" panose="020F0502020204030204" pitchFamily="34" charset="0"/>
                          <a:ea typeface="Open Sans" panose="020F0502020204030204" pitchFamily="34" charset="0"/>
                          <a:cs typeface="Open Sans" panose="020F0502020204030204" pitchFamily="34" charset="0"/>
                        </a:rPr>
                        <a:t>Total Volume</a:t>
                      </a:r>
                    </a:p>
                  </a:txBody>
                  <a:tcPr marL="71841" marR="71841" marT="35920" marB="35920" anchor="ctr">
                    <a:lnL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8B3E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2200" b="0" dirty="0">
                          <a:effectLst/>
                          <a:latin typeface="Open Sans" panose="020F0502020204030204" pitchFamily="34" charset="0"/>
                          <a:ea typeface="Open Sans" panose="020F0502020204030204" pitchFamily="34" charset="0"/>
                          <a:cs typeface="Open Sans" panose="020F0502020204030204" pitchFamily="34" charset="0"/>
                        </a:rPr>
                        <a:t>4046</a:t>
                      </a:r>
                    </a:p>
                  </a:txBody>
                  <a:tcPr marL="71841" marR="71841" marT="35920" marB="35920" anchor="ctr">
                    <a:lnL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8B3E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2200" b="0" dirty="0">
                          <a:effectLst/>
                          <a:latin typeface="Open Sans" panose="020F0502020204030204" pitchFamily="34" charset="0"/>
                          <a:ea typeface="Open Sans" panose="020F0502020204030204" pitchFamily="34" charset="0"/>
                          <a:cs typeface="Open Sans" panose="020F0502020204030204" pitchFamily="34" charset="0"/>
                        </a:rPr>
                        <a:t>4225</a:t>
                      </a:r>
                    </a:p>
                  </a:txBody>
                  <a:tcPr marL="71841" marR="71841" marT="35920" marB="35920" anchor="ctr">
                    <a:lnL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8B3E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2200" b="0" dirty="0">
                          <a:effectLst/>
                          <a:latin typeface="Open Sans" panose="020F0502020204030204" pitchFamily="34" charset="0"/>
                          <a:ea typeface="Open Sans" panose="020F0502020204030204" pitchFamily="34" charset="0"/>
                          <a:cs typeface="Open Sans" panose="020F0502020204030204" pitchFamily="34" charset="0"/>
                        </a:rPr>
                        <a:t>4770</a:t>
                      </a:r>
                    </a:p>
                  </a:txBody>
                  <a:tcPr marL="71841" marR="71841" marT="35920" marB="35920" anchor="ctr">
                    <a:lnL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8B3E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2200" b="0" dirty="0">
                          <a:effectLst/>
                          <a:latin typeface="Open Sans" panose="020F0502020204030204" pitchFamily="34" charset="0"/>
                          <a:ea typeface="Open Sans" panose="020F0502020204030204" pitchFamily="34" charset="0"/>
                          <a:cs typeface="Open Sans" panose="020F0502020204030204" pitchFamily="34" charset="0"/>
                        </a:rPr>
                        <a:t>Total Bags</a:t>
                      </a:r>
                    </a:p>
                  </a:txBody>
                  <a:tcPr marL="71841" marR="71841" marT="35920" marB="35920" anchor="ctr">
                    <a:lnL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8B3E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2200" b="0" dirty="0">
                          <a:effectLst/>
                          <a:latin typeface="Open Sans" panose="020F0502020204030204" pitchFamily="34" charset="0"/>
                          <a:ea typeface="Open Sans" panose="020F0502020204030204" pitchFamily="34" charset="0"/>
                          <a:cs typeface="Open Sans" panose="020F0502020204030204" pitchFamily="34" charset="0"/>
                        </a:rPr>
                        <a:t>Small Bags</a:t>
                      </a:r>
                    </a:p>
                  </a:txBody>
                  <a:tcPr marL="71841" marR="71841" marT="35920" marB="35920" anchor="ctr">
                    <a:lnL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8B3E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2200" b="0" dirty="0">
                          <a:effectLst/>
                          <a:latin typeface="Open Sans" panose="020F0502020204030204" pitchFamily="34" charset="0"/>
                          <a:ea typeface="Open Sans" panose="020F0502020204030204" pitchFamily="34" charset="0"/>
                          <a:cs typeface="Open Sans" panose="020F0502020204030204" pitchFamily="34" charset="0"/>
                        </a:rPr>
                        <a:t>Large Bags</a:t>
                      </a:r>
                    </a:p>
                  </a:txBody>
                  <a:tcPr marL="71841" marR="71841" marT="35920" marB="35920" anchor="ctr">
                    <a:lnL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8B3E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2200" b="0" dirty="0" err="1">
                          <a:effectLst/>
                          <a:latin typeface="Open Sans" panose="020F0502020204030204" pitchFamily="34" charset="0"/>
                          <a:ea typeface="Open Sans" panose="020F0502020204030204" pitchFamily="34" charset="0"/>
                          <a:cs typeface="Open Sans" panose="020F0502020204030204" pitchFamily="34" charset="0"/>
                        </a:rPr>
                        <a:t>XLarge</a:t>
                      </a:r>
                      <a:r>
                        <a:rPr lang="en-US" sz="2200" b="0" dirty="0">
                          <a:effectLst/>
                          <a:latin typeface="Open Sans" panose="020F0502020204030204" pitchFamily="34" charset="0"/>
                          <a:ea typeface="Open Sans" panose="020F0502020204030204" pitchFamily="34" charset="0"/>
                          <a:cs typeface="Open Sans" panose="020F0502020204030204" pitchFamily="34" charset="0"/>
                        </a:rPr>
                        <a:t> Bags</a:t>
                      </a:r>
                    </a:p>
                  </a:txBody>
                  <a:tcPr marL="71841" marR="71841" marT="35920" marB="35920" anchor="ctr">
                    <a:lnL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8B3E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2200" b="0" dirty="0">
                          <a:effectLst/>
                          <a:latin typeface="Open Sans" panose="020F0502020204030204" pitchFamily="34" charset="0"/>
                          <a:ea typeface="Open Sans" panose="020F0502020204030204" pitchFamily="34" charset="0"/>
                          <a:cs typeface="Open Sans" panose="020F0502020204030204" pitchFamily="34" charset="0"/>
                        </a:rPr>
                        <a:t>type</a:t>
                      </a:r>
                    </a:p>
                  </a:txBody>
                  <a:tcPr marL="71841" marR="71841" marT="35920" marB="35920" anchor="ctr">
                    <a:lnL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8B3E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2200" b="0" dirty="0">
                          <a:effectLst/>
                          <a:latin typeface="Open Sans" panose="020F0502020204030204" pitchFamily="34" charset="0"/>
                          <a:ea typeface="Open Sans" panose="020F0502020204030204" pitchFamily="34" charset="0"/>
                          <a:cs typeface="Open Sans" panose="020F0502020204030204" pitchFamily="34" charset="0"/>
                        </a:rPr>
                        <a:t>year</a:t>
                      </a:r>
                    </a:p>
                  </a:txBody>
                  <a:tcPr marL="71841" marR="71841" marT="35920" marB="35920" anchor="ctr">
                    <a:lnL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8B3E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2200" b="0" dirty="0">
                          <a:effectLst/>
                          <a:latin typeface="Open Sans" panose="020F0502020204030204" pitchFamily="34" charset="0"/>
                          <a:ea typeface="Open Sans" panose="020F0502020204030204" pitchFamily="34" charset="0"/>
                          <a:cs typeface="Open Sans" panose="020F0502020204030204" pitchFamily="34" charset="0"/>
                        </a:rPr>
                        <a:t>region</a:t>
                      </a:r>
                    </a:p>
                  </a:txBody>
                  <a:tcPr marL="71841" marR="71841" marT="35920" marB="35920" anchor="ctr">
                    <a:lnL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8B3E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38636252"/>
                  </a:ext>
                </a:extLst>
              </a:tr>
              <a:tr h="961141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200" b="1">
                          <a:effectLst/>
                          <a:latin typeface="Open Sans" panose="020F0502020204030204" pitchFamily="34" charset="0"/>
                          <a:ea typeface="Open Sans" panose="020F0502020204030204" pitchFamily="34" charset="0"/>
                          <a:cs typeface="Open Sans" panose="020F0502020204030204" pitchFamily="34" charset="0"/>
                        </a:rPr>
                        <a:t>27/12/2015</a:t>
                      </a:r>
                    </a:p>
                  </a:txBody>
                  <a:tcPr marL="71841" marR="71841" marT="35920" marB="35920" anchor="ctr">
                    <a:lnL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200" b="1" dirty="0">
                          <a:effectLst/>
                          <a:latin typeface="Open Sans" panose="020F0502020204030204" pitchFamily="34" charset="0"/>
                          <a:ea typeface="Open Sans" panose="020F0502020204030204" pitchFamily="34" charset="0"/>
                          <a:cs typeface="Open Sans" panose="020F0502020204030204" pitchFamily="34" charset="0"/>
                        </a:rPr>
                        <a:t>1.33</a:t>
                      </a:r>
                    </a:p>
                  </a:txBody>
                  <a:tcPr marL="71841" marR="71841" marT="35920" marB="35920" anchor="ctr">
                    <a:lnL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200" b="0">
                          <a:effectLst/>
                          <a:latin typeface="Open Sans" panose="020F0502020204030204" pitchFamily="34" charset="0"/>
                          <a:ea typeface="Open Sans" panose="020F0502020204030204" pitchFamily="34" charset="0"/>
                          <a:cs typeface="Open Sans" panose="020F0502020204030204" pitchFamily="34" charset="0"/>
                        </a:rPr>
                        <a:t>64236.62</a:t>
                      </a:r>
                    </a:p>
                  </a:txBody>
                  <a:tcPr marL="71841" marR="71841" marT="35920" marB="35920" anchor="ctr">
                    <a:lnL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200" b="0" dirty="0">
                          <a:effectLst/>
                          <a:latin typeface="Open Sans" panose="020F0502020204030204" pitchFamily="34" charset="0"/>
                          <a:ea typeface="Open Sans" panose="020F0502020204030204" pitchFamily="34" charset="0"/>
                          <a:cs typeface="Open Sans" panose="020F0502020204030204" pitchFamily="34" charset="0"/>
                        </a:rPr>
                        <a:t>1036.74</a:t>
                      </a:r>
                    </a:p>
                  </a:txBody>
                  <a:tcPr marL="71841" marR="71841" marT="35920" marB="35920" anchor="ctr">
                    <a:lnL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200" b="0" dirty="0">
                          <a:effectLst/>
                          <a:latin typeface="Open Sans" panose="020F0502020204030204" pitchFamily="34" charset="0"/>
                          <a:ea typeface="Open Sans" panose="020F0502020204030204" pitchFamily="34" charset="0"/>
                          <a:cs typeface="Open Sans" panose="020F0502020204030204" pitchFamily="34" charset="0"/>
                        </a:rPr>
                        <a:t>54454.85</a:t>
                      </a:r>
                    </a:p>
                  </a:txBody>
                  <a:tcPr marL="71841" marR="71841" marT="35920" marB="35920" anchor="ctr">
                    <a:lnL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200" b="0">
                          <a:effectLst/>
                          <a:latin typeface="Open Sans" panose="020F0502020204030204" pitchFamily="34" charset="0"/>
                          <a:ea typeface="Open Sans" panose="020F0502020204030204" pitchFamily="34" charset="0"/>
                          <a:cs typeface="Open Sans" panose="020F0502020204030204" pitchFamily="34" charset="0"/>
                        </a:rPr>
                        <a:t>48.16</a:t>
                      </a:r>
                    </a:p>
                  </a:txBody>
                  <a:tcPr marL="71841" marR="71841" marT="35920" marB="35920" anchor="ctr">
                    <a:lnL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200" b="0">
                          <a:effectLst/>
                          <a:latin typeface="Open Sans" panose="020F0502020204030204" pitchFamily="34" charset="0"/>
                          <a:ea typeface="Open Sans" panose="020F0502020204030204" pitchFamily="34" charset="0"/>
                          <a:cs typeface="Open Sans" panose="020F0502020204030204" pitchFamily="34" charset="0"/>
                        </a:rPr>
                        <a:t>8696.87</a:t>
                      </a:r>
                    </a:p>
                  </a:txBody>
                  <a:tcPr marL="71841" marR="71841" marT="35920" marB="35920" anchor="ctr">
                    <a:lnL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200" b="0" dirty="0">
                          <a:effectLst/>
                          <a:latin typeface="Open Sans" panose="020F0502020204030204" pitchFamily="34" charset="0"/>
                          <a:ea typeface="Open Sans" panose="020F0502020204030204" pitchFamily="34" charset="0"/>
                          <a:cs typeface="Open Sans" panose="020F0502020204030204" pitchFamily="34" charset="0"/>
                        </a:rPr>
                        <a:t>8603.62</a:t>
                      </a:r>
                    </a:p>
                  </a:txBody>
                  <a:tcPr marL="71841" marR="71841" marT="35920" marB="35920" anchor="ctr">
                    <a:lnL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200" b="0">
                          <a:effectLst/>
                          <a:latin typeface="Open Sans" panose="020F0502020204030204" pitchFamily="34" charset="0"/>
                          <a:ea typeface="Open Sans" panose="020F0502020204030204" pitchFamily="34" charset="0"/>
                          <a:cs typeface="Open Sans" panose="020F0502020204030204" pitchFamily="34" charset="0"/>
                        </a:rPr>
                        <a:t>93.25</a:t>
                      </a:r>
                    </a:p>
                  </a:txBody>
                  <a:tcPr marL="71841" marR="71841" marT="35920" marB="35920" anchor="ctr">
                    <a:lnL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200" b="0">
                          <a:effectLst/>
                          <a:latin typeface="Open Sans" panose="020F0502020204030204" pitchFamily="34" charset="0"/>
                          <a:ea typeface="Open Sans" panose="020F0502020204030204" pitchFamily="34" charset="0"/>
                          <a:cs typeface="Open Sans" panose="020F0502020204030204" pitchFamily="34" charset="0"/>
                        </a:rPr>
                        <a:t>0.0</a:t>
                      </a:r>
                    </a:p>
                  </a:txBody>
                  <a:tcPr marL="71841" marR="71841" marT="35920" marB="35920" anchor="ctr">
                    <a:lnL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200" b="0" dirty="0">
                          <a:effectLst/>
                          <a:latin typeface="Open Sans" panose="020F0502020204030204" pitchFamily="34" charset="0"/>
                          <a:ea typeface="Open Sans" panose="020F0502020204030204" pitchFamily="34" charset="0"/>
                          <a:cs typeface="Open Sans" panose="020F0502020204030204" pitchFamily="34" charset="0"/>
                        </a:rPr>
                        <a:t>conventional</a:t>
                      </a:r>
                    </a:p>
                  </a:txBody>
                  <a:tcPr marL="71841" marR="71841" marT="35920" marB="35920" anchor="ctr">
                    <a:lnL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200" b="0">
                          <a:effectLst/>
                          <a:latin typeface="Open Sans" panose="020F0502020204030204" pitchFamily="34" charset="0"/>
                          <a:ea typeface="Open Sans" panose="020F0502020204030204" pitchFamily="34" charset="0"/>
                          <a:cs typeface="Open Sans" panose="020F0502020204030204" pitchFamily="34" charset="0"/>
                        </a:rPr>
                        <a:t>2015</a:t>
                      </a:r>
                    </a:p>
                  </a:txBody>
                  <a:tcPr marL="71841" marR="71841" marT="35920" marB="35920" anchor="ctr">
                    <a:lnL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200" b="0">
                          <a:effectLst/>
                          <a:latin typeface="Open Sans" panose="020F0502020204030204" pitchFamily="34" charset="0"/>
                          <a:ea typeface="Open Sans" panose="020F0502020204030204" pitchFamily="34" charset="0"/>
                          <a:cs typeface="Open Sans" panose="020F0502020204030204" pitchFamily="34" charset="0"/>
                        </a:rPr>
                        <a:t>Albany</a:t>
                      </a:r>
                    </a:p>
                  </a:txBody>
                  <a:tcPr marL="71841" marR="71841" marT="35920" marB="35920" anchor="ctr">
                    <a:lnL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94248673"/>
                  </a:ext>
                </a:extLst>
              </a:tr>
              <a:tr h="961141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200" b="1">
                          <a:effectLst/>
                          <a:latin typeface="Open Sans" panose="020F0502020204030204" pitchFamily="34" charset="0"/>
                          <a:ea typeface="Open Sans" panose="020F0502020204030204" pitchFamily="34" charset="0"/>
                          <a:cs typeface="Open Sans" panose="020F0502020204030204" pitchFamily="34" charset="0"/>
                        </a:rPr>
                        <a:t>20/12/2015</a:t>
                      </a:r>
                    </a:p>
                  </a:txBody>
                  <a:tcPr marL="71841" marR="71841" marT="35920" marB="35920" anchor="ctr">
                    <a:lnL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200" b="1">
                          <a:effectLst/>
                          <a:latin typeface="Open Sans" panose="020F0502020204030204" pitchFamily="34" charset="0"/>
                          <a:ea typeface="Open Sans" panose="020F0502020204030204" pitchFamily="34" charset="0"/>
                          <a:cs typeface="Open Sans" panose="020F0502020204030204" pitchFamily="34" charset="0"/>
                        </a:rPr>
                        <a:t>1.35</a:t>
                      </a:r>
                    </a:p>
                  </a:txBody>
                  <a:tcPr marL="71841" marR="71841" marT="35920" marB="35920" anchor="ctr">
                    <a:lnL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200" b="0" dirty="0">
                          <a:effectLst/>
                          <a:latin typeface="Open Sans" panose="020F0502020204030204" pitchFamily="34" charset="0"/>
                          <a:ea typeface="Open Sans" panose="020F0502020204030204" pitchFamily="34" charset="0"/>
                          <a:cs typeface="Open Sans" panose="020F0502020204030204" pitchFamily="34" charset="0"/>
                        </a:rPr>
                        <a:t>54876.98</a:t>
                      </a:r>
                    </a:p>
                  </a:txBody>
                  <a:tcPr marL="71841" marR="71841" marT="35920" marB="35920" anchor="ctr">
                    <a:lnL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200" b="0" dirty="0">
                          <a:effectLst/>
                          <a:latin typeface="Open Sans" panose="020F0502020204030204" pitchFamily="34" charset="0"/>
                          <a:ea typeface="Open Sans" panose="020F0502020204030204" pitchFamily="34" charset="0"/>
                          <a:cs typeface="Open Sans" panose="020F0502020204030204" pitchFamily="34" charset="0"/>
                        </a:rPr>
                        <a:t>674.28</a:t>
                      </a:r>
                    </a:p>
                  </a:txBody>
                  <a:tcPr marL="71841" marR="71841" marT="35920" marB="35920" anchor="ctr">
                    <a:lnL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200" b="0" dirty="0">
                          <a:effectLst/>
                          <a:latin typeface="Open Sans" panose="020F0502020204030204" pitchFamily="34" charset="0"/>
                          <a:ea typeface="Open Sans" panose="020F0502020204030204" pitchFamily="34" charset="0"/>
                          <a:cs typeface="Open Sans" panose="020F0502020204030204" pitchFamily="34" charset="0"/>
                        </a:rPr>
                        <a:t>44638.81</a:t>
                      </a:r>
                    </a:p>
                  </a:txBody>
                  <a:tcPr marL="71841" marR="71841" marT="35920" marB="35920" anchor="ctr">
                    <a:lnL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200" b="0" dirty="0">
                          <a:effectLst/>
                          <a:latin typeface="Open Sans" panose="020F0502020204030204" pitchFamily="34" charset="0"/>
                          <a:ea typeface="Open Sans" panose="020F0502020204030204" pitchFamily="34" charset="0"/>
                          <a:cs typeface="Open Sans" panose="020F0502020204030204" pitchFamily="34" charset="0"/>
                        </a:rPr>
                        <a:t>58.33</a:t>
                      </a:r>
                    </a:p>
                  </a:txBody>
                  <a:tcPr marL="71841" marR="71841" marT="35920" marB="35920" anchor="ctr">
                    <a:lnL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200" b="0" dirty="0">
                          <a:effectLst/>
                          <a:latin typeface="Open Sans" panose="020F0502020204030204" pitchFamily="34" charset="0"/>
                          <a:ea typeface="Open Sans" panose="020F0502020204030204" pitchFamily="34" charset="0"/>
                          <a:cs typeface="Open Sans" panose="020F0502020204030204" pitchFamily="34" charset="0"/>
                        </a:rPr>
                        <a:t>9505.56</a:t>
                      </a:r>
                    </a:p>
                  </a:txBody>
                  <a:tcPr marL="71841" marR="71841" marT="35920" marB="35920" anchor="ctr">
                    <a:lnL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200" b="0" dirty="0">
                          <a:effectLst/>
                          <a:latin typeface="Open Sans" panose="020F0502020204030204" pitchFamily="34" charset="0"/>
                          <a:ea typeface="Open Sans" panose="020F0502020204030204" pitchFamily="34" charset="0"/>
                          <a:cs typeface="Open Sans" panose="020F0502020204030204" pitchFamily="34" charset="0"/>
                        </a:rPr>
                        <a:t>9408.07</a:t>
                      </a:r>
                    </a:p>
                  </a:txBody>
                  <a:tcPr marL="71841" marR="71841" marT="35920" marB="35920" anchor="ctr">
                    <a:lnL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200" b="0">
                          <a:effectLst/>
                          <a:latin typeface="Open Sans" panose="020F0502020204030204" pitchFamily="34" charset="0"/>
                          <a:ea typeface="Open Sans" panose="020F0502020204030204" pitchFamily="34" charset="0"/>
                          <a:cs typeface="Open Sans" panose="020F0502020204030204" pitchFamily="34" charset="0"/>
                        </a:rPr>
                        <a:t>97.49</a:t>
                      </a:r>
                    </a:p>
                  </a:txBody>
                  <a:tcPr marL="71841" marR="71841" marT="35920" marB="35920" anchor="ctr">
                    <a:lnL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200" b="0">
                          <a:effectLst/>
                          <a:latin typeface="Open Sans" panose="020F0502020204030204" pitchFamily="34" charset="0"/>
                          <a:ea typeface="Open Sans" panose="020F0502020204030204" pitchFamily="34" charset="0"/>
                          <a:cs typeface="Open Sans" panose="020F0502020204030204" pitchFamily="34" charset="0"/>
                        </a:rPr>
                        <a:t>0.0</a:t>
                      </a:r>
                    </a:p>
                  </a:txBody>
                  <a:tcPr marL="71841" marR="71841" marT="35920" marB="35920" anchor="ctr">
                    <a:lnL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200" b="0">
                          <a:effectLst/>
                          <a:latin typeface="Open Sans" panose="020F0502020204030204" pitchFamily="34" charset="0"/>
                          <a:ea typeface="Open Sans" panose="020F0502020204030204" pitchFamily="34" charset="0"/>
                          <a:cs typeface="Open Sans" panose="020F0502020204030204" pitchFamily="34" charset="0"/>
                        </a:rPr>
                        <a:t>conventional</a:t>
                      </a:r>
                    </a:p>
                  </a:txBody>
                  <a:tcPr marL="71841" marR="71841" marT="35920" marB="35920" anchor="ctr">
                    <a:lnL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200" b="0">
                          <a:effectLst/>
                          <a:latin typeface="Open Sans" panose="020F0502020204030204" pitchFamily="34" charset="0"/>
                          <a:ea typeface="Open Sans" panose="020F0502020204030204" pitchFamily="34" charset="0"/>
                          <a:cs typeface="Open Sans" panose="020F0502020204030204" pitchFamily="34" charset="0"/>
                        </a:rPr>
                        <a:t>2015</a:t>
                      </a:r>
                    </a:p>
                  </a:txBody>
                  <a:tcPr marL="71841" marR="71841" marT="35920" marB="35920" anchor="ctr">
                    <a:lnL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200" b="0">
                          <a:effectLst/>
                          <a:latin typeface="Open Sans" panose="020F0502020204030204" pitchFamily="34" charset="0"/>
                          <a:ea typeface="Open Sans" panose="020F0502020204030204" pitchFamily="34" charset="0"/>
                          <a:cs typeface="Open Sans" panose="020F0502020204030204" pitchFamily="34" charset="0"/>
                        </a:rPr>
                        <a:t>Albany</a:t>
                      </a:r>
                    </a:p>
                  </a:txBody>
                  <a:tcPr marL="71841" marR="71841" marT="35920" marB="35920" anchor="ctr">
                    <a:lnL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93100063"/>
                  </a:ext>
                </a:extLst>
              </a:tr>
              <a:tr h="961141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200" b="1">
                          <a:effectLst/>
                          <a:latin typeface="Open Sans" panose="020F0502020204030204" pitchFamily="34" charset="0"/>
                          <a:ea typeface="Open Sans" panose="020F0502020204030204" pitchFamily="34" charset="0"/>
                          <a:cs typeface="Open Sans" panose="020F0502020204030204" pitchFamily="34" charset="0"/>
                        </a:rPr>
                        <a:t>13/12/2015</a:t>
                      </a:r>
                    </a:p>
                  </a:txBody>
                  <a:tcPr marL="71841" marR="71841" marT="35920" marB="35920" anchor="ctr">
                    <a:lnL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200" b="1">
                          <a:effectLst/>
                          <a:latin typeface="Open Sans" panose="020F0502020204030204" pitchFamily="34" charset="0"/>
                          <a:ea typeface="Open Sans" panose="020F0502020204030204" pitchFamily="34" charset="0"/>
                          <a:cs typeface="Open Sans" panose="020F0502020204030204" pitchFamily="34" charset="0"/>
                        </a:rPr>
                        <a:t>0.93</a:t>
                      </a:r>
                    </a:p>
                  </a:txBody>
                  <a:tcPr marL="71841" marR="71841" marT="35920" marB="35920" anchor="ctr">
                    <a:lnL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200" b="0">
                          <a:effectLst/>
                          <a:latin typeface="Open Sans" panose="020F0502020204030204" pitchFamily="34" charset="0"/>
                          <a:ea typeface="Open Sans" panose="020F0502020204030204" pitchFamily="34" charset="0"/>
                          <a:cs typeface="Open Sans" panose="020F0502020204030204" pitchFamily="34" charset="0"/>
                        </a:rPr>
                        <a:t>118220.22</a:t>
                      </a:r>
                    </a:p>
                  </a:txBody>
                  <a:tcPr marL="71841" marR="71841" marT="35920" marB="35920" anchor="ctr">
                    <a:lnL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200" b="0">
                          <a:effectLst/>
                          <a:latin typeface="Open Sans" panose="020F0502020204030204" pitchFamily="34" charset="0"/>
                          <a:ea typeface="Open Sans" panose="020F0502020204030204" pitchFamily="34" charset="0"/>
                          <a:cs typeface="Open Sans" panose="020F0502020204030204" pitchFamily="34" charset="0"/>
                        </a:rPr>
                        <a:t>794.70</a:t>
                      </a:r>
                    </a:p>
                  </a:txBody>
                  <a:tcPr marL="71841" marR="71841" marT="35920" marB="35920" anchor="ctr">
                    <a:lnL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200" b="0">
                          <a:effectLst/>
                          <a:latin typeface="Open Sans" panose="020F0502020204030204" pitchFamily="34" charset="0"/>
                          <a:ea typeface="Open Sans" panose="020F0502020204030204" pitchFamily="34" charset="0"/>
                          <a:cs typeface="Open Sans" panose="020F0502020204030204" pitchFamily="34" charset="0"/>
                        </a:rPr>
                        <a:t>109149.67</a:t>
                      </a:r>
                    </a:p>
                  </a:txBody>
                  <a:tcPr marL="71841" marR="71841" marT="35920" marB="35920" anchor="ctr">
                    <a:lnL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200" b="0" dirty="0">
                          <a:effectLst/>
                          <a:latin typeface="Open Sans" panose="020F0502020204030204" pitchFamily="34" charset="0"/>
                          <a:ea typeface="Open Sans" panose="020F0502020204030204" pitchFamily="34" charset="0"/>
                          <a:cs typeface="Open Sans" panose="020F0502020204030204" pitchFamily="34" charset="0"/>
                        </a:rPr>
                        <a:t>130.50</a:t>
                      </a:r>
                    </a:p>
                  </a:txBody>
                  <a:tcPr marL="71841" marR="71841" marT="35920" marB="35920" anchor="ctr">
                    <a:lnL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200" b="0" dirty="0">
                          <a:effectLst/>
                          <a:latin typeface="Open Sans" panose="020F0502020204030204" pitchFamily="34" charset="0"/>
                          <a:ea typeface="Open Sans" panose="020F0502020204030204" pitchFamily="34" charset="0"/>
                          <a:cs typeface="Open Sans" panose="020F0502020204030204" pitchFamily="34" charset="0"/>
                        </a:rPr>
                        <a:t>8145.35</a:t>
                      </a:r>
                    </a:p>
                  </a:txBody>
                  <a:tcPr marL="71841" marR="71841" marT="35920" marB="35920" anchor="ctr">
                    <a:lnL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200" b="0" dirty="0">
                          <a:effectLst/>
                          <a:latin typeface="Open Sans" panose="020F0502020204030204" pitchFamily="34" charset="0"/>
                          <a:ea typeface="Open Sans" panose="020F0502020204030204" pitchFamily="34" charset="0"/>
                          <a:cs typeface="Open Sans" panose="020F0502020204030204" pitchFamily="34" charset="0"/>
                        </a:rPr>
                        <a:t>8042.21</a:t>
                      </a:r>
                    </a:p>
                  </a:txBody>
                  <a:tcPr marL="71841" marR="71841" marT="35920" marB="35920" anchor="ctr">
                    <a:lnL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200" b="0" dirty="0">
                          <a:effectLst/>
                          <a:latin typeface="Open Sans" panose="020F0502020204030204" pitchFamily="34" charset="0"/>
                          <a:ea typeface="Open Sans" panose="020F0502020204030204" pitchFamily="34" charset="0"/>
                          <a:cs typeface="Open Sans" panose="020F0502020204030204" pitchFamily="34" charset="0"/>
                        </a:rPr>
                        <a:t>103.14</a:t>
                      </a:r>
                    </a:p>
                  </a:txBody>
                  <a:tcPr marL="71841" marR="71841" marT="35920" marB="35920" anchor="ctr">
                    <a:lnL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200" b="0" dirty="0">
                          <a:effectLst/>
                          <a:latin typeface="Open Sans" panose="020F0502020204030204" pitchFamily="34" charset="0"/>
                          <a:ea typeface="Open Sans" panose="020F0502020204030204" pitchFamily="34" charset="0"/>
                          <a:cs typeface="Open Sans" panose="020F0502020204030204" pitchFamily="34" charset="0"/>
                        </a:rPr>
                        <a:t>0.0</a:t>
                      </a:r>
                    </a:p>
                  </a:txBody>
                  <a:tcPr marL="71841" marR="71841" marT="35920" marB="35920" anchor="ctr">
                    <a:lnL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200" b="0" dirty="0">
                          <a:effectLst/>
                          <a:latin typeface="Open Sans" panose="020F0502020204030204" pitchFamily="34" charset="0"/>
                          <a:ea typeface="Open Sans" panose="020F0502020204030204" pitchFamily="34" charset="0"/>
                          <a:cs typeface="Open Sans" panose="020F0502020204030204" pitchFamily="34" charset="0"/>
                        </a:rPr>
                        <a:t>conventional</a:t>
                      </a:r>
                    </a:p>
                  </a:txBody>
                  <a:tcPr marL="71841" marR="71841" marT="35920" marB="35920" anchor="ctr">
                    <a:lnL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200" b="0">
                          <a:effectLst/>
                          <a:latin typeface="Open Sans" panose="020F0502020204030204" pitchFamily="34" charset="0"/>
                          <a:ea typeface="Open Sans" panose="020F0502020204030204" pitchFamily="34" charset="0"/>
                          <a:cs typeface="Open Sans" panose="020F0502020204030204" pitchFamily="34" charset="0"/>
                        </a:rPr>
                        <a:t>2015</a:t>
                      </a:r>
                    </a:p>
                  </a:txBody>
                  <a:tcPr marL="71841" marR="71841" marT="35920" marB="35920" anchor="ctr">
                    <a:lnL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200" b="0">
                          <a:effectLst/>
                          <a:latin typeface="Open Sans" panose="020F0502020204030204" pitchFamily="34" charset="0"/>
                          <a:ea typeface="Open Sans" panose="020F0502020204030204" pitchFamily="34" charset="0"/>
                          <a:cs typeface="Open Sans" panose="020F0502020204030204" pitchFamily="34" charset="0"/>
                        </a:rPr>
                        <a:t>Albany</a:t>
                      </a:r>
                    </a:p>
                  </a:txBody>
                  <a:tcPr marL="71841" marR="71841" marT="35920" marB="35920" anchor="ctr">
                    <a:lnL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50321066"/>
                  </a:ext>
                </a:extLst>
              </a:tr>
              <a:tr h="961141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200" b="1">
                          <a:effectLst/>
                          <a:latin typeface="Open Sans" panose="020F0502020204030204" pitchFamily="34" charset="0"/>
                          <a:ea typeface="Open Sans" panose="020F0502020204030204" pitchFamily="34" charset="0"/>
                          <a:cs typeface="Open Sans" panose="020F0502020204030204" pitchFamily="34" charset="0"/>
                        </a:rPr>
                        <a:t>6/12/2015</a:t>
                      </a:r>
                    </a:p>
                  </a:txBody>
                  <a:tcPr marL="71841" marR="71841" marT="35920" marB="35920" anchor="ctr">
                    <a:lnL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200" b="1">
                          <a:effectLst/>
                          <a:latin typeface="Open Sans" panose="020F0502020204030204" pitchFamily="34" charset="0"/>
                          <a:ea typeface="Open Sans" panose="020F0502020204030204" pitchFamily="34" charset="0"/>
                          <a:cs typeface="Open Sans" panose="020F0502020204030204" pitchFamily="34" charset="0"/>
                        </a:rPr>
                        <a:t>1.08</a:t>
                      </a:r>
                    </a:p>
                  </a:txBody>
                  <a:tcPr marL="71841" marR="71841" marT="35920" marB="35920" anchor="ctr">
                    <a:lnL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200" b="0">
                          <a:effectLst/>
                          <a:latin typeface="Open Sans" panose="020F0502020204030204" pitchFamily="34" charset="0"/>
                          <a:ea typeface="Open Sans" panose="020F0502020204030204" pitchFamily="34" charset="0"/>
                          <a:cs typeface="Open Sans" panose="020F0502020204030204" pitchFamily="34" charset="0"/>
                        </a:rPr>
                        <a:t>78992.15</a:t>
                      </a:r>
                    </a:p>
                  </a:txBody>
                  <a:tcPr marL="71841" marR="71841" marT="35920" marB="35920" anchor="ctr">
                    <a:lnL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200" b="0">
                          <a:effectLst/>
                          <a:latin typeface="Open Sans" panose="020F0502020204030204" pitchFamily="34" charset="0"/>
                          <a:ea typeface="Open Sans" panose="020F0502020204030204" pitchFamily="34" charset="0"/>
                          <a:cs typeface="Open Sans" panose="020F0502020204030204" pitchFamily="34" charset="0"/>
                        </a:rPr>
                        <a:t>1132.00</a:t>
                      </a:r>
                    </a:p>
                  </a:txBody>
                  <a:tcPr marL="71841" marR="71841" marT="35920" marB="35920" anchor="ctr">
                    <a:lnL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200" b="0">
                          <a:effectLst/>
                          <a:latin typeface="Open Sans" panose="020F0502020204030204" pitchFamily="34" charset="0"/>
                          <a:ea typeface="Open Sans" panose="020F0502020204030204" pitchFamily="34" charset="0"/>
                          <a:cs typeface="Open Sans" panose="020F0502020204030204" pitchFamily="34" charset="0"/>
                        </a:rPr>
                        <a:t>71976.41</a:t>
                      </a:r>
                    </a:p>
                  </a:txBody>
                  <a:tcPr marL="71841" marR="71841" marT="35920" marB="35920" anchor="ctr">
                    <a:lnL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200" b="0">
                          <a:effectLst/>
                          <a:latin typeface="Open Sans" panose="020F0502020204030204" pitchFamily="34" charset="0"/>
                          <a:ea typeface="Open Sans" panose="020F0502020204030204" pitchFamily="34" charset="0"/>
                          <a:cs typeface="Open Sans" panose="020F0502020204030204" pitchFamily="34" charset="0"/>
                        </a:rPr>
                        <a:t>72.58</a:t>
                      </a:r>
                    </a:p>
                  </a:txBody>
                  <a:tcPr marL="71841" marR="71841" marT="35920" marB="35920" anchor="ctr">
                    <a:lnL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200" b="0">
                          <a:effectLst/>
                          <a:latin typeface="Open Sans" panose="020F0502020204030204" pitchFamily="34" charset="0"/>
                          <a:ea typeface="Open Sans" panose="020F0502020204030204" pitchFamily="34" charset="0"/>
                          <a:cs typeface="Open Sans" panose="020F0502020204030204" pitchFamily="34" charset="0"/>
                        </a:rPr>
                        <a:t>5811.16</a:t>
                      </a:r>
                    </a:p>
                  </a:txBody>
                  <a:tcPr marL="71841" marR="71841" marT="35920" marB="35920" anchor="ctr">
                    <a:lnL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200" b="0">
                          <a:effectLst/>
                          <a:latin typeface="Open Sans" panose="020F0502020204030204" pitchFamily="34" charset="0"/>
                          <a:ea typeface="Open Sans" panose="020F0502020204030204" pitchFamily="34" charset="0"/>
                          <a:cs typeface="Open Sans" panose="020F0502020204030204" pitchFamily="34" charset="0"/>
                        </a:rPr>
                        <a:t>5677.40</a:t>
                      </a:r>
                    </a:p>
                  </a:txBody>
                  <a:tcPr marL="71841" marR="71841" marT="35920" marB="35920" anchor="ctr">
                    <a:lnL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200" b="0">
                          <a:effectLst/>
                          <a:latin typeface="Open Sans" panose="020F0502020204030204" pitchFamily="34" charset="0"/>
                          <a:ea typeface="Open Sans" panose="020F0502020204030204" pitchFamily="34" charset="0"/>
                          <a:cs typeface="Open Sans" panose="020F0502020204030204" pitchFamily="34" charset="0"/>
                        </a:rPr>
                        <a:t>133.76</a:t>
                      </a:r>
                    </a:p>
                  </a:txBody>
                  <a:tcPr marL="71841" marR="71841" marT="35920" marB="35920" anchor="ctr">
                    <a:lnL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200" b="0" dirty="0">
                          <a:effectLst/>
                          <a:latin typeface="Open Sans" panose="020F0502020204030204" pitchFamily="34" charset="0"/>
                          <a:ea typeface="Open Sans" panose="020F0502020204030204" pitchFamily="34" charset="0"/>
                          <a:cs typeface="Open Sans" panose="020F0502020204030204" pitchFamily="34" charset="0"/>
                        </a:rPr>
                        <a:t>0.0</a:t>
                      </a:r>
                    </a:p>
                  </a:txBody>
                  <a:tcPr marL="71841" marR="71841" marT="35920" marB="35920" anchor="ctr">
                    <a:lnL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200" b="0" dirty="0">
                          <a:effectLst/>
                          <a:latin typeface="Open Sans" panose="020F0502020204030204" pitchFamily="34" charset="0"/>
                          <a:ea typeface="Open Sans" panose="020F0502020204030204" pitchFamily="34" charset="0"/>
                          <a:cs typeface="Open Sans" panose="020F0502020204030204" pitchFamily="34" charset="0"/>
                        </a:rPr>
                        <a:t>conventional</a:t>
                      </a:r>
                    </a:p>
                  </a:txBody>
                  <a:tcPr marL="71841" marR="71841" marT="35920" marB="35920" anchor="ctr">
                    <a:lnL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200" b="0" dirty="0">
                          <a:effectLst/>
                          <a:latin typeface="Open Sans" panose="020F0502020204030204" pitchFamily="34" charset="0"/>
                          <a:ea typeface="Open Sans" panose="020F0502020204030204" pitchFamily="34" charset="0"/>
                          <a:cs typeface="Open Sans" panose="020F0502020204030204" pitchFamily="34" charset="0"/>
                        </a:rPr>
                        <a:t>2015</a:t>
                      </a:r>
                    </a:p>
                  </a:txBody>
                  <a:tcPr marL="71841" marR="71841" marT="35920" marB="35920" anchor="ctr">
                    <a:lnL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200" b="0">
                          <a:effectLst/>
                          <a:latin typeface="Open Sans" panose="020F0502020204030204" pitchFamily="34" charset="0"/>
                          <a:ea typeface="Open Sans" panose="020F0502020204030204" pitchFamily="34" charset="0"/>
                          <a:cs typeface="Open Sans" panose="020F0502020204030204" pitchFamily="34" charset="0"/>
                        </a:rPr>
                        <a:t>Albany</a:t>
                      </a:r>
                    </a:p>
                  </a:txBody>
                  <a:tcPr marL="71841" marR="71841" marT="35920" marB="35920" anchor="ctr">
                    <a:lnL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97217656"/>
                  </a:ext>
                </a:extLst>
              </a:tr>
              <a:tr h="961141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200" b="1">
                          <a:effectLst/>
                          <a:latin typeface="Open Sans" panose="020F0502020204030204" pitchFamily="34" charset="0"/>
                          <a:ea typeface="Open Sans" panose="020F0502020204030204" pitchFamily="34" charset="0"/>
                          <a:cs typeface="Open Sans" panose="020F0502020204030204" pitchFamily="34" charset="0"/>
                        </a:rPr>
                        <a:t>29/11/2015</a:t>
                      </a:r>
                    </a:p>
                  </a:txBody>
                  <a:tcPr marL="71841" marR="71841" marT="35920" marB="35920" anchor="ctr">
                    <a:lnL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200" b="1">
                          <a:effectLst/>
                          <a:latin typeface="Open Sans" panose="020F0502020204030204" pitchFamily="34" charset="0"/>
                          <a:ea typeface="Open Sans" panose="020F0502020204030204" pitchFamily="34" charset="0"/>
                          <a:cs typeface="Open Sans" panose="020F0502020204030204" pitchFamily="34" charset="0"/>
                        </a:rPr>
                        <a:t>1.28</a:t>
                      </a:r>
                    </a:p>
                  </a:txBody>
                  <a:tcPr marL="71841" marR="71841" marT="35920" marB="35920" anchor="ctr">
                    <a:lnL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200" b="0">
                          <a:effectLst/>
                          <a:latin typeface="Open Sans" panose="020F0502020204030204" pitchFamily="34" charset="0"/>
                          <a:ea typeface="Open Sans" panose="020F0502020204030204" pitchFamily="34" charset="0"/>
                          <a:cs typeface="Open Sans" panose="020F0502020204030204" pitchFamily="34" charset="0"/>
                        </a:rPr>
                        <a:t>51039.60</a:t>
                      </a:r>
                    </a:p>
                  </a:txBody>
                  <a:tcPr marL="71841" marR="71841" marT="35920" marB="35920" anchor="ctr">
                    <a:lnL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200" b="0">
                          <a:effectLst/>
                          <a:latin typeface="Open Sans" panose="020F0502020204030204" pitchFamily="34" charset="0"/>
                          <a:ea typeface="Open Sans" panose="020F0502020204030204" pitchFamily="34" charset="0"/>
                          <a:cs typeface="Open Sans" panose="020F0502020204030204" pitchFamily="34" charset="0"/>
                        </a:rPr>
                        <a:t>941.48</a:t>
                      </a:r>
                    </a:p>
                  </a:txBody>
                  <a:tcPr marL="71841" marR="71841" marT="35920" marB="35920" anchor="ctr">
                    <a:lnL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200" b="0">
                          <a:effectLst/>
                          <a:latin typeface="Open Sans" panose="020F0502020204030204" pitchFamily="34" charset="0"/>
                          <a:ea typeface="Open Sans" panose="020F0502020204030204" pitchFamily="34" charset="0"/>
                          <a:cs typeface="Open Sans" panose="020F0502020204030204" pitchFamily="34" charset="0"/>
                        </a:rPr>
                        <a:t>43838.39</a:t>
                      </a:r>
                    </a:p>
                  </a:txBody>
                  <a:tcPr marL="71841" marR="71841" marT="35920" marB="35920" anchor="ctr">
                    <a:lnL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200" b="0">
                          <a:effectLst/>
                          <a:latin typeface="Open Sans" panose="020F0502020204030204" pitchFamily="34" charset="0"/>
                          <a:ea typeface="Open Sans" panose="020F0502020204030204" pitchFamily="34" charset="0"/>
                          <a:cs typeface="Open Sans" panose="020F0502020204030204" pitchFamily="34" charset="0"/>
                        </a:rPr>
                        <a:t>75.78</a:t>
                      </a:r>
                    </a:p>
                  </a:txBody>
                  <a:tcPr marL="71841" marR="71841" marT="35920" marB="35920" anchor="ctr">
                    <a:lnL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200" b="0">
                          <a:effectLst/>
                          <a:latin typeface="Open Sans" panose="020F0502020204030204" pitchFamily="34" charset="0"/>
                          <a:ea typeface="Open Sans" panose="020F0502020204030204" pitchFamily="34" charset="0"/>
                          <a:cs typeface="Open Sans" panose="020F0502020204030204" pitchFamily="34" charset="0"/>
                        </a:rPr>
                        <a:t>6183.95</a:t>
                      </a:r>
                    </a:p>
                  </a:txBody>
                  <a:tcPr marL="71841" marR="71841" marT="35920" marB="35920" anchor="ctr">
                    <a:lnL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200" b="0">
                          <a:effectLst/>
                          <a:latin typeface="Open Sans" panose="020F0502020204030204" pitchFamily="34" charset="0"/>
                          <a:ea typeface="Open Sans" panose="020F0502020204030204" pitchFamily="34" charset="0"/>
                          <a:cs typeface="Open Sans" panose="020F0502020204030204" pitchFamily="34" charset="0"/>
                        </a:rPr>
                        <a:t>5986.26</a:t>
                      </a:r>
                    </a:p>
                  </a:txBody>
                  <a:tcPr marL="71841" marR="71841" marT="35920" marB="35920" anchor="ctr">
                    <a:lnL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200" b="0" dirty="0">
                          <a:effectLst/>
                          <a:latin typeface="Open Sans" panose="020F0502020204030204" pitchFamily="34" charset="0"/>
                          <a:ea typeface="Open Sans" panose="020F0502020204030204" pitchFamily="34" charset="0"/>
                          <a:cs typeface="Open Sans" panose="020F0502020204030204" pitchFamily="34" charset="0"/>
                        </a:rPr>
                        <a:t>197.69</a:t>
                      </a:r>
                    </a:p>
                  </a:txBody>
                  <a:tcPr marL="71841" marR="71841" marT="35920" marB="35920" anchor="ctr">
                    <a:lnL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200" b="0">
                          <a:effectLst/>
                          <a:latin typeface="Open Sans" panose="020F0502020204030204" pitchFamily="34" charset="0"/>
                          <a:ea typeface="Open Sans" panose="020F0502020204030204" pitchFamily="34" charset="0"/>
                          <a:cs typeface="Open Sans" panose="020F0502020204030204" pitchFamily="34" charset="0"/>
                        </a:rPr>
                        <a:t>0.0</a:t>
                      </a:r>
                    </a:p>
                  </a:txBody>
                  <a:tcPr marL="71841" marR="71841" marT="35920" marB="35920" anchor="ctr">
                    <a:lnL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200" b="0">
                          <a:effectLst/>
                          <a:latin typeface="Open Sans" panose="020F0502020204030204" pitchFamily="34" charset="0"/>
                          <a:ea typeface="Open Sans" panose="020F0502020204030204" pitchFamily="34" charset="0"/>
                          <a:cs typeface="Open Sans" panose="020F0502020204030204" pitchFamily="34" charset="0"/>
                        </a:rPr>
                        <a:t>conventional</a:t>
                      </a:r>
                    </a:p>
                  </a:txBody>
                  <a:tcPr marL="71841" marR="71841" marT="35920" marB="35920" anchor="ctr">
                    <a:lnL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200" b="0" dirty="0">
                          <a:effectLst/>
                          <a:latin typeface="Open Sans" panose="020F0502020204030204" pitchFamily="34" charset="0"/>
                          <a:ea typeface="Open Sans" panose="020F0502020204030204" pitchFamily="34" charset="0"/>
                          <a:cs typeface="Open Sans" panose="020F0502020204030204" pitchFamily="34" charset="0"/>
                        </a:rPr>
                        <a:t>2015</a:t>
                      </a:r>
                    </a:p>
                  </a:txBody>
                  <a:tcPr marL="71841" marR="71841" marT="35920" marB="35920" anchor="ctr">
                    <a:lnL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200" b="0" dirty="0">
                          <a:effectLst/>
                          <a:latin typeface="Open Sans" panose="020F0502020204030204" pitchFamily="34" charset="0"/>
                          <a:ea typeface="Open Sans" panose="020F0502020204030204" pitchFamily="34" charset="0"/>
                          <a:cs typeface="Open Sans" panose="020F0502020204030204" pitchFamily="34" charset="0"/>
                        </a:rPr>
                        <a:t>Albany</a:t>
                      </a:r>
                    </a:p>
                  </a:txBody>
                  <a:tcPr marL="71841" marR="71841" marT="35920" marB="35920" anchor="ctr">
                    <a:lnL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23439794"/>
                  </a:ext>
                </a:extLst>
              </a:tr>
            </a:tbl>
          </a:graphicData>
        </a:graphic>
      </p:graphicFrame>
      <p:sp>
        <p:nvSpPr>
          <p:cNvPr id="11" name="Rectangle 2">
            <a:extLst>
              <a:ext uri="{FF2B5EF4-FFF2-40B4-BE49-F238E27FC236}">
                <a16:creationId xmlns:a16="http://schemas.microsoft.com/office/drawing/2014/main" id="{58C9259D-D652-C4B9-DC91-F072DAC6B7FA}"/>
              </a:ext>
            </a:extLst>
          </p:cNvPr>
          <p:cNvSpPr>
            <a:spLocks noChangeArrowheads="1"/>
          </p:cNvSpPr>
          <p:nvPr/>
        </p:nvSpPr>
        <p:spPr bwMode="auto">
          <a:xfrm>
            <a:off x="1762214" y="2635326"/>
            <a:ext cx="44059940" cy="4571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EF6F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 flipH="1" flipV="1">
            <a:off x="14905152" y="372708"/>
            <a:ext cx="7147278" cy="3993541"/>
          </a:xfrm>
          <a:custGeom>
            <a:avLst/>
            <a:gdLst/>
            <a:ahLst/>
            <a:cxnLst/>
            <a:rect l="l" t="t" r="r" b="b"/>
            <a:pathLst>
              <a:path w="7147278" h="3993541">
                <a:moveTo>
                  <a:pt x="7147278" y="3993541"/>
                </a:moveTo>
                <a:lnTo>
                  <a:pt x="0" y="3993541"/>
                </a:lnTo>
                <a:lnTo>
                  <a:pt x="0" y="0"/>
                </a:lnTo>
                <a:lnTo>
                  <a:pt x="7147278" y="0"/>
                </a:lnTo>
                <a:lnTo>
                  <a:pt x="7147278" y="3993541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3" name="Freeform 3"/>
          <p:cNvSpPr/>
          <p:nvPr/>
        </p:nvSpPr>
        <p:spPr>
          <a:xfrm>
            <a:off x="14404197" y="9258300"/>
            <a:ext cx="4581255" cy="4114800"/>
          </a:xfrm>
          <a:custGeom>
            <a:avLst/>
            <a:gdLst/>
            <a:ahLst/>
            <a:cxnLst/>
            <a:rect l="l" t="t" r="r" b="b"/>
            <a:pathLst>
              <a:path w="4581255" h="4114800">
                <a:moveTo>
                  <a:pt x="0" y="0"/>
                </a:moveTo>
                <a:lnTo>
                  <a:pt x="4581255" y="0"/>
                </a:lnTo>
                <a:lnTo>
                  <a:pt x="4581255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4" name="Freeform 4"/>
          <p:cNvSpPr/>
          <p:nvPr/>
        </p:nvSpPr>
        <p:spPr>
          <a:xfrm rot="-970430">
            <a:off x="6273062" y="3087431"/>
            <a:ext cx="3918461" cy="754608"/>
          </a:xfrm>
          <a:custGeom>
            <a:avLst/>
            <a:gdLst/>
            <a:ahLst/>
            <a:cxnLst/>
            <a:rect l="l" t="t" r="r" b="b"/>
            <a:pathLst>
              <a:path w="3918461" h="754608">
                <a:moveTo>
                  <a:pt x="0" y="0"/>
                </a:moveTo>
                <a:lnTo>
                  <a:pt x="3918461" y="0"/>
                </a:lnTo>
                <a:lnTo>
                  <a:pt x="3918461" y="754609"/>
                </a:lnTo>
                <a:lnTo>
                  <a:pt x="0" y="754609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graphicFrame>
        <p:nvGraphicFramePr>
          <p:cNvPr id="5" name="Table 5"/>
          <p:cNvGraphicFramePr>
            <a:graphicFrameLocks noGrp="1"/>
          </p:cNvGraphicFramePr>
          <p:nvPr/>
        </p:nvGraphicFramePr>
        <p:xfrm>
          <a:off x="9815048" y="5957662"/>
          <a:ext cx="4115494" cy="3421843"/>
        </p:xfrm>
        <a:graphic>
          <a:graphicData uri="http://schemas.openxmlformats.org/drawingml/2006/table">
            <a:tbl>
              <a:tblPr/>
              <a:tblGrid>
                <a:gridCol w="8551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06171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19860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864490">
                <a:tc>
                  <a:txBody>
                    <a:bodyPr/>
                    <a:lstStyle/>
                    <a:p>
                      <a:pPr algn="ctr">
                        <a:lnSpc>
                          <a:spcPts val="2659"/>
                        </a:lnSpc>
                        <a:defRPr/>
                      </a:pPr>
                      <a:endParaRPr lang="en-US" sz="1100"/>
                    </a:p>
                  </a:txBody>
                  <a:tcPr marL="190500" marR="190500" marT="190500" marB="190500" anchor="ctr">
                    <a:lnL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659"/>
                        </a:lnSpc>
                        <a:defRPr/>
                      </a:pPr>
                      <a:r>
                        <a:rPr lang="en-US" sz="1899" b="1">
                          <a:solidFill>
                            <a:srgbClr val="000000"/>
                          </a:solidFill>
                          <a:latin typeface="Open Sans Bold"/>
                          <a:ea typeface="Open Sans Bold"/>
                          <a:cs typeface="Open Sans Bold"/>
                          <a:sym typeface="Open Sans Bold"/>
                        </a:rPr>
                        <a:t>ds</a:t>
                      </a:r>
                      <a:endParaRPr lang="en-US" sz="1100"/>
                    </a:p>
                  </a:txBody>
                  <a:tcPr marL="190500" marR="190500" marT="190500" marB="190500" anchor="ctr">
                    <a:lnL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659"/>
                        </a:lnSpc>
                        <a:defRPr/>
                      </a:pPr>
                      <a:r>
                        <a:rPr lang="en-US" sz="1899" b="1">
                          <a:solidFill>
                            <a:srgbClr val="000000"/>
                          </a:solidFill>
                          <a:latin typeface="Open Sans Bold"/>
                          <a:ea typeface="Open Sans Bold"/>
                          <a:cs typeface="Open Sans Bold"/>
                          <a:sym typeface="Open Sans Bold"/>
                        </a:rPr>
                        <a:t>y</a:t>
                      </a:r>
                      <a:endParaRPr lang="en-US" sz="1100"/>
                    </a:p>
                  </a:txBody>
                  <a:tcPr marL="190500" marR="190500" marT="190500" marB="190500" anchor="ctr">
                    <a:lnL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828373">
                <a:tc>
                  <a:txBody>
                    <a:bodyPr/>
                    <a:lstStyle/>
                    <a:p>
                      <a:pPr algn="ctr">
                        <a:lnSpc>
                          <a:spcPts val="2659"/>
                        </a:lnSpc>
                        <a:defRPr/>
                      </a:pPr>
                      <a:r>
                        <a:rPr lang="en-US" sz="1899" b="1">
                          <a:solidFill>
                            <a:srgbClr val="000000"/>
                          </a:solidFill>
                          <a:latin typeface="Open Sans Bold"/>
                          <a:ea typeface="Open Sans Bold"/>
                          <a:cs typeface="Open Sans Bold"/>
                          <a:sym typeface="Open Sans Bold"/>
                        </a:rPr>
                        <a:t>0</a:t>
                      </a:r>
                      <a:endParaRPr lang="en-US" sz="1100"/>
                    </a:p>
                  </a:txBody>
                  <a:tcPr marL="190500" marR="190500" marT="190500" marB="190500" anchor="ctr">
                    <a:lnL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659"/>
                        </a:lnSpc>
                        <a:defRPr/>
                      </a:pPr>
                      <a:r>
                        <a:rPr lang="en-US" sz="1899">
                          <a:solidFill>
                            <a:srgbClr val="000000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2015-12-27</a:t>
                      </a:r>
                      <a:endParaRPr lang="en-US" sz="1100"/>
                    </a:p>
                  </a:txBody>
                  <a:tcPr marL="190500" marR="190500" marT="190500" marB="190500" anchor="ctr">
                    <a:lnL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659"/>
                        </a:lnSpc>
                        <a:defRPr/>
                      </a:pPr>
                      <a:r>
                        <a:rPr lang="en-US" sz="1899">
                          <a:solidFill>
                            <a:srgbClr val="000000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1.33</a:t>
                      </a:r>
                      <a:endParaRPr lang="en-US" sz="1100"/>
                    </a:p>
                  </a:txBody>
                  <a:tcPr marL="190500" marR="190500" marT="190500" marB="190500" anchor="ctr">
                    <a:lnL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864490">
                <a:tc>
                  <a:txBody>
                    <a:bodyPr/>
                    <a:lstStyle/>
                    <a:p>
                      <a:pPr algn="ctr">
                        <a:lnSpc>
                          <a:spcPts val="2659"/>
                        </a:lnSpc>
                        <a:defRPr/>
                      </a:pPr>
                      <a:r>
                        <a:rPr lang="en-US" sz="1899" b="1">
                          <a:solidFill>
                            <a:srgbClr val="000000"/>
                          </a:solidFill>
                          <a:latin typeface="Open Sans Bold"/>
                          <a:ea typeface="Open Sans Bold"/>
                          <a:cs typeface="Open Sans Bold"/>
                          <a:sym typeface="Open Sans Bold"/>
                        </a:rPr>
                        <a:t>1</a:t>
                      </a:r>
                      <a:endParaRPr lang="en-US" sz="1100"/>
                    </a:p>
                  </a:txBody>
                  <a:tcPr marL="190500" marR="190500" marT="190500" marB="190500" anchor="ctr">
                    <a:lnL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659"/>
                        </a:lnSpc>
                        <a:defRPr/>
                      </a:pPr>
                      <a:r>
                        <a:rPr lang="en-US" sz="1899">
                          <a:solidFill>
                            <a:srgbClr val="000000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2015-12-20</a:t>
                      </a:r>
                      <a:endParaRPr lang="en-US" sz="1100"/>
                    </a:p>
                  </a:txBody>
                  <a:tcPr marL="190500" marR="190500" marT="190500" marB="190500" anchor="ctr">
                    <a:lnL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659"/>
                        </a:lnSpc>
                        <a:defRPr/>
                      </a:pPr>
                      <a:r>
                        <a:rPr lang="en-US" sz="1899">
                          <a:solidFill>
                            <a:srgbClr val="000000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1.35</a:t>
                      </a:r>
                      <a:endParaRPr lang="en-US" sz="1100"/>
                    </a:p>
                  </a:txBody>
                  <a:tcPr marL="190500" marR="190500" marT="190500" marB="190500" anchor="ctr">
                    <a:lnL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864490">
                <a:tc>
                  <a:txBody>
                    <a:bodyPr/>
                    <a:lstStyle/>
                    <a:p>
                      <a:pPr algn="ctr">
                        <a:lnSpc>
                          <a:spcPts val="2659"/>
                        </a:lnSpc>
                        <a:defRPr/>
                      </a:pPr>
                      <a:r>
                        <a:rPr lang="en-US" sz="1899" b="1">
                          <a:solidFill>
                            <a:srgbClr val="000000"/>
                          </a:solidFill>
                          <a:latin typeface="Open Sans Bold"/>
                          <a:ea typeface="Open Sans Bold"/>
                          <a:cs typeface="Open Sans Bold"/>
                          <a:sym typeface="Open Sans Bold"/>
                        </a:rPr>
                        <a:t>2</a:t>
                      </a:r>
                      <a:endParaRPr lang="en-US" sz="1100"/>
                    </a:p>
                  </a:txBody>
                  <a:tcPr marL="190500" marR="190500" marT="190500" marB="190500" anchor="ctr">
                    <a:lnL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659"/>
                        </a:lnSpc>
                        <a:defRPr/>
                      </a:pPr>
                      <a:r>
                        <a:rPr lang="en-US" sz="1899">
                          <a:solidFill>
                            <a:srgbClr val="000000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2025-12-13</a:t>
                      </a:r>
                      <a:endParaRPr lang="en-US" sz="1100"/>
                    </a:p>
                  </a:txBody>
                  <a:tcPr marL="190500" marR="190500" marT="190500" marB="190500" anchor="ctr">
                    <a:lnL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659"/>
                        </a:lnSpc>
                        <a:defRPr/>
                      </a:pPr>
                      <a:r>
                        <a:rPr lang="en-US" sz="1899">
                          <a:solidFill>
                            <a:srgbClr val="000000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0.93</a:t>
                      </a:r>
                      <a:endParaRPr lang="en-US" sz="1100"/>
                    </a:p>
                  </a:txBody>
                  <a:tcPr marL="190500" marR="190500" marT="190500" marB="190500" anchor="ctr">
                    <a:lnL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6" name="TextBox 6"/>
          <p:cNvSpPr txBox="1"/>
          <p:nvPr/>
        </p:nvSpPr>
        <p:spPr>
          <a:xfrm>
            <a:off x="553539" y="382233"/>
            <a:ext cx="8996612" cy="82740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5334"/>
              </a:lnSpc>
            </a:pPr>
            <a:r>
              <a:rPr lang="en-US" sz="5499">
                <a:solidFill>
                  <a:srgbClr val="090147"/>
                </a:solidFill>
                <a:latin typeface="Bungee"/>
                <a:ea typeface="Bungee"/>
                <a:cs typeface="Bungee"/>
                <a:sym typeface="Bungee"/>
              </a:rPr>
              <a:t>RECIPE 3-1: FBPROPHET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337790" y="2038390"/>
            <a:ext cx="6398836" cy="71932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5406"/>
              </a:lnSpc>
              <a:spcBef>
                <a:spcPct val="0"/>
              </a:spcBef>
            </a:pPr>
            <a:r>
              <a:rPr lang="en-US" sz="5100">
                <a:solidFill>
                  <a:srgbClr val="4288DD"/>
                </a:solidFill>
                <a:latin typeface="Josefin Sans"/>
                <a:ea typeface="Josefin Sans"/>
                <a:cs typeface="Josefin Sans"/>
                <a:sym typeface="Josefin Sans"/>
              </a:rPr>
              <a:t>Định dạng dữ liệu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416426" y="3007381"/>
            <a:ext cx="6463741" cy="125158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5040"/>
              </a:lnSpc>
              <a:spcBef>
                <a:spcPct val="0"/>
              </a:spcBef>
            </a:pPr>
            <a:r>
              <a:rPr lang="en-US" sz="3600">
                <a:solidFill>
                  <a:srgbClr val="000000"/>
                </a:solidFill>
                <a:latin typeface="Josefin Sans"/>
                <a:ea typeface="Josefin Sans"/>
                <a:cs typeface="Josefin Sans"/>
                <a:sym typeface="Josefin Sans"/>
              </a:rPr>
              <a:t>Cột 'ds': Chứa thông tin ngày tháng (datetime).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553539" y="4383401"/>
            <a:ext cx="5694862" cy="61341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5040"/>
              </a:lnSpc>
              <a:spcBef>
                <a:spcPct val="0"/>
              </a:spcBef>
            </a:pPr>
            <a:r>
              <a:rPr lang="en-US" sz="3600">
                <a:solidFill>
                  <a:srgbClr val="000000"/>
                </a:solidFill>
                <a:latin typeface="Josefin Sans"/>
                <a:ea typeface="Josefin Sans"/>
                <a:cs typeface="Josefin Sans"/>
                <a:sym typeface="Josefin Sans"/>
              </a:rPr>
              <a:t>Cột 'y': Giá trị cần dự báo 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9815048" y="2805605"/>
            <a:ext cx="6556107" cy="125158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5040"/>
              </a:lnSpc>
              <a:spcBef>
                <a:spcPct val="0"/>
              </a:spcBef>
            </a:pPr>
            <a:r>
              <a:rPr lang="en-US" sz="3600">
                <a:solidFill>
                  <a:srgbClr val="000000"/>
                </a:solidFill>
                <a:latin typeface="Josefin Sans"/>
                <a:ea typeface="Josefin Sans"/>
                <a:cs typeface="Josefin Sans"/>
                <a:sym typeface="Josefin Sans"/>
              </a:rPr>
              <a:t>  - Chạy Prophet().fit(data) để mô hình học từ quá khứ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9972319" y="1523692"/>
            <a:ext cx="6398836" cy="71932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5406"/>
              </a:lnSpc>
              <a:spcBef>
                <a:spcPct val="0"/>
              </a:spcBef>
            </a:pPr>
            <a:r>
              <a:rPr lang="en-US" sz="5100">
                <a:solidFill>
                  <a:srgbClr val="4288DD"/>
                </a:solidFill>
                <a:latin typeface="Josefin Sans"/>
                <a:ea typeface="Josefin Sans"/>
                <a:cs typeface="Josefin Sans"/>
                <a:sym typeface="Josefin Sans"/>
              </a:rPr>
              <a:t>Huấn luyện mô hình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553539" y="5701661"/>
            <a:ext cx="6759213" cy="324610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305"/>
              </a:lnSpc>
            </a:pPr>
            <a:r>
              <a:rPr lang="en-US" sz="3075" b="1">
                <a:solidFill>
                  <a:srgbClr val="000000"/>
                </a:solidFill>
                <a:latin typeface="Courier New Bold"/>
                <a:ea typeface="Courier New Bold"/>
                <a:cs typeface="Courier New Bold"/>
                <a:sym typeface="Courier New Bold"/>
              </a:rPr>
              <a:t>train_df = pd.DataFrame()</a:t>
            </a:r>
          </a:p>
          <a:p>
            <a:pPr algn="l">
              <a:lnSpc>
                <a:spcPts val="4305"/>
              </a:lnSpc>
            </a:pPr>
            <a:r>
              <a:rPr lang="en-US" sz="3075" b="1">
                <a:solidFill>
                  <a:srgbClr val="000000"/>
                </a:solidFill>
                <a:latin typeface="Courier New Bold"/>
                <a:ea typeface="Courier New Bold"/>
                <a:cs typeface="Courier New Bold"/>
                <a:sym typeface="Courier New Bold"/>
              </a:rPr>
              <a:t>train_df['ds'] = pd.to_datetime(df["Date"])</a:t>
            </a:r>
          </a:p>
          <a:p>
            <a:pPr algn="l">
              <a:lnSpc>
                <a:spcPts val="4305"/>
              </a:lnSpc>
            </a:pPr>
            <a:r>
              <a:rPr lang="en-US" sz="3075" b="1">
                <a:solidFill>
                  <a:srgbClr val="000000"/>
                </a:solidFill>
                <a:latin typeface="Courier New Bold"/>
                <a:ea typeface="Courier New Bold"/>
                <a:cs typeface="Courier New Bold"/>
                <a:sym typeface="Courier New Bold"/>
              </a:rPr>
              <a:t>train_df['y'] = df.iloc[:,1]</a:t>
            </a:r>
          </a:p>
          <a:p>
            <a:pPr algn="l">
              <a:lnSpc>
                <a:spcPts val="4305"/>
              </a:lnSpc>
            </a:pPr>
            <a:r>
              <a:rPr lang="en-US" sz="3075" b="1">
                <a:solidFill>
                  <a:srgbClr val="000000"/>
                </a:solidFill>
                <a:latin typeface="Courier New Bold"/>
                <a:ea typeface="Courier New Bold"/>
                <a:cs typeface="Courier New Bold"/>
                <a:sym typeface="Courier New Bold"/>
              </a:rPr>
              <a:t>train_df.head()</a:t>
            </a:r>
          </a:p>
          <a:p>
            <a:pPr algn="l">
              <a:lnSpc>
                <a:spcPts val="4305"/>
              </a:lnSpc>
              <a:spcBef>
                <a:spcPct val="0"/>
              </a:spcBef>
            </a:pPr>
            <a:endParaRPr lang="en-US" sz="3075" b="1">
              <a:solidFill>
                <a:srgbClr val="000000"/>
              </a:solidFill>
              <a:latin typeface="Courier New Bold"/>
              <a:ea typeface="Courier New Bold"/>
              <a:cs typeface="Courier New Bold"/>
              <a:sym typeface="Courier New Bold"/>
            </a:endParaRPr>
          </a:p>
        </p:txBody>
      </p:sp>
      <p:sp>
        <p:nvSpPr>
          <p:cNvPr id="13" name="TextBox 13"/>
          <p:cNvSpPr txBox="1"/>
          <p:nvPr/>
        </p:nvSpPr>
        <p:spPr>
          <a:xfrm>
            <a:off x="9815048" y="4383401"/>
            <a:ext cx="7919413" cy="1074408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4305"/>
              </a:lnSpc>
            </a:pPr>
            <a:r>
              <a:rPr lang="en-US" sz="3075" b="1" dirty="0" err="1">
                <a:solidFill>
                  <a:srgbClr val="000000"/>
                </a:solidFill>
                <a:latin typeface="Courier New Bold"/>
                <a:ea typeface="Courier New Bold"/>
                <a:cs typeface="Courier New Bold"/>
                <a:sym typeface="Courier New Bold"/>
              </a:rPr>
              <a:t>basic_prophet_model</a:t>
            </a:r>
            <a:r>
              <a:rPr lang="en-US" sz="3075" b="1" dirty="0">
                <a:solidFill>
                  <a:srgbClr val="000000"/>
                </a:solidFill>
                <a:latin typeface="Courier New Bold"/>
                <a:ea typeface="Courier New Bold"/>
                <a:cs typeface="Courier New Bold"/>
                <a:sym typeface="Courier New Bold"/>
              </a:rPr>
              <a:t> = Prophet()</a:t>
            </a:r>
          </a:p>
          <a:p>
            <a:pPr algn="l">
              <a:lnSpc>
                <a:spcPts val="4305"/>
              </a:lnSpc>
              <a:spcBef>
                <a:spcPct val="0"/>
              </a:spcBef>
            </a:pPr>
            <a:r>
              <a:rPr lang="en-US" sz="3075" b="1" dirty="0" err="1">
                <a:solidFill>
                  <a:srgbClr val="000000"/>
                </a:solidFill>
                <a:latin typeface="Courier New Bold"/>
                <a:ea typeface="Courier New Bold"/>
                <a:cs typeface="Courier New Bold"/>
                <a:sym typeface="Courier New Bold"/>
              </a:rPr>
              <a:t>basic_prophet_model.fit</a:t>
            </a:r>
            <a:r>
              <a:rPr lang="en-US" sz="3075" b="1" dirty="0">
                <a:solidFill>
                  <a:srgbClr val="000000"/>
                </a:solidFill>
                <a:latin typeface="Courier New Bold"/>
                <a:ea typeface="Courier New Bold"/>
                <a:cs typeface="Courier New Bold"/>
                <a:sym typeface="Courier New Bold"/>
              </a:rPr>
              <a:t>(</a:t>
            </a:r>
            <a:r>
              <a:rPr lang="en-US" sz="3075" b="1" dirty="0" err="1">
                <a:solidFill>
                  <a:srgbClr val="000000"/>
                </a:solidFill>
                <a:latin typeface="Courier New Bold"/>
                <a:ea typeface="Courier New Bold"/>
                <a:cs typeface="Courier New Bold"/>
                <a:sym typeface="Courier New Bold"/>
              </a:rPr>
              <a:t>train_df</a:t>
            </a:r>
            <a:r>
              <a:rPr lang="en-US" sz="3075" b="1" dirty="0">
                <a:solidFill>
                  <a:srgbClr val="000000"/>
                </a:solidFill>
                <a:latin typeface="Courier New Bold"/>
                <a:ea typeface="Courier New Bold"/>
                <a:cs typeface="Courier New Bold"/>
                <a:sym typeface="Courier New Bold"/>
              </a:rPr>
              <a:t>)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EF6F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553539" y="382233"/>
            <a:ext cx="8996612" cy="82740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5334"/>
              </a:lnSpc>
            </a:pPr>
            <a:r>
              <a:rPr lang="en-US" sz="5499">
                <a:solidFill>
                  <a:srgbClr val="090147"/>
                </a:solidFill>
                <a:latin typeface="Bungee"/>
                <a:ea typeface="Bungee"/>
                <a:cs typeface="Bungee"/>
                <a:sym typeface="Bungee"/>
              </a:rPr>
              <a:t>RECIPE 3-1: FBPROPHET</a:t>
            </a:r>
          </a:p>
        </p:txBody>
      </p:sp>
      <p:sp>
        <p:nvSpPr>
          <p:cNvPr id="3" name="Freeform 3"/>
          <p:cNvSpPr/>
          <p:nvPr/>
        </p:nvSpPr>
        <p:spPr>
          <a:xfrm flipH="1" flipV="1">
            <a:off x="14905152" y="372708"/>
            <a:ext cx="7147278" cy="3993541"/>
          </a:xfrm>
          <a:custGeom>
            <a:avLst/>
            <a:gdLst/>
            <a:ahLst/>
            <a:cxnLst/>
            <a:rect l="l" t="t" r="r" b="b"/>
            <a:pathLst>
              <a:path w="7147278" h="3993541">
                <a:moveTo>
                  <a:pt x="7147278" y="3993541"/>
                </a:moveTo>
                <a:lnTo>
                  <a:pt x="0" y="3993541"/>
                </a:lnTo>
                <a:lnTo>
                  <a:pt x="0" y="0"/>
                </a:lnTo>
                <a:lnTo>
                  <a:pt x="7147278" y="0"/>
                </a:lnTo>
                <a:lnTo>
                  <a:pt x="7147278" y="3993541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4" name="Freeform 4"/>
          <p:cNvSpPr/>
          <p:nvPr/>
        </p:nvSpPr>
        <p:spPr>
          <a:xfrm>
            <a:off x="170050" y="3851152"/>
            <a:ext cx="10359514" cy="6435848"/>
          </a:xfrm>
          <a:custGeom>
            <a:avLst/>
            <a:gdLst/>
            <a:ahLst/>
            <a:cxnLst/>
            <a:rect l="l" t="t" r="r" b="b"/>
            <a:pathLst>
              <a:path w="10359514" h="6435848">
                <a:moveTo>
                  <a:pt x="0" y="0"/>
                </a:moveTo>
                <a:lnTo>
                  <a:pt x="10359513" y="0"/>
                </a:lnTo>
                <a:lnTo>
                  <a:pt x="10359513" y="6435848"/>
                </a:lnTo>
                <a:lnTo>
                  <a:pt x="0" y="6435848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5" name="TextBox 5"/>
          <p:cNvSpPr txBox="1"/>
          <p:nvPr/>
        </p:nvSpPr>
        <p:spPr>
          <a:xfrm>
            <a:off x="313590" y="1525056"/>
            <a:ext cx="14176964" cy="69885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580"/>
              </a:lnSpc>
              <a:spcBef>
                <a:spcPct val="0"/>
              </a:spcBef>
            </a:pPr>
            <a:r>
              <a:rPr lang="en-US" sz="3986" b="1">
                <a:solidFill>
                  <a:srgbClr val="020BB5"/>
                </a:solidFill>
                <a:latin typeface="Josefin Sans Bold"/>
                <a:ea typeface="Josefin Sans Bold"/>
                <a:cs typeface="Josefin Sans Bold"/>
                <a:sym typeface="Josefin Sans Bold"/>
              </a:rPr>
              <a:t>Tạo khung tương lai - Thêm 300 ngày tiếp theo để dự báo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313590" y="2312329"/>
            <a:ext cx="15445117" cy="187492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738"/>
              </a:lnSpc>
            </a:pPr>
            <a:r>
              <a:rPr lang="en-US" sz="2670" b="1">
                <a:solidFill>
                  <a:srgbClr val="000000"/>
                </a:solidFill>
                <a:latin typeface="Courier New Bold"/>
                <a:ea typeface="Courier New Bold"/>
                <a:cs typeface="Courier New Bold"/>
                <a:sym typeface="Courier New Bold"/>
              </a:rPr>
              <a:t>future_df = basic_prophet_model.make_future_dataframe(include_history=True,periods=300)</a:t>
            </a:r>
          </a:p>
          <a:p>
            <a:pPr algn="l">
              <a:lnSpc>
                <a:spcPts val="3738"/>
              </a:lnSpc>
              <a:spcBef>
                <a:spcPct val="0"/>
              </a:spcBef>
            </a:pPr>
            <a:r>
              <a:rPr lang="en-US" sz="2670" b="1">
                <a:solidFill>
                  <a:srgbClr val="000000"/>
                </a:solidFill>
                <a:latin typeface="Courier New Bold"/>
                <a:ea typeface="Courier New Bold"/>
                <a:cs typeface="Courier New Bold"/>
                <a:sym typeface="Courier New Bold"/>
              </a:rPr>
              <a:t>future_df.tail()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10673104" y="4916011"/>
            <a:ext cx="8030000" cy="140370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580"/>
              </a:lnSpc>
              <a:spcBef>
                <a:spcPct val="0"/>
              </a:spcBef>
            </a:pPr>
            <a:r>
              <a:rPr lang="en-US" sz="3986" b="1">
                <a:solidFill>
                  <a:srgbClr val="020BB5"/>
                </a:solidFill>
                <a:latin typeface="Josefin Sans Bold"/>
                <a:ea typeface="Josefin Sans Bold"/>
                <a:cs typeface="Josefin Sans Bold"/>
                <a:sym typeface="Josefin Sans Bold"/>
              </a:rPr>
              <a:t>Vẽ biểu đồ kết quả - Xem xu hướng và khoảng dự báo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10683106" y="6300663"/>
            <a:ext cx="7614896" cy="93212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738"/>
              </a:lnSpc>
            </a:pPr>
            <a:r>
              <a:rPr lang="en-US" sz="2670" b="1">
                <a:solidFill>
                  <a:srgbClr val="000000"/>
                </a:solidFill>
                <a:latin typeface="Courier New Bold"/>
                <a:ea typeface="Courier New Bold"/>
                <a:cs typeface="Courier New Bold"/>
                <a:sym typeface="Courier New Bold"/>
              </a:rPr>
              <a:t>plot1 = basic_prophet_model.plot(forecast_df)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EF6F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1715413" y="360749"/>
            <a:ext cx="14857174" cy="82740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5334"/>
              </a:lnSpc>
            </a:pPr>
            <a:r>
              <a:rPr lang="en-US" sz="5499">
                <a:solidFill>
                  <a:srgbClr val="090147"/>
                </a:solidFill>
                <a:latin typeface="Bungee"/>
                <a:ea typeface="Bungee"/>
                <a:cs typeface="Bungee"/>
                <a:sym typeface="Bungee"/>
              </a:rPr>
              <a:t>RECIPE 3-2: KIỂM SOÁT CHANGE POINTS</a:t>
            </a:r>
          </a:p>
        </p:txBody>
      </p:sp>
      <p:sp>
        <p:nvSpPr>
          <p:cNvPr id="3" name="Freeform 3"/>
          <p:cNvSpPr/>
          <p:nvPr/>
        </p:nvSpPr>
        <p:spPr>
          <a:xfrm>
            <a:off x="-2347017" y="-1766697"/>
            <a:ext cx="4062430" cy="4114800"/>
          </a:xfrm>
          <a:custGeom>
            <a:avLst/>
            <a:gdLst/>
            <a:ahLst/>
            <a:cxnLst/>
            <a:rect l="l" t="t" r="r" b="b"/>
            <a:pathLst>
              <a:path w="4062430" h="4114800">
                <a:moveTo>
                  <a:pt x="0" y="0"/>
                </a:moveTo>
                <a:lnTo>
                  <a:pt x="4062430" y="0"/>
                </a:lnTo>
                <a:lnTo>
                  <a:pt x="4062430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4" name="Freeform 4"/>
          <p:cNvSpPr/>
          <p:nvPr/>
        </p:nvSpPr>
        <p:spPr>
          <a:xfrm flipH="1" flipV="1">
            <a:off x="15784401" y="0"/>
            <a:ext cx="7147278" cy="3993541"/>
          </a:xfrm>
          <a:custGeom>
            <a:avLst/>
            <a:gdLst/>
            <a:ahLst/>
            <a:cxnLst/>
            <a:rect l="l" t="t" r="r" b="b"/>
            <a:pathLst>
              <a:path w="7147278" h="3993541">
                <a:moveTo>
                  <a:pt x="7147278" y="3993541"/>
                </a:moveTo>
                <a:lnTo>
                  <a:pt x="0" y="3993541"/>
                </a:lnTo>
                <a:lnTo>
                  <a:pt x="0" y="0"/>
                </a:lnTo>
                <a:lnTo>
                  <a:pt x="7147278" y="0"/>
                </a:lnTo>
                <a:lnTo>
                  <a:pt x="7147278" y="3993541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5" name="Freeform 5"/>
          <p:cNvSpPr/>
          <p:nvPr/>
        </p:nvSpPr>
        <p:spPr>
          <a:xfrm>
            <a:off x="0" y="4163542"/>
            <a:ext cx="10043283" cy="6123458"/>
          </a:xfrm>
          <a:custGeom>
            <a:avLst/>
            <a:gdLst/>
            <a:ahLst/>
            <a:cxnLst/>
            <a:rect l="l" t="t" r="r" b="b"/>
            <a:pathLst>
              <a:path w="10043283" h="6123458">
                <a:moveTo>
                  <a:pt x="0" y="0"/>
                </a:moveTo>
                <a:lnTo>
                  <a:pt x="10043283" y="0"/>
                </a:lnTo>
                <a:lnTo>
                  <a:pt x="10043283" y="6123458"/>
                </a:lnTo>
                <a:lnTo>
                  <a:pt x="0" y="6123458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r="-2256"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6" name="Freeform 6"/>
          <p:cNvSpPr/>
          <p:nvPr/>
        </p:nvSpPr>
        <p:spPr>
          <a:xfrm>
            <a:off x="-315802" y="2955486"/>
            <a:ext cx="1155729" cy="1038055"/>
          </a:xfrm>
          <a:custGeom>
            <a:avLst/>
            <a:gdLst/>
            <a:ahLst/>
            <a:cxnLst/>
            <a:rect l="l" t="t" r="r" b="b"/>
            <a:pathLst>
              <a:path w="1155729" h="1038055">
                <a:moveTo>
                  <a:pt x="0" y="0"/>
                </a:moveTo>
                <a:lnTo>
                  <a:pt x="1155729" y="0"/>
                </a:lnTo>
                <a:lnTo>
                  <a:pt x="1155729" y="1038055"/>
                </a:lnTo>
                <a:lnTo>
                  <a:pt x="0" y="1038055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7" name="Freeform 7"/>
          <p:cNvSpPr/>
          <p:nvPr/>
        </p:nvSpPr>
        <p:spPr>
          <a:xfrm>
            <a:off x="10243995" y="4163542"/>
            <a:ext cx="8044005" cy="6001083"/>
          </a:xfrm>
          <a:custGeom>
            <a:avLst/>
            <a:gdLst/>
            <a:ahLst/>
            <a:cxnLst/>
            <a:rect l="l" t="t" r="r" b="b"/>
            <a:pathLst>
              <a:path w="8044005" h="6001083">
                <a:moveTo>
                  <a:pt x="0" y="0"/>
                </a:moveTo>
                <a:lnTo>
                  <a:pt x="8044005" y="0"/>
                </a:lnTo>
                <a:lnTo>
                  <a:pt x="8044005" y="6001083"/>
                </a:lnTo>
                <a:lnTo>
                  <a:pt x="0" y="6001083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8" name="TextBox 8"/>
          <p:cNvSpPr txBox="1"/>
          <p:nvPr/>
        </p:nvSpPr>
        <p:spPr>
          <a:xfrm>
            <a:off x="3449582" y="1378654"/>
            <a:ext cx="11714217" cy="632787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5130"/>
              </a:lnSpc>
              <a:spcBef>
                <a:spcPct val="0"/>
              </a:spcBef>
            </a:pPr>
            <a:r>
              <a:rPr lang="en-US" sz="3664" dirty="0">
                <a:solidFill>
                  <a:srgbClr val="000000"/>
                </a:solidFill>
                <a:latin typeface="Josefin Sans"/>
                <a:ea typeface="Josefin Sans"/>
                <a:cs typeface="Josefin Sans"/>
                <a:sym typeface="Josefin Sans"/>
              </a:rPr>
              <a:t>Change Point </a:t>
            </a:r>
            <a:r>
              <a:rPr lang="en-US" sz="3664" dirty="0" err="1">
                <a:solidFill>
                  <a:srgbClr val="000000"/>
                </a:solidFill>
                <a:latin typeface="Josefin Sans"/>
                <a:ea typeface="Josefin Sans"/>
                <a:cs typeface="Josefin Sans"/>
                <a:sym typeface="Josefin Sans"/>
              </a:rPr>
              <a:t>là</a:t>
            </a:r>
            <a:r>
              <a:rPr lang="en-US" sz="3664" dirty="0">
                <a:solidFill>
                  <a:srgbClr val="000000"/>
                </a:solidFill>
                <a:latin typeface="Josefin Sans"/>
                <a:ea typeface="Josefin Sans"/>
                <a:cs typeface="Josefin Sans"/>
                <a:sym typeface="Josefin Sans"/>
              </a:rPr>
              <a:t> </a:t>
            </a:r>
            <a:r>
              <a:rPr lang="en-US" sz="3664" dirty="0" err="1">
                <a:solidFill>
                  <a:srgbClr val="000000"/>
                </a:solidFill>
                <a:latin typeface="Josefin Sans"/>
                <a:ea typeface="Josefin Sans"/>
                <a:cs typeface="Josefin Sans"/>
                <a:sym typeface="Josefin Sans"/>
              </a:rPr>
              <a:t>thời</a:t>
            </a:r>
            <a:r>
              <a:rPr lang="en-US" sz="3664" dirty="0">
                <a:solidFill>
                  <a:srgbClr val="000000"/>
                </a:solidFill>
                <a:latin typeface="Josefin Sans"/>
                <a:ea typeface="Josefin Sans"/>
                <a:cs typeface="Josefin Sans"/>
                <a:sym typeface="Josefin Sans"/>
              </a:rPr>
              <a:t> </a:t>
            </a:r>
            <a:r>
              <a:rPr lang="en-US" sz="3664" dirty="0" err="1">
                <a:solidFill>
                  <a:srgbClr val="000000"/>
                </a:solidFill>
                <a:latin typeface="Josefin Sans"/>
                <a:ea typeface="Josefin Sans"/>
                <a:cs typeface="Josefin Sans"/>
                <a:sym typeface="Josefin Sans"/>
              </a:rPr>
              <a:t>điểm</a:t>
            </a:r>
            <a:r>
              <a:rPr lang="en-US" sz="3664" dirty="0">
                <a:solidFill>
                  <a:srgbClr val="000000"/>
                </a:solidFill>
                <a:latin typeface="Josefin Sans"/>
                <a:ea typeface="Josefin Sans"/>
                <a:cs typeface="Josefin Sans"/>
                <a:sym typeface="Josefin Sans"/>
              </a:rPr>
              <a:t> xu </a:t>
            </a:r>
            <a:r>
              <a:rPr lang="en-US" sz="3664" dirty="0" err="1">
                <a:solidFill>
                  <a:srgbClr val="000000"/>
                </a:solidFill>
                <a:latin typeface="Josefin Sans"/>
                <a:ea typeface="Josefin Sans"/>
                <a:cs typeface="Josefin Sans"/>
                <a:sym typeface="Josefin Sans"/>
              </a:rPr>
              <a:t>hướng</a:t>
            </a:r>
            <a:r>
              <a:rPr lang="en-US" sz="3664" dirty="0">
                <a:solidFill>
                  <a:srgbClr val="000000"/>
                </a:solidFill>
                <a:latin typeface="Josefin Sans"/>
                <a:ea typeface="Josefin Sans"/>
                <a:cs typeface="Josefin Sans"/>
                <a:sym typeface="Josefin Sans"/>
              </a:rPr>
              <a:t> </a:t>
            </a:r>
            <a:r>
              <a:rPr lang="en-US" sz="3664" dirty="0" err="1">
                <a:solidFill>
                  <a:srgbClr val="000000"/>
                </a:solidFill>
                <a:latin typeface="Josefin Sans"/>
                <a:ea typeface="Josefin Sans"/>
                <a:cs typeface="Josefin Sans"/>
                <a:sym typeface="Josefin Sans"/>
              </a:rPr>
              <a:t>thay</a:t>
            </a:r>
            <a:r>
              <a:rPr lang="en-US" sz="3664" dirty="0">
                <a:solidFill>
                  <a:srgbClr val="000000"/>
                </a:solidFill>
                <a:latin typeface="Josefin Sans"/>
                <a:ea typeface="Josefin Sans"/>
                <a:cs typeface="Josefin Sans"/>
                <a:sym typeface="Josefin Sans"/>
              </a:rPr>
              <a:t> </a:t>
            </a:r>
            <a:r>
              <a:rPr lang="en-US" sz="3664" dirty="0" err="1">
                <a:solidFill>
                  <a:srgbClr val="000000"/>
                </a:solidFill>
                <a:latin typeface="Josefin Sans"/>
                <a:ea typeface="Josefin Sans"/>
                <a:cs typeface="Josefin Sans"/>
                <a:sym typeface="Josefin Sans"/>
              </a:rPr>
              <a:t>đổi</a:t>
            </a:r>
            <a:r>
              <a:rPr lang="en-US" sz="3664" dirty="0">
                <a:solidFill>
                  <a:srgbClr val="000000"/>
                </a:solidFill>
                <a:latin typeface="Josefin Sans"/>
                <a:ea typeface="Josefin Sans"/>
                <a:cs typeface="Josefin Sans"/>
                <a:sym typeface="Josefin Sans"/>
              </a:rPr>
              <a:t> </a:t>
            </a:r>
            <a:r>
              <a:rPr lang="en-US" sz="3664" dirty="0" err="1">
                <a:solidFill>
                  <a:srgbClr val="000000"/>
                </a:solidFill>
                <a:latin typeface="Josefin Sans"/>
                <a:ea typeface="Josefin Sans"/>
                <a:cs typeface="Josefin Sans"/>
                <a:sym typeface="Josefin Sans"/>
              </a:rPr>
              <a:t>đột</a:t>
            </a:r>
            <a:r>
              <a:rPr lang="en-US" sz="3664" dirty="0">
                <a:solidFill>
                  <a:srgbClr val="000000"/>
                </a:solidFill>
                <a:latin typeface="Josefin Sans"/>
                <a:ea typeface="Josefin Sans"/>
                <a:cs typeface="Josefin Sans"/>
                <a:sym typeface="Josefin Sans"/>
              </a:rPr>
              <a:t> </a:t>
            </a:r>
            <a:r>
              <a:rPr lang="en-US" sz="3664" dirty="0" err="1">
                <a:solidFill>
                  <a:srgbClr val="000000"/>
                </a:solidFill>
                <a:latin typeface="Josefin Sans"/>
                <a:ea typeface="Josefin Sans"/>
                <a:cs typeface="Josefin Sans"/>
                <a:sym typeface="Josefin Sans"/>
              </a:rPr>
              <a:t>ngột</a:t>
            </a:r>
            <a:endParaRPr lang="en-US" sz="3664" dirty="0">
              <a:solidFill>
                <a:srgbClr val="000000"/>
              </a:solidFill>
              <a:latin typeface="Josefin Sans"/>
              <a:ea typeface="Josefin Sans"/>
              <a:cs typeface="Josefin Sans"/>
              <a:sym typeface="Josefin Sans"/>
            </a:endParaRPr>
          </a:p>
        </p:txBody>
      </p:sp>
      <p:sp>
        <p:nvSpPr>
          <p:cNvPr id="9" name="TextBox 9"/>
          <p:cNvSpPr txBox="1"/>
          <p:nvPr/>
        </p:nvSpPr>
        <p:spPr>
          <a:xfrm>
            <a:off x="9215228" y="2922444"/>
            <a:ext cx="4011216" cy="69885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580"/>
              </a:lnSpc>
              <a:spcBef>
                <a:spcPct val="0"/>
              </a:spcBef>
            </a:pPr>
            <a:r>
              <a:rPr lang="en-US" sz="3986">
                <a:solidFill>
                  <a:srgbClr val="000000"/>
                </a:solidFill>
                <a:latin typeface="Josefin Sans"/>
                <a:ea typeface="Josefin Sans"/>
                <a:cs typeface="Josefin Sans"/>
                <a:sym typeface="Josefin Sans"/>
              </a:rPr>
              <a:t>25 điểm thay đổi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8784028" y="2267313"/>
            <a:ext cx="4873616" cy="69885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580"/>
              </a:lnSpc>
              <a:spcBef>
                <a:spcPct val="0"/>
              </a:spcBef>
            </a:pPr>
            <a:r>
              <a:rPr lang="en-US" sz="3986">
                <a:solidFill>
                  <a:srgbClr val="000000"/>
                </a:solidFill>
                <a:latin typeface="Josefin Sans"/>
                <a:ea typeface="Josefin Sans"/>
                <a:cs typeface="Josefin Sans"/>
                <a:sym typeface="Josefin Sans"/>
              </a:rPr>
              <a:t>80% ban đầu dữ liệu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4630355" y="2660840"/>
            <a:ext cx="4153673" cy="71932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5406"/>
              </a:lnSpc>
              <a:spcBef>
                <a:spcPct val="0"/>
              </a:spcBef>
            </a:pPr>
            <a:r>
              <a:rPr lang="en-US" sz="5100">
                <a:solidFill>
                  <a:srgbClr val="4288DD"/>
                </a:solidFill>
                <a:latin typeface="Josefin Sans"/>
                <a:ea typeface="Josefin Sans"/>
                <a:cs typeface="Josefin Sans"/>
                <a:sym typeface="Josefin Sans"/>
              </a:rPr>
              <a:t>Mặc định: </a:t>
            </a:r>
          </a:p>
        </p:txBody>
      </p:sp>
      <p:sp>
        <p:nvSpPr>
          <p:cNvPr id="12" name="Freeform 12"/>
          <p:cNvSpPr/>
          <p:nvPr/>
        </p:nvSpPr>
        <p:spPr>
          <a:xfrm>
            <a:off x="16396456" y="2472902"/>
            <a:ext cx="1155729" cy="1038055"/>
          </a:xfrm>
          <a:custGeom>
            <a:avLst/>
            <a:gdLst/>
            <a:ahLst/>
            <a:cxnLst/>
            <a:rect l="l" t="t" r="r" b="b"/>
            <a:pathLst>
              <a:path w="1155729" h="1038055">
                <a:moveTo>
                  <a:pt x="0" y="0"/>
                </a:moveTo>
                <a:lnTo>
                  <a:pt x="1155729" y="0"/>
                </a:lnTo>
                <a:lnTo>
                  <a:pt x="1155729" y="1038055"/>
                </a:lnTo>
                <a:lnTo>
                  <a:pt x="0" y="1038055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EF6F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1715413" y="300228"/>
            <a:ext cx="14857174" cy="82740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5334"/>
              </a:lnSpc>
            </a:pPr>
            <a:r>
              <a:rPr lang="en-US" sz="5499">
                <a:solidFill>
                  <a:srgbClr val="090147"/>
                </a:solidFill>
                <a:latin typeface="Bungee"/>
                <a:ea typeface="Bungee"/>
                <a:cs typeface="Bungee"/>
                <a:sym typeface="Bungee"/>
              </a:rPr>
              <a:t>RECIPE 3-2: KIỂM SOÁT CHANGE POINTS</a:t>
            </a:r>
          </a:p>
        </p:txBody>
      </p:sp>
      <p:sp>
        <p:nvSpPr>
          <p:cNvPr id="3" name="Freeform 3"/>
          <p:cNvSpPr/>
          <p:nvPr/>
        </p:nvSpPr>
        <p:spPr>
          <a:xfrm>
            <a:off x="-2347017" y="-1348232"/>
            <a:ext cx="4062430" cy="4114800"/>
          </a:xfrm>
          <a:custGeom>
            <a:avLst/>
            <a:gdLst/>
            <a:ahLst/>
            <a:cxnLst/>
            <a:rect l="l" t="t" r="r" b="b"/>
            <a:pathLst>
              <a:path w="4062430" h="4114800">
                <a:moveTo>
                  <a:pt x="0" y="0"/>
                </a:moveTo>
                <a:lnTo>
                  <a:pt x="4062430" y="0"/>
                </a:lnTo>
                <a:lnTo>
                  <a:pt x="4062430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4" name="Freeform 4"/>
          <p:cNvSpPr/>
          <p:nvPr/>
        </p:nvSpPr>
        <p:spPr>
          <a:xfrm flipH="1" flipV="1">
            <a:off x="16572587" y="-216127"/>
            <a:ext cx="7147278" cy="3993541"/>
          </a:xfrm>
          <a:custGeom>
            <a:avLst/>
            <a:gdLst/>
            <a:ahLst/>
            <a:cxnLst/>
            <a:rect l="l" t="t" r="r" b="b"/>
            <a:pathLst>
              <a:path w="7147278" h="3993541">
                <a:moveTo>
                  <a:pt x="7147278" y="3993541"/>
                </a:moveTo>
                <a:lnTo>
                  <a:pt x="0" y="3993541"/>
                </a:lnTo>
                <a:lnTo>
                  <a:pt x="0" y="0"/>
                </a:lnTo>
                <a:lnTo>
                  <a:pt x="7147278" y="0"/>
                </a:lnTo>
                <a:lnTo>
                  <a:pt x="7147278" y="3993541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5" name="Freeform 5"/>
          <p:cNvSpPr/>
          <p:nvPr/>
        </p:nvSpPr>
        <p:spPr>
          <a:xfrm>
            <a:off x="319371" y="3018015"/>
            <a:ext cx="9956796" cy="5936740"/>
          </a:xfrm>
          <a:custGeom>
            <a:avLst/>
            <a:gdLst/>
            <a:ahLst/>
            <a:cxnLst/>
            <a:rect l="l" t="t" r="r" b="b"/>
            <a:pathLst>
              <a:path w="9956796" h="5936740">
                <a:moveTo>
                  <a:pt x="0" y="0"/>
                </a:moveTo>
                <a:lnTo>
                  <a:pt x="9956797" y="0"/>
                </a:lnTo>
                <a:lnTo>
                  <a:pt x="9956797" y="5936740"/>
                </a:lnTo>
                <a:lnTo>
                  <a:pt x="0" y="5936740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6" name="TextBox 6"/>
          <p:cNvSpPr txBox="1"/>
          <p:nvPr/>
        </p:nvSpPr>
        <p:spPr>
          <a:xfrm>
            <a:off x="10673731" y="4271176"/>
            <a:ext cx="7314783" cy="272986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5459"/>
              </a:lnSpc>
              <a:spcBef>
                <a:spcPct val="0"/>
              </a:spcBef>
            </a:pPr>
            <a:r>
              <a:rPr lang="en-US" sz="3899" b="1">
                <a:gradFill>
                  <a:gsLst>
                    <a:gs pos="0">
                      <a:srgbClr val="2D8BBA">
                        <a:alpha val="100000"/>
                      </a:srgbClr>
                    </a:gs>
                    <a:gs pos="100000">
                      <a:srgbClr val="192385">
                        <a:alpha val="100000"/>
                      </a:srgbClr>
                    </a:gs>
                  </a:gsLst>
                  <a:lin ang="0"/>
                </a:gradFill>
                <a:latin typeface="Josefin Sans Bold"/>
                <a:ea typeface="Josefin Sans Bold"/>
                <a:cs typeface="Josefin Sans Bold"/>
                <a:sym typeface="Josefin Sans Bold"/>
              </a:rPr>
              <a:t> Giúp mô hình bỏ qua các biến động nhỏ và chỉ tập trung vào những thay đổi quan trọng của xu hướng</a:t>
            </a:r>
          </a:p>
        </p:txBody>
      </p:sp>
      <p:sp>
        <p:nvSpPr>
          <p:cNvPr id="7" name="Freeform 7"/>
          <p:cNvSpPr/>
          <p:nvPr/>
        </p:nvSpPr>
        <p:spPr>
          <a:xfrm>
            <a:off x="-1720294" y="8954755"/>
            <a:ext cx="4581255" cy="4114800"/>
          </a:xfrm>
          <a:custGeom>
            <a:avLst/>
            <a:gdLst/>
            <a:ahLst/>
            <a:cxnLst/>
            <a:rect l="l" t="t" r="r" b="b"/>
            <a:pathLst>
              <a:path w="4581255" h="4114800">
                <a:moveTo>
                  <a:pt x="0" y="0"/>
                </a:moveTo>
                <a:lnTo>
                  <a:pt x="4581255" y="0"/>
                </a:lnTo>
                <a:lnTo>
                  <a:pt x="4581255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8" name="Freeform 8"/>
          <p:cNvSpPr/>
          <p:nvPr/>
        </p:nvSpPr>
        <p:spPr>
          <a:xfrm>
            <a:off x="15026501" y="8284264"/>
            <a:ext cx="5924025" cy="4546689"/>
          </a:xfrm>
          <a:custGeom>
            <a:avLst/>
            <a:gdLst/>
            <a:ahLst/>
            <a:cxnLst/>
            <a:rect l="l" t="t" r="r" b="b"/>
            <a:pathLst>
              <a:path w="5924025" h="4546689">
                <a:moveTo>
                  <a:pt x="0" y="0"/>
                </a:moveTo>
                <a:lnTo>
                  <a:pt x="5924025" y="0"/>
                </a:lnTo>
                <a:lnTo>
                  <a:pt x="5924025" y="4546689"/>
                </a:lnTo>
                <a:lnTo>
                  <a:pt x="0" y="4546689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9" name="TextBox 9"/>
          <p:cNvSpPr txBox="1"/>
          <p:nvPr/>
        </p:nvSpPr>
        <p:spPr>
          <a:xfrm>
            <a:off x="517232" y="1665682"/>
            <a:ext cx="6398836" cy="71932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5406"/>
              </a:lnSpc>
              <a:spcBef>
                <a:spcPct val="0"/>
              </a:spcBef>
            </a:pPr>
            <a:r>
              <a:rPr lang="en-US" sz="5100">
                <a:solidFill>
                  <a:srgbClr val="4288DD"/>
                </a:solidFill>
                <a:latin typeface="Josefin Sans"/>
                <a:ea typeface="Josefin Sans"/>
                <a:cs typeface="Josefin Sans"/>
                <a:sym typeface="Josefin Sans"/>
              </a:rPr>
              <a:t>Thực hành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5682736" y="1502134"/>
            <a:ext cx="11576564" cy="93212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738"/>
              </a:lnSpc>
            </a:pPr>
            <a:r>
              <a:rPr lang="en-US" sz="2670" b="1">
                <a:solidFill>
                  <a:srgbClr val="000000"/>
                </a:solidFill>
                <a:latin typeface="Courier New Bold"/>
                <a:ea typeface="Courier New Bold"/>
                <a:cs typeface="Courier New Bold"/>
                <a:sym typeface="Courier New Bold"/>
              </a:rPr>
              <a:t>prophet_model_changepoint = Prophet(n_changepoints=20, yearly_seasonality=True)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2860961" y="8984546"/>
            <a:ext cx="4873616" cy="69885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580"/>
              </a:lnSpc>
              <a:spcBef>
                <a:spcPct val="0"/>
              </a:spcBef>
            </a:pPr>
            <a:r>
              <a:rPr lang="en-US" sz="3986">
                <a:solidFill>
                  <a:srgbClr val="000000"/>
                </a:solidFill>
                <a:latin typeface="Josefin Sans"/>
                <a:ea typeface="Josefin Sans"/>
                <a:cs typeface="Josefin Sans"/>
                <a:sym typeface="Josefin Sans"/>
              </a:rPr>
              <a:t>80% ban đầu dữ liệu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3292161" y="9588148"/>
            <a:ext cx="4011216" cy="69885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580"/>
              </a:lnSpc>
              <a:spcBef>
                <a:spcPct val="0"/>
              </a:spcBef>
            </a:pPr>
            <a:r>
              <a:rPr lang="en-US" sz="3986">
                <a:solidFill>
                  <a:srgbClr val="000000"/>
                </a:solidFill>
                <a:latin typeface="Josefin Sans"/>
                <a:ea typeface="Josefin Sans"/>
                <a:cs typeface="Josefin Sans"/>
                <a:sym typeface="Josefin Sans"/>
              </a:rPr>
              <a:t>20 điểm thay đổi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EF6F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1715413" y="300228"/>
            <a:ext cx="14857174" cy="82740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5334"/>
              </a:lnSpc>
            </a:pPr>
            <a:r>
              <a:rPr lang="en-US" sz="5499">
                <a:solidFill>
                  <a:srgbClr val="090147"/>
                </a:solidFill>
                <a:latin typeface="Bungee"/>
                <a:ea typeface="Bungee"/>
                <a:cs typeface="Bungee"/>
                <a:sym typeface="Bungee"/>
              </a:rPr>
              <a:t>RECIPE 3-2: KIỂM SOÁT CHANGE POINTS</a:t>
            </a:r>
          </a:p>
        </p:txBody>
      </p:sp>
      <p:sp>
        <p:nvSpPr>
          <p:cNvPr id="3" name="Freeform 3"/>
          <p:cNvSpPr/>
          <p:nvPr/>
        </p:nvSpPr>
        <p:spPr>
          <a:xfrm flipH="1" flipV="1">
            <a:off x="16572587" y="-167464"/>
            <a:ext cx="7147278" cy="3993541"/>
          </a:xfrm>
          <a:custGeom>
            <a:avLst/>
            <a:gdLst/>
            <a:ahLst/>
            <a:cxnLst/>
            <a:rect l="l" t="t" r="r" b="b"/>
            <a:pathLst>
              <a:path w="7147278" h="3993541">
                <a:moveTo>
                  <a:pt x="7147278" y="3993541"/>
                </a:moveTo>
                <a:lnTo>
                  <a:pt x="0" y="3993541"/>
                </a:lnTo>
                <a:lnTo>
                  <a:pt x="0" y="0"/>
                </a:lnTo>
                <a:lnTo>
                  <a:pt x="7147278" y="0"/>
                </a:lnTo>
                <a:lnTo>
                  <a:pt x="7147278" y="3993541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4" name="TextBox 4"/>
          <p:cNvSpPr txBox="1"/>
          <p:nvPr/>
        </p:nvSpPr>
        <p:spPr>
          <a:xfrm>
            <a:off x="9603873" y="4364328"/>
            <a:ext cx="8575173" cy="272986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5459"/>
              </a:lnSpc>
            </a:pPr>
            <a:r>
              <a:rPr lang="en-US" sz="3899" b="1">
                <a:gradFill>
                  <a:gsLst>
                    <a:gs pos="0">
                      <a:srgbClr val="2D8BBA">
                        <a:alpha val="100000"/>
                      </a:srgbClr>
                    </a:gs>
                    <a:gs pos="100000">
                      <a:srgbClr val="192385">
                        <a:alpha val="100000"/>
                      </a:srgbClr>
                    </a:gs>
                  </a:gsLst>
                  <a:lin ang="0"/>
                </a:gradFill>
                <a:latin typeface="Josefin Sans Bold"/>
                <a:ea typeface="Josefin Sans Bold"/>
                <a:cs typeface="Josefin Sans Bold"/>
                <a:sym typeface="Josefin Sans Bold"/>
              </a:rPr>
              <a:t>Nhạy bén hơn với các biến động mới</a:t>
            </a:r>
          </a:p>
          <a:p>
            <a:pPr algn="ctr">
              <a:lnSpc>
                <a:spcPts val="5459"/>
              </a:lnSpc>
              <a:spcBef>
                <a:spcPct val="0"/>
              </a:spcBef>
            </a:pPr>
            <a:r>
              <a:rPr lang="en-US" sz="3899" b="1">
                <a:gradFill>
                  <a:gsLst>
                    <a:gs pos="0">
                      <a:srgbClr val="2D8BBA">
                        <a:alpha val="100000"/>
                      </a:srgbClr>
                    </a:gs>
                    <a:gs pos="100000">
                      <a:srgbClr val="192385">
                        <a:alpha val="100000"/>
                      </a:srgbClr>
                    </a:gs>
                  </a:gsLst>
                  <a:lin ang="0"/>
                </a:gradFill>
                <a:latin typeface="Josefin Sans Bold"/>
                <a:ea typeface="Josefin Sans Bold"/>
                <a:cs typeface="Josefin Sans Bold"/>
                <a:sym typeface="Josefin Sans Bold"/>
              </a:rPr>
              <a:t>=&gt; Mô hình tự tin hơn, không chắc là tăng độ chính xác</a:t>
            </a:r>
          </a:p>
        </p:txBody>
      </p:sp>
      <p:sp>
        <p:nvSpPr>
          <p:cNvPr id="5" name="Freeform 5"/>
          <p:cNvSpPr/>
          <p:nvPr/>
        </p:nvSpPr>
        <p:spPr>
          <a:xfrm>
            <a:off x="-1453315" y="8717042"/>
            <a:ext cx="4581255" cy="4114800"/>
          </a:xfrm>
          <a:custGeom>
            <a:avLst/>
            <a:gdLst/>
            <a:ahLst/>
            <a:cxnLst/>
            <a:rect l="l" t="t" r="r" b="b"/>
            <a:pathLst>
              <a:path w="4581255" h="4114800">
                <a:moveTo>
                  <a:pt x="0" y="0"/>
                </a:moveTo>
                <a:lnTo>
                  <a:pt x="4581255" y="0"/>
                </a:lnTo>
                <a:lnTo>
                  <a:pt x="4581255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6" name="Freeform 6"/>
          <p:cNvSpPr/>
          <p:nvPr/>
        </p:nvSpPr>
        <p:spPr>
          <a:xfrm>
            <a:off x="15026501" y="8284264"/>
            <a:ext cx="5924025" cy="4546689"/>
          </a:xfrm>
          <a:custGeom>
            <a:avLst/>
            <a:gdLst/>
            <a:ahLst/>
            <a:cxnLst/>
            <a:rect l="l" t="t" r="r" b="b"/>
            <a:pathLst>
              <a:path w="5924025" h="4546689">
                <a:moveTo>
                  <a:pt x="0" y="0"/>
                </a:moveTo>
                <a:lnTo>
                  <a:pt x="5924025" y="0"/>
                </a:lnTo>
                <a:lnTo>
                  <a:pt x="5924025" y="4546689"/>
                </a:lnTo>
                <a:lnTo>
                  <a:pt x="0" y="4546689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7" name="Freeform 7"/>
          <p:cNvSpPr/>
          <p:nvPr/>
        </p:nvSpPr>
        <p:spPr>
          <a:xfrm>
            <a:off x="157215" y="3019892"/>
            <a:ext cx="9554968" cy="5697150"/>
          </a:xfrm>
          <a:custGeom>
            <a:avLst/>
            <a:gdLst/>
            <a:ahLst/>
            <a:cxnLst/>
            <a:rect l="l" t="t" r="r" b="b"/>
            <a:pathLst>
              <a:path w="9554968" h="5697150">
                <a:moveTo>
                  <a:pt x="0" y="0"/>
                </a:moveTo>
                <a:lnTo>
                  <a:pt x="9554968" y="0"/>
                </a:lnTo>
                <a:lnTo>
                  <a:pt x="9554968" y="5697150"/>
                </a:lnTo>
                <a:lnTo>
                  <a:pt x="0" y="5697150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8" name="TextBox 8"/>
          <p:cNvSpPr txBox="1"/>
          <p:nvPr/>
        </p:nvSpPr>
        <p:spPr>
          <a:xfrm>
            <a:off x="1292909" y="1665682"/>
            <a:ext cx="4120206" cy="71932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5406"/>
              </a:lnSpc>
              <a:spcBef>
                <a:spcPct val="0"/>
              </a:spcBef>
            </a:pPr>
            <a:r>
              <a:rPr lang="en-US" sz="5100">
                <a:solidFill>
                  <a:srgbClr val="4288DD"/>
                </a:solidFill>
                <a:latin typeface="Josefin Sans"/>
                <a:ea typeface="Josefin Sans"/>
                <a:cs typeface="Josefin Sans"/>
                <a:sym typeface="Josefin Sans"/>
              </a:rPr>
              <a:t>Thực hành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5639242" y="1502134"/>
            <a:ext cx="11355848" cy="93212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738"/>
              </a:lnSpc>
            </a:pPr>
            <a:r>
              <a:rPr lang="en-US" sz="2670" b="1">
                <a:solidFill>
                  <a:srgbClr val="000000"/>
                </a:solidFill>
                <a:latin typeface="Courier New Bold"/>
                <a:ea typeface="Courier New Bold"/>
                <a:cs typeface="Courier New Bold"/>
                <a:sym typeface="Courier New Bold"/>
              </a:rPr>
              <a:t>prophet_model_changepoint2 = Prophet(changepoint_range=0.9, yearly_seasonality=True)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2850224" y="8802767"/>
            <a:ext cx="4873616" cy="69885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580"/>
              </a:lnSpc>
              <a:spcBef>
                <a:spcPct val="0"/>
              </a:spcBef>
            </a:pPr>
            <a:r>
              <a:rPr lang="en-US" sz="3986">
                <a:solidFill>
                  <a:srgbClr val="000000"/>
                </a:solidFill>
                <a:latin typeface="Josefin Sans"/>
                <a:ea typeface="Josefin Sans"/>
                <a:cs typeface="Josefin Sans"/>
                <a:sym typeface="Josefin Sans"/>
              </a:rPr>
              <a:t>90% ban đầu dữ liệu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3281424" y="9406369"/>
            <a:ext cx="4011216" cy="69885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580"/>
              </a:lnSpc>
              <a:spcBef>
                <a:spcPct val="0"/>
              </a:spcBef>
            </a:pPr>
            <a:r>
              <a:rPr lang="en-US" sz="3986">
                <a:solidFill>
                  <a:srgbClr val="000000"/>
                </a:solidFill>
                <a:latin typeface="Josefin Sans"/>
                <a:ea typeface="Josefin Sans"/>
                <a:cs typeface="Josefin Sans"/>
                <a:sym typeface="Josefin Sans"/>
              </a:rPr>
              <a:t>25 điểm thay đổi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EF6F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-2031215" y="-1447165"/>
            <a:ext cx="4062430" cy="4114800"/>
          </a:xfrm>
          <a:custGeom>
            <a:avLst/>
            <a:gdLst/>
            <a:ahLst/>
            <a:cxnLst/>
            <a:rect l="l" t="t" r="r" b="b"/>
            <a:pathLst>
              <a:path w="4062430" h="4114800">
                <a:moveTo>
                  <a:pt x="0" y="0"/>
                </a:moveTo>
                <a:lnTo>
                  <a:pt x="4062430" y="0"/>
                </a:lnTo>
                <a:lnTo>
                  <a:pt x="4062430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3" name="Freeform 3"/>
          <p:cNvSpPr/>
          <p:nvPr/>
        </p:nvSpPr>
        <p:spPr>
          <a:xfrm flipH="1" flipV="1">
            <a:off x="15784401" y="-239235"/>
            <a:ext cx="7147278" cy="3993541"/>
          </a:xfrm>
          <a:custGeom>
            <a:avLst/>
            <a:gdLst/>
            <a:ahLst/>
            <a:cxnLst/>
            <a:rect l="l" t="t" r="r" b="b"/>
            <a:pathLst>
              <a:path w="7147278" h="3993541">
                <a:moveTo>
                  <a:pt x="7147278" y="3993542"/>
                </a:moveTo>
                <a:lnTo>
                  <a:pt x="0" y="3993542"/>
                </a:lnTo>
                <a:lnTo>
                  <a:pt x="0" y="0"/>
                </a:lnTo>
                <a:lnTo>
                  <a:pt x="7147278" y="0"/>
                </a:lnTo>
                <a:lnTo>
                  <a:pt x="7147278" y="3993542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4" name="Freeform 4"/>
          <p:cNvSpPr/>
          <p:nvPr/>
        </p:nvSpPr>
        <p:spPr>
          <a:xfrm>
            <a:off x="143260" y="3118719"/>
            <a:ext cx="9059786" cy="5401897"/>
          </a:xfrm>
          <a:custGeom>
            <a:avLst/>
            <a:gdLst/>
            <a:ahLst/>
            <a:cxnLst/>
            <a:rect l="l" t="t" r="r" b="b"/>
            <a:pathLst>
              <a:path w="9059786" h="5401897">
                <a:moveTo>
                  <a:pt x="0" y="0"/>
                </a:moveTo>
                <a:lnTo>
                  <a:pt x="9059786" y="0"/>
                </a:lnTo>
                <a:lnTo>
                  <a:pt x="9059786" y="5401897"/>
                </a:lnTo>
                <a:lnTo>
                  <a:pt x="0" y="5401897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5" name="Freeform 5"/>
          <p:cNvSpPr/>
          <p:nvPr/>
        </p:nvSpPr>
        <p:spPr>
          <a:xfrm>
            <a:off x="9203046" y="3189131"/>
            <a:ext cx="8941694" cy="5331485"/>
          </a:xfrm>
          <a:custGeom>
            <a:avLst/>
            <a:gdLst/>
            <a:ahLst/>
            <a:cxnLst/>
            <a:rect l="l" t="t" r="r" b="b"/>
            <a:pathLst>
              <a:path w="8941694" h="5331485">
                <a:moveTo>
                  <a:pt x="0" y="0"/>
                </a:moveTo>
                <a:lnTo>
                  <a:pt x="8941694" y="0"/>
                </a:lnTo>
                <a:lnTo>
                  <a:pt x="8941694" y="5331485"/>
                </a:lnTo>
                <a:lnTo>
                  <a:pt x="0" y="5331485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6" name="TextBox 6"/>
          <p:cNvSpPr txBox="1"/>
          <p:nvPr/>
        </p:nvSpPr>
        <p:spPr>
          <a:xfrm>
            <a:off x="1715413" y="525780"/>
            <a:ext cx="14857174" cy="82740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5334"/>
              </a:lnSpc>
            </a:pPr>
            <a:r>
              <a:rPr lang="en-US" sz="5499">
                <a:solidFill>
                  <a:srgbClr val="090147"/>
                </a:solidFill>
                <a:latin typeface="Bungee"/>
                <a:ea typeface="Bungee"/>
                <a:cs typeface="Bungee"/>
                <a:sym typeface="Bungee"/>
              </a:rPr>
              <a:t>RECIPE 3-3: ĐIỀU CHỈNH XU HƯỚNG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1375474" y="1690861"/>
            <a:ext cx="15330077" cy="59690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899"/>
              </a:lnSpc>
              <a:spcBef>
                <a:spcPct val="0"/>
              </a:spcBef>
            </a:pPr>
            <a:r>
              <a:rPr lang="en-US" sz="3499">
                <a:solidFill>
                  <a:srgbClr val="000000"/>
                </a:solidFill>
                <a:latin typeface="Josefin Sans"/>
                <a:ea typeface="Josefin Sans"/>
                <a:cs typeface="Josefin Sans"/>
                <a:sym typeface="Josefin Sans"/>
              </a:rPr>
              <a:t> Tham số </a:t>
            </a:r>
            <a:r>
              <a:rPr lang="en-US" sz="3499">
                <a:solidFill>
                  <a:srgbClr val="AA1313"/>
                </a:solidFill>
                <a:latin typeface="Josefin Sans"/>
                <a:ea typeface="Josefin Sans"/>
                <a:cs typeface="Josefin Sans"/>
                <a:sym typeface="Josefin Sans"/>
              </a:rPr>
              <a:t>changepoint_prior_scale</a:t>
            </a:r>
            <a:r>
              <a:rPr lang="en-US" sz="3499">
                <a:solidFill>
                  <a:srgbClr val="000000"/>
                </a:solidFill>
                <a:latin typeface="Josefin Sans"/>
                <a:ea typeface="Josefin Sans"/>
                <a:cs typeface="Josefin Sans"/>
                <a:sym typeface="Josefin Sans"/>
              </a:rPr>
              <a:t> : quyết định độ linh hoạt của xu hướng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1647680" y="8753474"/>
            <a:ext cx="5761971" cy="50482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199"/>
              </a:lnSpc>
              <a:spcBef>
                <a:spcPct val="0"/>
              </a:spcBef>
            </a:pPr>
            <a:r>
              <a:rPr lang="en-US" sz="2999">
                <a:solidFill>
                  <a:srgbClr val="000000"/>
                </a:solidFill>
                <a:latin typeface="Josefin Sans"/>
                <a:ea typeface="Josefin Sans"/>
                <a:cs typeface="Josefin Sans"/>
                <a:sym typeface="Josefin Sans"/>
              </a:rPr>
              <a:t>changepoint_prior_scale = 0.08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10521128" y="8753474"/>
            <a:ext cx="5755191" cy="50482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199"/>
              </a:lnSpc>
              <a:spcBef>
                <a:spcPct val="0"/>
              </a:spcBef>
            </a:pPr>
            <a:r>
              <a:rPr lang="en-US" sz="2999">
                <a:solidFill>
                  <a:srgbClr val="000000"/>
                </a:solidFill>
                <a:latin typeface="Josefin Sans"/>
                <a:ea typeface="Josefin Sans"/>
                <a:cs typeface="Josefin Sans"/>
                <a:sym typeface="Josefin Sans"/>
              </a:rPr>
              <a:t>changepoint_prior_scale = 0.001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EF6F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-2031215" y="-1447165"/>
            <a:ext cx="4062430" cy="4114800"/>
          </a:xfrm>
          <a:custGeom>
            <a:avLst/>
            <a:gdLst/>
            <a:ahLst/>
            <a:cxnLst/>
            <a:rect l="l" t="t" r="r" b="b"/>
            <a:pathLst>
              <a:path w="4062430" h="4114800">
                <a:moveTo>
                  <a:pt x="0" y="0"/>
                </a:moveTo>
                <a:lnTo>
                  <a:pt x="4062430" y="0"/>
                </a:lnTo>
                <a:lnTo>
                  <a:pt x="4062430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3" name="Freeform 3"/>
          <p:cNvSpPr/>
          <p:nvPr/>
        </p:nvSpPr>
        <p:spPr>
          <a:xfrm flipH="1" flipV="1">
            <a:off x="15784401" y="-239235"/>
            <a:ext cx="7147278" cy="3993541"/>
          </a:xfrm>
          <a:custGeom>
            <a:avLst/>
            <a:gdLst/>
            <a:ahLst/>
            <a:cxnLst/>
            <a:rect l="l" t="t" r="r" b="b"/>
            <a:pathLst>
              <a:path w="7147278" h="3993541">
                <a:moveTo>
                  <a:pt x="7147278" y="3993542"/>
                </a:moveTo>
                <a:lnTo>
                  <a:pt x="0" y="3993542"/>
                </a:lnTo>
                <a:lnTo>
                  <a:pt x="0" y="0"/>
                </a:lnTo>
                <a:lnTo>
                  <a:pt x="7147278" y="0"/>
                </a:lnTo>
                <a:lnTo>
                  <a:pt x="7147278" y="3993542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graphicFrame>
        <p:nvGraphicFramePr>
          <p:cNvPr id="4" name="Table 4"/>
          <p:cNvGraphicFramePr>
            <a:graphicFrameLocks noGrp="1"/>
          </p:cNvGraphicFramePr>
          <p:nvPr/>
        </p:nvGraphicFramePr>
        <p:xfrm>
          <a:off x="8733362" y="4078157"/>
          <a:ext cx="4293881" cy="4610100"/>
        </p:xfrm>
        <a:graphic>
          <a:graphicData uri="http://schemas.openxmlformats.org/drawingml/2006/table">
            <a:tbl>
              <a:tblPr/>
              <a:tblGrid>
                <a:gridCol w="215649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137391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768350">
                <a:tc>
                  <a:txBody>
                    <a:bodyPr/>
                    <a:lstStyle/>
                    <a:p>
                      <a:pPr algn="ctr">
                        <a:lnSpc>
                          <a:spcPts val="2520"/>
                        </a:lnSpc>
                        <a:defRPr/>
                      </a:pPr>
                      <a:r>
                        <a:rPr lang="en-US" sz="1800" dirty="0">
                          <a:solidFill>
                            <a:srgbClr val="000000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2015-10-11</a:t>
                      </a:r>
                      <a:endParaRPr lang="en-US" sz="1100" dirty="0"/>
                    </a:p>
                  </a:txBody>
                  <a:tcPr marL="190500" marR="190500" marT="190500" marB="190500" anchor="ctr">
                    <a:lnL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520"/>
                        </a:lnSpc>
                        <a:defRPr/>
                      </a:pPr>
                      <a:r>
                        <a:rPr lang="en-US" sz="1800" b="1">
                          <a:solidFill>
                            <a:srgbClr val="000000"/>
                          </a:solidFill>
                          <a:latin typeface="DM Sans Bold"/>
                          <a:ea typeface="DM Sans Bold"/>
                          <a:cs typeface="DM Sans Bold"/>
                          <a:sym typeface="DM Sans Bold"/>
                        </a:rPr>
                        <a:t> 0.78055968</a:t>
                      </a:r>
                      <a:endParaRPr lang="en-US" sz="1100"/>
                    </a:p>
                  </a:txBody>
                  <a:tcPr marL="190500" marR="190500" marT="190500" marB="190500" anchor="ctr">
                    <a:lnL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768350">
                <a:tc>
                  <a:txBody>
                    <a:bodyPr/>
                    <a:lstStyle/>
                    <a:p>
                      <a:pPr algn="ctr">
                        <a:lnSpc>
                          <a:spcPts val="2520"/>
                        </a:lnSpc>
                        <a:defRPr/>
                      </a:pPr>
                      <a:r>
                        <a:rPr lang="en-US" sz="1800">
                          <a:solidFill>
                            <a:srgbClr val="000000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2016-01-17</a:t>
                      </a:r>
                      <a:endParaRPr lang="en-US" sz="1100"/>
                    </a:p>
                  </a:txBody>
                  <a:tcPr marL="190500" marR="190500" marT="190500" marB="190500" anchor="ctr">
                    <a:lnL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520"/>
                        </a:lnSpc>
                        <a:defRPr/>
                      </a:pPr>
                      <a:r>
                        <a:rPr lang="en-US" sz="1800">
                          <a:solidFill>
                            <a:srgbClr val="000000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-0.64642632</a:t>
                      </a:r>
                      <a:endParaRPr lang="en-US" sz="1100"/>
                    </a:p>
                  </a:txBody>
                  <a:tcPr marL="190500" marR="190500" marT="190500" marB="190500" anchor="ctr">
                    <a:lnL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768350">
                <a:tc>
                  <a:txBody>
                    <a:bodyPr/>
                    <a:lstStyle/>
                    <a:p>
                      <a:pPr algn="ctr">
                        <a:lnSpc>
                          <a:spcPts val="2520"/>
                        </a:lnSpc>
                        <a:defRPr/>
                      </a:pPr>
                      <a:r>
                        <a:rPr lang="en-US" sz="1800">
                          <a:solidFill>
                            <a:srgbClr val="000000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2017-08-06</a:t>
                      </a:r>
                      <a:endParaRPr lang="en-US" sz="1100"/>
                    </a:p>
                  </a:txBody>
                  <a:tcPr marL="190500" marR="190500" marT="190500" marB="190500" anchor="ctr">
                    <a:lnL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520"/>
                        </a:lnSpc>
                        <a:defRPr/>
                      </a:pPr>
                      <a:r>
                        <a:rPr lang="en-US" sz="1800">
                          <a:solidFill>
                            <a:srgbClr val="000000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-0.38930997 </a:t>
                      </a:r>
                      <a:endParaRPr lang="en-US" sz="1100"/>
                    </a:p>
                  </a:txBody>
                  <a:tcPr marL="190500" marR="190500" marT="190500" marB="190500" anchor="ctr">
                    <a:lnL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768350">
                <a:tc>
                  <a:txBody>
                    <a:bodyPr/>
                    <a:lstStyle/>
                    <a:p>
                      <a:pPr algn="ctr">
                        <a:lnSpc>
                          <a:spcPts val="2520"/>
                        </a:lnSpc>
                        <a:defRPr/>
                      </a:pPr>
                      <a:r>
                        <a:rPr lang="en-US" sz="1800">
                          <a:solidFill>
                            <a:srgbClr val="000000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2017-04-30</a:t>
                      </a:r>
                      <a:endParaRPr lang="en-US" sz="1100"/>
                    </a:p>
                  </a:txBody>
                  <a:tcPr marL="190500" marR="190500" marT="190500" marB="190500" anchor="ctr">
                    <a:lnL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520"/>
                        </a:lnSpc>
                        <a:defRPr/>
                      </a:pPr>
                      <a:r>
                        <a:rPr lang="en-US" sz="1800">
                          <a:solidFill>
                            <a:srgbClr val="000000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-0.33714759</a:t>
                      </a:r>
                      <a:endParaRPr lang="en-US" sz="1100"/>
                    </a:p>
                  </a:txBody>
                  <a:tcPr marL="190500" marR="190500" marT="190500" marB="190500" anchor="ctr">
                    <a:lnL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768350">
                <a:tc>
                  <a:txBody>
                    <a:bodyPr/>
                    <a:lstStyle/>
                    <a:p>
                      <a:pPr algn="ctr">
                        <a:lnSpc>
                          <a:spcPts val="2520"/>
                        </a:lnSpc>
                        <a:defRPr/>
                      </a:pPr>
                      <a:r>
                        <a:rPr lang="en-US" sz="1800">
                          <a:solidFill>
                            <a:srgbClr val="000000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2016-12-11</a:t>
                      </a:r>
                      <a:endParaRPr lang="en-US" sz="1100"/>
                    </a:p>
                  </a:txBody>
                  <a:tcPr marL="190500" marR="190500" marT="190500" marB="190500" anchor="ctr">
                    <a:lnL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520"/>
                        </a:lnSpc>
                        <a:defRPr/>
                      </a:pPr>
                      <a:r>
                        <a:rPr lang="en-US" sz="1800">
                          <a:solidFill>
                            <a:srgbClr val="000000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-0.01465102</a:t>
                      </a:r>
                      <a:endParaRPr lang="en-US" sz="1100"/>
                    </a:p>
                  </a:txBody>
                  <a:tcPr marL="190500" marR="190500" marT="190500" marB="190500" anchor="ctr">
                    <a:lnL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768350">
                <a:tc>
                  <a:txBody>
                    <a:bodyPr/>
                    <a:lstStyle/>
                    <a:p>
                      <a:pPr algn="ctr">
                        <a:lnSpc>
                          <a:spcPts val="2520"/>
                        </a:lnSpc>
                        <a:defRPr/>
                      </a:pPr>
                      <a:r>
                        <a:rPr lang="en-US" sz="1800">
                          <a:solidFill>
                            <a:srgbClr val="AA1313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2015-05-24</a:t>
                      </a:r>
                      <a:endParaRPr lang="en-US" sz="1100"/>
                    </a:p>
                  </a:txBody>
                  <a:tcPr marL="190500" marR="190500" marT="190500" marB="190500" anchor="ctr">
                    <a:lnL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520"/>
                        </a:lnSpc>
                        <a:defRPr/>
                      </a:pPr>
                      <a:r>
                        <a:rPr lang="en-US" sz="1800" dirty="0">
                          <a:solidFill>
                            <a:srgbClr val="AA1313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-0.0035716004</a:t>
                      </a:r>
                      <a:endParaRPr lang="en-US" sz="1100" dirty="0"/>
                    </a:p>
                  </a:txBody>
                  <a:tcPr marL="190500" marR="190500" marT="190500" marB="190500" anchor="ctr">
                    <a:lnL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graphicFrame>
        <p:nvGraphicFramePr>
          <p:cNvPr id="5" name="Table 5"/>
          <p:cNvGraphicFramePr>
            <a:graphicFrameLocks noGrp="1"/>
          </p:cNvGraphicFramePr>
          <p:nvPr/>
        </p:nvGraphicFramePr>
        <p:xfrm>
          <a:off x="13543503" y="4078157"/>
          <a:ext cx="4481795" cy="4610100"/>
        </p:xfrm>
        <a:graphic>
          <a:graphicData uri="http://schemas.openxmlformats.org/drawingml/2006/table">
            <a:tbl>
              <a:tblPr/>
              <a:tblGrid>
                <a:gridCol w="181400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66778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768350">
                <a:tc>
                  <a:txBody>
                    <a:bodyPr/>
                    <a:lstStyle/>
                    <a:p>
                      <a:pPr algn="ctr">
                        <a:lnSpc>
                          <a:spcPts val="2520"/>
                        </a:lnSpc>
                        <a:defRPr/>
                      </a:pPr>
                      <a:r>
                        <a:rPr lang="en-US" sz="1800" b="1">
                          <a:solidFill>
                            <a:srgbClr val="000000"/>
                          </a:solidFill>
                          <a:latin typeface="DM Sans Bold"/>
                          <a:ea typeface="DM Sans Bold"/>
                          <a:cs typeface="DM Sans Bold"/>
                          <a:sym typeface="DM Sans Bold"/>
                        </a:rPr>
                        <a:t>2016-04-17</a:t>
                      </a:r>
                      <a:endParaRPr lang="en-US" sz="1100"/>
                    </a:p>
                  </a:txBody>
                  <a:tcPr marL="190500" marR="190500" marT="190500" marB="190500" anchor="ctr">
                    <a:lnL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520"/>
                        </a:lnSpc>
                        <a:defRPr/>
                      </a:pPr>
                      <a:r>
                        <a:rPr lang="en-US" sz="1800" b="1">
                          <a:solidFill>
                            <a:srgbClr val="000000"/>
                          </a:solidFill>
                          <a:latin typeface="DM Sans Bold"/>
                          <a:ea typeface="DM Sans Bold"/>
                          <a:cs typeface="DM Sans Bold"/>
                          <a:sym typeface="DM Sans Bold"/>
                        </a:rPr>
                        <a:t>0.025778616</a:t>
                      </a:r>
                      <a:endParaRPr lang="en-US" sz="1100"/>
                    </a:p>
                  </a:txBody>
                  <a:tcPr marL="190500" marR="190500" marT="190500" marB="190500" anchor="ctr">
                    <a:lnL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768350">
                <a:tc>
                  <a:txBody>
                    <a:bodyPr/>
                    <a:lstStyle/>
                    <a:p>
                      <a:pPr algn="ctr">
                        <a:lnSpc>
                          <a:spcPts val="2520"/>
                        </a:lnSpc>
                        <a:defRPr/>
                      </a:pPr>
                      <a:r>
                        <a:rPr lang="en-US" sz="1800">
                          <a:solidFill>
                            <a:srgbClr val="000000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2016-06-05</a:t>
                      </a:r>
                      <a:endParaRPr lang="en-US" sz="1100"/>
                    </a:p>
                  </a:txBody>
                  <a:tcPr marL="190500" marR="190500" marT="190500" marB="190500" anchor="ctr">
                    <a:lnL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520"/>
                        </a:lnSpc>
                        <a:defRPr/>
                      </a:pPr>
                      <a:r>
                        <a:rPr lang="en-US" sz="1800">
                          <a:solidFill>
                            <a:srgbClr val="000000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0.024583458</a:t>
                      </a:r>
                      <a:endParaRPr lang="en-US" sz="1100"/>
                    </a:p>
                  </a:txBody>
                  <a:tcPr marL="190500" marR="190500" marT="190500" marB="190500" anchor="ctr">
                    <a:lnL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768350">
                <a:tc>
                  <a:txBody>
                    <a:bodyPr/>
                    <a:lstStyle/>
                    <a:p>
                      <a:pPr algn="ctr">
                        <a:lnSpc>
                          <a:spcPts val="2520"/>
                        </a:lnSpc>
                        <a:defRPr/>
                      </a:pPr>
                      <a:r>
                        <a:rPr lang="en-US" sz="1800">
                          <a:solidFill>
                            <a:srgbClr val="000000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2016-07-24 </a:t>
                      </a:r>
                      <a:endParaRPr lang="en-US" sz="1100"/>
                    </a:p>
                  </a:txBody>
                  <a:tcPr marL="190500" marR="190500" marT="190500" marB="190500" anchor="ctr">
                    <a:lnL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520"/>
                        </a:lnSpc>
                        <a:defRPr/>
                      </a:pPr>
                      <a:r>
                        <a:rPr lang="en-US" sz="1800">
                          <a:solidFill>
                            <a:srgbClr val="000000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0.015160248</a:t>
                      </a:r>
                      <a:endParaRPr lang="en-US" sz="1100"/>
                    </a:p>
                  </a:txBody>
                  <a:tcPr marL="190500" marR="190500" marT="190500" marB="190500" anchor="ctr">
                    <a:lnL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768350">
                <a:tc>
                  <a:txBody>
                    <a:bodyPr/>
                    <a:lstStyle/>
                    <a:p>
                      <a:pPr algn="ctr">
                        <a:lnSpc>
                          <a:spcPts val="2520"/>
                        </a:lnSpc>
                        <a:defRPr/>
                      </a:pPr>
                      <a:r>
                        <a:rPr lang="en-US" sz="1800">
                          <a:solidFill>
                            <a:srgbClr val="000000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2016-02-28</a:t>
                      </a:r>
                      <a:endParaRPr lang="en-US" sz="1100"/>
                    </a:p>
                  </a:txBody>
                  <a:tcPr marL="190500" marR="190500" marT="190500" marB="190500" anchor="ctr">
                    <a:lnL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520"/>
                        </a:lnSpc>
                        <a:defRPr/>
                      </a:pPr>
                      <a:r>
                        <a:rPr lang="en-US" sz="1800">
                          <a:solidFill>
                            <a:srgbClr val="000000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0.01043701</a:t>
                      </a:r>
                      <a:endParaRPr lang="en-US" sz="1100"/>
                    </a:p>
                  </a:txBody>
                  <a:tcPr marL="190500" marR="190500" marT="190500" marB="190500" anchor="ctr">
                    <a:lnL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768350">
                <a:tc>
                  <a:txBody>
                    <a:bodyPr/>
                    <a:lstStyle/>
                    <a:p>
                      <a:pPr algn="ctr">
                        <a:lnSpc>
                          <a:spcPts val="2520"/>
                        </a:lnSpc>
                        <a:defRPr/>
                      </a:pPr>
                      <a:r>
                        <a:rPr lang="en-US" sz="1800">
                          <a:solidFill>
                            <a:srgbClr val="AA1313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2016-01-17 </a:t>
                      </a:r>
                      <a:endParaRPr lang="en-US" sz="1100"/>
                    </a:p>
                  </a:txBody>
                  <a:tcPr marL="190500" marR="190500" marT="190500" marB="190500" anchor="ctr">
                    <a:lnL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520"/>
                        </a:lnSpc>
                        <a:defRPr/>
                      </a:pPr>
                      <a:r>
                        <a:rPr lang="en-US" sz="1800">
                          <a:solidFill>
                            <a:srgbClr val="AA1313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0.0057587383</a:t>
                      </a:r>
                      <a:endParaRPr lang="en-US" sz="1100"/>
                    </a:p>
                  </a:txBody>
                  <a:tcPr marL="190500" marR="190500" marT="190500" marB="190500" anchor="ctr">
                    <a:lnL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768350">
                <a:tc>
                  <a:txBody>
                    <a:bodyPr/>
                    <a:lstStyle/>
                    <a:p>
                      <a:pPr algn="ctr">
                        <a:lnSpc>
                          <a:spcPts val="2520"/>
                        </a:lnSpc>
                        <a:defRPr/>
                      </a:pPr>
                      <a:r>
                        <a:rPr lang="en-US" sz="1800">
                          <a:solidFill>
                            <a:srgbClr val="AA1313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2016-09-04</a:t>
                      </a:r>
                      <a:endParaRPr lang="en-US" sz="1100"/>
                    </a:p>
                  </a:txBody>
                  <a:tcPr marL="190500" marR="190500" marT="190500" marB="190500" anchor="ctr">
                    <a:lnL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520"/>
                        </a:lnSpc>
                        <a:defRPr/>
                      </a:pPr>
                      <a:r>
                        <a:rPr lang="en-US" sz="1800">
                          <a:solidFill>
                            <a:srgbClr val="AA1313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0.001433785</a:t>
                      </a:r>
                      <a:endParaRPr lang="en-US" sz="1100"/>
                    </a:p>
                  </a:txBody>
                  <a:tcPr marL="190500" marR="190500" marT="190500" marB="190500" anchor="ctr">
                    <a:lnL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6" name="TextBox 6"/>
          <p:cNvSpPr txBox="1"/>
          <p:nvPr/>
        </p:nvSpPr>
        <p:spPr>
          <a:xfrm>
            <a:off x="713167" y="3138356"/>
            <a:ext cx="15330077" cy="59690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899"/>
              </a:lnSpc>
              <a:spcBef>
                <a:spcPct val="0"/>
              </a:spcBef>
            </a:pPr>
            <a:r>
              <a:rPr lang="en-US" sz="3499">
                <a:solidFill>
                  <a:srgbClr val="000000"/>
                </a:solidFill>
                <a:latin typeface="Josefin Sans"/>
                <a:ea typeface="Josefin Sans"/>
                <a:cs typeface="Josefin Sans"/>
                <a:sym typeface="Josefin Sans"/>
              </a:rPr>
              <a:t>Mỗi changepoint có 1 giá trị delta thể hiện mức độ thay đổi xu hướng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15713082" y="3280238"/>
            <a:ext cx="2591362" cy="6064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900"/>
              </a:lnSpc>
              <a:spcBef>
                <a:spcPct val="0"/>
              </a:spcBef>
            </a:pPr>
            <a:r>
              <a:rPr lang="en-US" sz="3500" b="1">
                <a:gradFill>
                  <a:gsLst>
                    <a:gs pos="0">
                      <a:srgbClr val="2D8BBA">
                        <a:alpha val="100000"/>
                      </a:srgbClr>
                    </a:gs>
                    <a:gs pos="100000">
                      <a:srgbClr val="192385">
                        <a:alpha val="100000"/>
                      </a:srgbClr>
                    </a:gs>
                  </a:gsLst>
                  <a:lin ang="0"/>
                </a:gradFill>
                <a:latin typeface="Josefin Sans Bold"/>
                <a:ea typeface="Josefin Sans Bold"/>
                <a:cs typeface="Josefin Sans Bold"/>
                <a:sym typeface="Josefin Sans Bold"/>
              </a:rPr>
              <a:t>underfitting</a:t>
            </a:r>
          </a:p>
        </p:txBody>
      </p:sp>
      <p:pic>
        <p:nvPicPr>
          <p:cNvPr id="8" name="Picture 8"/>
          <p:cNvPicPr>
            <a:picLocks noChangeAspect="1"/>
          </p:cNvPicPr>
          <p:nvPr/>
        </p:nvPicPr>
        <p:blipFill>
          <a:blip r:embed="rId4"/>
          <a:srcRect/>
          <a:stretch>
            <a:fillRect/>
          </a:stretch>
        </p:blipFill>
        <p:spPr>
          <a:xfrm>
            <a:off x="3539054" y="8351706"/>
            <a:ext cx="2918328" cy="682756"/>
          </a:xfrm>
          <a:prstGeom prst="rect">
            <a:avLst/>
          </a:prstGeom>
        </p:spPr>
      </p:pic>
      <p:sp>
        <p:nvSpPr>
          <p:cNvPr id="9" name="TextBox 9"/>
          <p:cNvSpPr txBox="1"/>
          <p:nvPr/>
        </p:nvSpPr>
        <p:spPr>
          <a:xfrm>
            <a:off x="1715413" y="525780"/>
            <a:ext cx="14857174" cy="82740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5334"/>
              </a:lnSpc>
            </a:pPr>
            <a:r>
              <a:rPr lang="en-US" sz="5499">
                <a:solidFill>
                  <a:srgbClr val="090147"/>
                </a:solidFill>
                <a:latin typeface="Bungee"/>
                <a:ea typeface="Bungee"/>
                <a:cs typeface="Bungee"/>
                <a:sym typeface="Bungee"/>
              </a:rPr>
              <a:t>RECIPE 3-3: ĐIỀU CHỈNH XU HƯỚNG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1783869" y="1814686"/>
            <a:ext cx="14788718" cy="71932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5406"/>
              </a:lnSpc>
              <a:spcBef>
                <a:spcPct val="0"/>
              </a:spcBef>
            </a:pPr>
            <a:r>
              <a:rPr lang="en-US" sz="5100">
                <a:solidFill>
                  <a:srgbClr val="4288DD"/>
                </a:solidFill>
                <a:latin typeface="Josefin Sans"/>
                <a:ea typeface="Josefin Sans"/>
                <a:cs typeface="Josefin Sans"/>
                <a:sym typeface="Josefin Sans"/>
              </a:rPr>
              <a:t>Cơ chế hoạt động của changepoint_prior_scale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1377319" y="4201982"/>
            <a:ext cx="5929917" cy="59690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899"/>
              </a:lnSpc>
              <a:spcBef>
                <a:spcPct val="0"/>
              </a:spcBef>
            </a:pPr>
            <a:r>
              <a:rPr lang="en-US" sz="3499">
                <a:solidFill>
                  <a:srgbClr val="000000"/>
                </a:solidFill>
                <a:latin typeface="Josefin Sans"/>
                <a:ea typeface="Josefin Sans"/>
                <a:cs typeface="Josefin Sans"/>
                <a:sym typeface="Josefin Sans"/>
              </a:rPr>
              <a:t>Delta bị ảnh hưởng bởi scale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1386844" y="5398958"/>
            <a:ext cx="5929917" cy="59690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899"/>
              </a:lnSpc>
              <a:spcBef>
                <a:spcPct val="0"/>
              </a:spcBef>
            </a:pPr>
            <a:r>
              <a:rPr lang="en-US" sz="3499">
                <a:solidFill>
                  <a:srgbClr val="000000"/>
                </a:solidFill>
                <a:latin typeface="Josefin Sans"/>
                <a:ea typeface="Josefin Sans"/>
                <a:cs typeface="Josefin Sans"/>
                <a:sym typeface="Josefin Sans"/>
              </a:rPr>
              <a:t>Các delta nhỏ sẽ bị đưa về 0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9670667" y="8977312"/>
            <a:ext cx="2655857" cy="50482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199"/>
              </a:lnSpc>
              <a:spcBef>
                <a:spcPct val="0"/>
              </a:spcBef>
            </a:pPr>
            <a:r>
              <a:rPr lang="en-US" sz="2999">
                <a:solidFill>
                  <a:srgbClr val="000000"/>
                </a:solidFill>
                <a:latin typeface="Josefin Sans"/>
                <a:ea typeface="Josefin Sans"/>
                <a:cs typeface="Josefin Sans"/>
                <a:sym typeface="Josefin Sans"/>
              </a:rPr>
              <a:t>scale = 0.08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14949553" y="9031157"/>
            <a:ext cx="2556633" cy="50482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199"/>
              </a:lnSpc>
              <a:spcBef>
                <a:spcPct val="0"/>
              </a:spcBef>
            </a:pPr>
            <a:r>
              <a:rPr lang="en-US" sz="2999">
                <a:solidFill>
                  <a:srgbClr val="000000"/>
                </a:solidFill>
                <a:latin typeface="Josefin Sans"/>
                <a:ea typeface="Josefin Sans"/>
                <a:cs typeface="Josefin Sans"/>
                <a:sym typeface="Josefin Sans"/>
              </a:rPr>
              <a:t>scale = 0.001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3574994" y="8428037"/>
            <a:ext cx="2828783" cy="6064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900"/>
              </a:lnSpc>
              <a:spcBef>
                <a:spcPct val="0"/>
              </a:spcBef>
            </a:pPr>
            <a:r>
              <a:rPr lang="en-US" sz="3500" b="1">
                <a:gradFill>
                  <a:gsLst>
                    <a:gs pos="0">
                      <a:srgbClr val="2D8BBA">
                        <a:alpha val="100000"/>
                      </a:srgbClr>
                    </a:gs>
                    <a:gs pos="100000">
                      <a:srgbClr val="192385">
                        <a:alpha val="100000"/>
                      </a:srgbClr>
                    </a:gs>
                  </a:gsLst>
                  <a:lin ang="0"/>
                </a:gradFill>
                <a:latin typeface="Josefin Sans Bold"/>
                <a:ea typeface="Josefin Sans Bold"/>
                <a:cs typeface="Josefin Sans Bold"/>
                <a:sym typeface="Josefin Sans Bold"/>
              </a:rPr>
              <a:t> overfitting </a:t>
            </a:r>
          </a:p>
        </p:txBody>
      </p:sp>
      <p:sp>
        <p:nvSpPr>
          <p:cNvPr id="16" name="TextBox 16"/>
          <p:cNvSpPr txBox="1"/>
          <p:nvPr/>
        </p:nvSpPr>
        <p:spPr>
          <a:xfrm>
            <a:off x="233015" y="6459407"/>
            <a:ext cx="8523326" cy="12255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900"/>
              </a:lnSpc>
              <a:spcBef>
                <a:spcPct val="0"/>
              </a:spcBef>
            </a:pPr>
            <a:r>
              <a:rPr lang="en-US" sz="3500" b="1">
                <a:gradFill>
                  <a:gsLst>
                    <a:gs pos="0">
                      <a:srgbClr val="2D8BBA">
                        <a:alpha val="100000"/>
                      </a:srgbClr>
                    </a:gs>
                    <a:gs pos="100000">
                      <a:srgbClr val="192385">
                        <a:alpha val="100000"/>
                      </a:srgbClr>
                    </a:gs>
                  </a:gsLst>
                  <a:lin ang="0"/>
                </a:gradFill>
                <a:latin typeface="Josefin Sans Bold"/>
                <a:ea typeface="Josefin Sans Bold"/>
                <a:cs typeface="Josefin Sans Bold"/>
                <a:sym typeface="Josefin Sans Bold"/>
              </a:rPr>
              <a:t>=&gt; giải quyết vấn đề overfitting hoặc underfitting của mô hình</a:t>
            </a:r>
          </a:p>
        </p:txBody>
      </p:sp>
      <p:pic>
        <p:nvPicPr>
          <p:cNvPr id="17" name="Picture 17"/>
          <p:cNvPicPr>
            <a:picLocks noChangeAspect="1"/>
          </p:cNvPicPr>
          <p:nvPr/>
        </p:nvPicPr>
        <p:blipFill>
          <a:blip r:embed="rId4"/>
          <a:srcRect/>
          <a:stretch>
            <a:fillRect/>
          </a:stretch>
        </p:blipFill>
        <p:spPr>
          <a:xfrm>
            <a:off x="15565999" y="3211581"/>
            <a:ext cx="2885528" cy="675082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EF6F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-2078885" y="-1028700"/>
            <a:ext cx="4062430" cy="4114800"/>
          </a:xfrm>
          <a:custGeom>
            <a:avLst/>
            <a:gdLst/>
            <a:ahLst/>
            <a:cxnLst/>
            <a:rect l="l" t="t" r="r" b="b"/>
            <a:pathLst>
              <a:path w="4062430" h="4114800">
                <a:moveTo>
                  <a:pt x="0" y="0"/>
                </a:moveTo>
                <a:lnTo>
                  <a:pt x="4062430" y="0"/>
                </a:lnTo>
                <a:lnTo>
                  <a:pt x="4062430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3" name="Freeform 3"/>
          <p:cNvSpPr/>
          <p:nvPr/>
        </p:nvSpPr>
        <p:spPr>
          <a:xfrm flipH="1" flipV="1">
            <a:off x="14932275" y="-253970"/>
            <a:ext cx="7147278" cy="3993541"/>
          </a:xfrm>
          <a:custGeom>
            <a:avLst/>
            <a:gdLst/>
            <a:ahLst/>
            <a:cxnLst/>
            <a:rect l="l" t="t" r="r" b="b"/>
            <a:pathLst>
              <a:path w="7147278" h="3993541">
                <a:moveTo>
                  <a:pt x="7147278" y="3993541"/>
                </a:moveTo>
                <a:lnTo>
                  <a:pt x="0" y="3993541"/>
                </a:lnTo>
                <a:lnTo>
                  <a:pt x="0" y="0"/>
                </a:lnTo>
                <a:lnTo>
                  <a:pt x="7147278" y="0"/>
                </a:lnTo>
                <a:lnTo>
                  <a:pt x="7147278" y="3993541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grpSp>
        <p:nvGrpSpPr>
          <p:cNvPr id="4" name="Group 4"/>
          <p:cNvGrpSpPr/>
          <p:nvPr/>
        </p:nvGrpSpPr>
        <p:grpSpPr>
          <a:xfrm>
            <a:off x="3224515" y="3323983"/>
            <a:ext cx="11838969" cy="6503966"/>
            <a:chOff x="0" y="0"/>
            <a:chExt cx="15785292" cy="8671955"/>
          </a:xfrm>
        </p:grpSpPr>
        <p:grpSp>
          <p:nvGrpSpPr>
            <p:cNvPr id="5" name="Group 5"/>
            <p:cNvGrpSpPr/>
            <p:nvPr/>
          </p:nvGrpSpPr>
          <p:grpSpPr>
            <a:xfrm>
              <a:off x="0" y="0"/>
              <a:ext cx="15516427" cy="8225383"/>
              <a:chOff x="0" y="0"/>
              <a:chExt cx="3064973" cy="1624767"/>
            </a:xfrm>
          </p:grpSpPr>
          <p:sp>
            <p:nvSpPr>
              <p:cNvPr id="6" name="Freeform 6"/>
              <p:cNvSpPr/>
              <p:nvPr/>
            </p:nvSpPr>
            <p:spPr>
              <a:xfrm>
                <a:off x="0" y="0"/>
                <a:ext cx="3064973" cy="1624767"/>
              </a:xfrm>
              <a:custGeom>
                <a:avLst/>
                <a:gdLst/>
                <a:ahLst/>
                <a:cxnLst/>
                <a:rect l="l" t="t" r="r" b="b"/>
                <a:pathLst>
                  <a:path w="3064973" h="1624767">
                    <a:moveTo>
                      <a:pt x="33929" y="0"/>
                    </a:moveTo>
                    <a:lnTo>
                      <a:pt x="3031045" y="0"/>
                    </a:lnTo>
                    <a:cubicBezTo>
                      <a:pt x="3049783" y="0"/>
                      <a:pt x="3064973" y="15190"/>
                      <a:pt x="3064973" y="33929"/>
                    </a:cubicBezTo>
                    <a:lnTo>
                      <a:pt x="3064973" y="1590839"/>
                    </a:lnTo>
                    <a:cubicBezTo>
                      <a:pt x="3064973" y="1609577"/>
                      <a:pt x="3049783" y="1624767"/>
                      <a:pt x="3031045" y="1624767"/>
                    </a:cubicBezTo>
                    <a:lnTo>
                      <a:pt x="33929" y="1624767"/>
                    </a:lnTo>
                    <a:cubicBezTo>
                      <a:pt x="15190" y="1624767"/>
                      <a:pt x="0" y="1609577"/>
                      <a:pt x="0" y="1590839"/>
                    </a:cubicBezTo>
                    <a:lnTo>
                      <a:pt x="0" y="33929"/>
                    </a:lnTo>
                    <a:cubicBezTo>
                      <a:pt x="0" y="15190"/>
                      <a:pt x="15190" y="0"/>
                      <a:pt x="33929" y="0"/>
                    </a:cubicBezTo>
                    <a:close/>
                  </a:path>
                </a:pathLst>
              </a:custGeom>
              <a:solidFill>
                <a:srgbClr val="E9EBF7"/>
              </a:solidFill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7" name="TextBox 7"/>
              <p:cNvSpPr txBox="1"/>
              <p:nvPr/>
            </p:nvSpPr>
            <p:spPr>
              <a:xfrm>
                <a:off x="0" y="-38100"/>
                <a:ext cx="3064973" cy="1662867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659"/>
                  </a:lnSpc>
                  <a:spcBef>
                    <a:spcPct val="0"/>
                  </a:spcBef>
                </a:pPr>
                <a:endParaRPr/>
              </a:p>
            </p:txBody>
          </p:sp>
        </p:grpSp>
        <p:sp>
          <p:nvSpPr>
            <p:cNvPr id="8" name="TextBox 8"/>
            <p:cNvSpPr txBox="1"/>
            <p:nvPr/>
          </p:nvSpPr>
          <p:spPr>
            <a:xfrm>
              <a:off x="273401" y="172480"/>
              <a:ext cx="15511891" cy="8499475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4200"/>
                </a:lnSpc>
                <a:spcBef>
                  <a:spcPct val="0"/>
                </a:spcBef>
              </a:pPr>
              <a:r>
                <a:rPr lang="en-US" sz="3000">
                  <a:solidFill>
                    <a:srgbClr val="000000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holidays_df = pd.DataFrame({</a:t>
              </a:r>
            </a:p>
            <a:p>
              <a:pPr algn="l">
                <a:lnSpc>
                  <a:spcPts val="4200"/>
                </a:lnSpc>
                <a:spcBef>
                  <a:spcPct val="0"/>
                </a:spcBef>
              </a:pPr>
              <a:r>
                <a:rPr lang="en-US" sz="3000">
                  <a:solidFill>
                    <a:srgbClr val="000000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 'holiday': 'avocado season',</a:t>
              </a:r>
            </a:p>
            <a:p>
              <a:pPr algn="l">
                <a:lnSpc>
                  <a:spcPts val="4200"/>
                </a:lnSpc>
                <a:spcBef>
                  <a:spcPct val="0"/>
                </a:spcBef>
              </a:pPr>
              <a:r>
                <a:rPr lang="en-US" sz="3000">
                  <a:solidFill>
                    <a:srgbClr val="000000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 'ds': pd.to_datetime(['2014-07-31', '2014-09-16', </a:t>
              </a:r>
            </a:p>
            <a:p>
              <a:pPr algn="l">
                <a:lnSpc>
                  <a:spcPts val="4200"/>
                </a:lnSpc>
                <a:spcBef>
                  <a:spcPct val="0"/>
                </a:spcBef>
              </a:pPr>
              <a:r>
                <a:rPr lang="en-US" sz="3000">
                  <a:solidFill>
                    <a:srgbClr val="000000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            '2015-07-31', '2015-09-16',</a:t>
              </a:r>
            </a:p>
            <a:p>
              <a:pPr algn="l">
                <a:lnSpc>
                  <a:spcPts val="4200"/>
                </a:lnSpc>
                <a:spcBef>
                  <a:spcPct val="0"/>
                </a:spcBef>
              </a:pPr>
              <a:r>
                <a:rPr lang="en-US" sz="3000">
                  <a:solidFill>
                    <a:srgbClr val="000000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            '2016-07-31', '2016-09-16',</a:t>
              </a:r>
            </a:p>
            <a:p>
              <a:pPr algn="l">
                <a:lnSpc>
                  <a:spcPts val="4200"/>
                </a:lnSpc>
                <a:spcBef>
                  <a:spcPct val="0"/>
                </a:spcBef>
              </a:pPr>
              <a:r>
                <a:rPr lang="en-US" sz="3000">
                  <a:solidFill>
                    <a:srgbClr val="000000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            '2017-07-31', '2017-09-16',</a:t>
              </a:r>
            </a:p>
            <a:p>
              <a:pPr algn="l">
                <a:lnSpc>
                  <a:spcPts val="4200"/>
                </a:lnSpc>
                <a:spcBef>
                  <a:spcPct val="0"/>
                </a:spcBef>
              </a:pPr>
              <a:r>
                <a:rPr lang="en-US" sz="3000">
                  <a:solidFill>
                    <a:srgbClr val="000000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            '2018-07-31', '2018-09-16',</a:t>
              </a:r>
            </a:p>
            <a:p>
              <a:pPr algn="l">
                <a:lnSpc>
                  <a:spcPts val="4200"/>
                </a:lnSpc>
                <a:spcBef>
                  <a:spcPct val="0"/>
                </a:spcBef>
              </a:pPr>
              <a:r>
                <a:rPr lang="en-US" sz="3000">
                  <a:solidFill>
                    <a:srgbClr val="000000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            '2019-07-31', '2019-09-16']),</a:t>
              </a:r>
            </a:p>
            <a:p>
              <a:pPr algn="l">
                <a:lnSpc>
                  <a:spcPts val="4200"/>
                </a:lnSpc>
                <a:spcBef>
                  <a:spcPct val="0"/>
                </a:spcBef>
              </a:pPr>
              <a:r>
                <a:rPr lang="en-US" sz="3000">
                  <a:solidFill>
                    <a:srgbClr val="000000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 'lower_window': -1,</a:t>
              </a:r>
            </a:p>
            <a:p>
              <a:pPr algn="l">
                <a:lnSpc>
                  <a:spcPts val="4200"/>
                </a:lnSpc>
                <a:spcBef>
                  <a:spcPct val="0"/>
                </a:spcBef>
              </a:pPr>
              <a:r>
                <a:rPr lang="en-US" sz="3000">
                  <a:solidFill>
                    <a:srgbClr val="000000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 'upper_window': 0,</a:t>
              </a:r>
            </a:p>
            <a:p>
              <a:pPr algn="l">
                <a:lnSpc>
                  <a:spcPts val="4200"/>
                </a:lnSpc>
                <a:spcBef>
                  <a:spcPct val="0"/>
                </a:spcBef>
              </a:pPr>
              <a:r>
                <a:rPr lang="en-US" sz="3000">
                  <a:solidFill>
                    <a:srgbClr val="000000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})</a:t>
              </a:r>
            </a:p>
            <a:p>
              <a:pPr algn="l">
                <a:lnSpc>
                  <a:spcPts val="4200"/>
                </a:lnSpc>
                <a:spcBef>
                  <a:spcPct val="0"/>
                </a:spcBef>
              </a:pPr>
              <a:endParaRPr lang="en-US" sz="3000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endParaRPr>
            </a:p>
          </p:txBody>
        </p:sp>
      </p:grpSp>
      <p:sp>
        <p:nvSpPr>
          <p:cNvPr id="9" name="TextBox 9"/>
          <p:cNvSpPr txBox="1"/>
          <p:nvPr/>
        </p:nvSpPr>
        <p:spPr>
          <a:xfrm>
            <a:off x="3284699" y="368759"/>
            <a:ext cx="11718602" cy="82740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5334"/>
              </a:lnSpc>
            </a:pPr>
            <a:r>
              <a:rPr lang="en-US" sz="5499">
                <a:solidFill>
                  <a:srgbClr val="090147"/>
                </a:solidFill>
                <a:latin typeface="Bungee"/>
                <a:ea typeface="Bungee"/>
                <a:cs typeface="Bungee"/>
                <a:sym typeface="Bungee"/>
              </a:rPr>
              <a:t>RECIPE 3-4: TÍCH HỢP NGÀY LỄ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2264215" y="1324366"/>
            <a:ext cx="13759569" cy="111887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479"/>
              </a:lnSpc>
              <a:spcBef>
                <a:spcPct val="0"/>
              </a:spcBef>
            </a:pPr>
            <a:r>
              <a:rPr lang="en-US" sz="3199">
                <a:solidFill>
                  <a:srgbClr val="000000"/>
                </a:solidFill>
                <a:latin typeface="Josefin Sans"/>
                <a:ea typeface="Josefin Sans"/>
                <a:cs typeface="Josefin Sans"/>
                <a:sym typeface="Josefin Sans"/>
              </a:rPr>
              <a:t>Vấn đề: Giá bơ tăng đột biến vào mùa thu hoạch - nếu không nói cho mô hình biết, nó sẽ hiểu nhầm đây là quy luật bình thường → dự báo bị lệch.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3520198" y="2567062"/>
            <a:ext cx="11247605" cy="55689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479"/>
              </a:lnSpc>
              <a:spcBef>
                <a:spcPct val="0"/>
              </a:spcBef>
            </a:pPr>
            <a:r>
              <a:rPr lang="en-US" sz="3199">
                <a:solidFill>
                  <a:srgbClr val="AA1313"/>
                </a:solidFill>
                <a:latin typeface="Josefin Sans"/>
                <a:ea typeface="Josefin Sans"/>
                <a:cs typeface="Josefin Sans"/>
                <a:sym typeface="Josefin Sans"/>
              </a:rPr>
              <a:t>Giải pháp: Cung cấp thông tin ngày lễ → Không học nhầm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EF6F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-2078885" y="-1028700"/>
            <a:ext cx="4062430" cy="4114800"/>
          </a:xfrm>
          <a:custGeom>
            <a:avLst/>
            <a:gdLst/>
            <a:ahLst/>
            <a:cxnLst/>
            <a:rect l="l" t="t" r="r" b="b"/>
            <a:pathLst>
              <a:path w="4062430" h="4114800">
                <a:moveTo>
                  <a:pt x="0" y="0"/>
                </a:moveTo>
                <a:lnTo>
                  <a:pt x="4062430" y="0"/>
                </a:lnTo>
                <a:lnTo>
                  <a:pt x="4062430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3" name="Freeform 3"/>
          <p:cNvSpPr/>
          <p:nvPr/>
        </p:nvSpPr>
        <p:spPr>
          <a:xfrm flipH="1" flipV="1">
            <a:off x="14932275" y="-253970"/>
            <a:ext cx="7147278" cy="3993541"/>
          </a:xfrm>
          <a:custGeom>
            <a:avLst/>
            <a:gdLst/>
            <a:ahLst/>
            <a:cxnLst/>
            <a:rect l="l" t="t" r="r" b="b"/>
            <a:pathLst>
              <a:path w="7147278" h="3993541">
                <a:moveTo>
                  <a:pt x="7147278" y="3993541"/>
                </a:moveTo>
                <a:lnTo>
                  <a:pt x="0" y="3993541"/>
                </a:lnTo>
                <a:lnTo>
                  <a:pt x="0" y="0"/>
                </a:lnTo>
                <a:lnTo>
                  <a:pt x="7147278" y="0"/>
                </a:lnTo>
                <a:lnTo>
                  <a:pt x="7147278" y="3993541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4" name="Freeform 4"/>
          <p:cNvSpPr/>
          <p:nvPr/>
        </p:nvSpPr>
        <p:spPr>
          <a:xfrm>
            <a:off x="3458321" y="1984166"/>
            <a:ext cx="11371358" cy="6780172"/>
          </a:xfrm>
          <a:custGeom>
            <a:avLst/>
            <a:gdLst/>
            <a:ahLst/>
            <a:cxnLst/>
            <a:rect l="l" t="t" r="r" b="b"/>
            <a:pathLst>
              <a:path w="11371358" h="6780172">
                <a:moveTo>
                  <a:pt x="0" y="0"/>
                </a:moveTo>
                <a:lnTo>
                  <a:pt x="11371358" y="0"/>
                </a:lnTo>
                <a:lnTo>
                  <a:pt x="11371358" y="6780172"/>
                </a:lnTo>
                <a:lnTo>
                  <a:pt x="0" y="6780172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5" name="TextBox 5"/>
          <p:cNvSpPr txBox="1"/>
          <p:nvPr/>
        </p:nvSpPr>
        <p:spPr>
          <a:xfrm>
            <a:off x="3284699" y="368759"/>
            <a:ext cx="11718602" cy="82740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5334"/>
              </a:lnSpc>
            </a:pPr>
            <a:r>
              <a:rPr lang="en-US" sz="5499">
                <a:solidFill>
                  <a:srgbClr val="090147"/>
                </a:solidFill>
                <a:latin typeface="Bungee"/>
                <a:ea typeface="Bungee"/>
                <a:cs typeface="Bungee"/>
                <a:sym typeface="Bungee"/>
              </a:rPr>
              <a:t>RECIPE 3-4: TÍCH HỢP NGÀY LỄ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211054" y="9191625"/>
            <a:ext cx="17865892" cy="59690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899"/>
              </a:lnSpc>
              <a:spcBef>
                <a:spcPct val="0"/>
              </a:spcBef>
            </a:pPr>
            <a:r>
              <a:rPr lang="en-US" sz="3499">
                <a:solidFill>
                  <a:srgbClr val="000000"/>
                </a:solidFill>
                <a:latin typeface="Josefin Sans"/>
                <a:ea typeface="Josefin Sans"/>
                <a:cs typeface="Josefin Sans"/>
                <a:sym typeface="Josefin Sans"/>
              </a:rPr>
              <a:t>Dự báo 12 tháng tiếp theo chính xác hơn vì mô hình đã </a:t>
            </a:r>
            <a:r>
              <a:rPr lang="en-US" sz="3499">
                <a:solidFill>
                  <a:srgbClr val="AA1313"/>
                </a:solidFill>
                <a:latin typeface="Josefin Sans"/>
                <a:ea typeface="Josefin Sans"/>
                <a:cs typeface="Josefin Sans"/>
                <a:sym typeface="Josefin Sans"/>
              </a:rPr>
              <a:t>biết trước</a:t>
            </a:r>
            <a:r>
              <a:rPr lang="en-US" sz="3499">
                <a:solidFill>
                  <a:srgbClr val="000000"/>
                </a:solidFill>
                <a:latin typeface="Josefin Sans"/>
                <a:ea typeface="Josefin Sans"/>
                <a:cs typeface="Josefin Sans"/>
                <a:sym typeface="Josefin Sans"/>
              </a:rPr>
              <a:t> các đợt cao điểm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EF6F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-2044556" y="-1898422"/>
            <a:ext cx="4062430" cy="4114800"/>
          </a:xfrm>
          <a:custGeom>
            <a:avLst/>
            <a:gdLst/>
            <a:ahLst/>
            <a:cxnLst/>
            <a:rect l="l" t="t" r="r" b="b"/>
            <a:pathLst>
              <a:path w="4062430" h="4114800">
                <a:moveTo>
                  <a:pt x="0" y="0"/>
                </a:moveTo>
                <a:lnTo>
                  <a:pt x="4062430" y="0"/>
                </a:lnTo>
                <a:lnTo>
                  <a:pt x="4062430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3" name="Freeform 3"/>
          <p:cNvSpPr/>
          <p:nvPr/>
        </p:nvSpPr>
        <p:spPr>
          <a:xfrm flipH="1" flipV="1">
            <a:off x="14932275" y="-253970"/>
            <a:ext cx="7147278" cy="3993541"/>
          </a:xfrm>
          <a:custGeom>
            <a:avLst/>
            <a:gdLst/>
            <a:ahLst/>
            <a:cxnLst/>
            <a:rect l="l" t="t" r="r" b="b"/>
            <a:pathLst>
              <a:path w="7147278" h="3993541">
                <a:moveTo>
                  <a:pt x="7147278" y="3993541"/>
                </a:moveTo>
                <a:lnTo>
                  <a:pt x="0" y="3993541"/>
                </a:lnTo>
                <a:lnTo>
                  <a:pt x="0" y="0"/>
                </a:lnTo>
                <a:lnTo>
                  <a:pt x="7147278" y="0"/>
                </a:lnTo>
                <a:lnTo>
                  <a:pt x="7147278" y="3993541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grpSp>
        <p:nvGrpSpPr>
          <p:cNvPr id="4" name="Group 4"/>
          <p:cNvGrpSpPr/>
          <p:nvPr/>
        </p:nvGrpSpPr>
        <p:grpSpPr>
          <a:xfrm>
            <a:off x="341192" y="8733440"/>
            <a:ext cx="2243846" cy="1049720"/>
            <a:chOff x="0" y="0"/>
            <a:chExt cx="2991795" cy="1399627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2991795" cy="1399627"/>
            </a:xfrm>
            <a:custGeom>
              <a:avLst/>
              <a:gdLst/>
              <a:ahLst/>
              <a:cxnLst/>
              <a:rect l="l" t="t" r="r" b="b"/>
              <a:pathLst>
                <a:path w="2991795" h="1399627">
                  <a:moveTo>
                    <a:pt x="0" y="0"/>
                  </a:moveTo>
                  <a:lnTo>
                    <a:pt x="2991795" y="0"/>
                  </a:lnTo>
                  <a:lnTo>
                    <a:pt x="2991795" y="1399627"/>
                  </a:lnTo>
                  <a:lnTo>
                    <a:pt x="0" y="139962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>
                <a:extLst>
                  <a:ext uri="{96DAC541-7B7A-43D3-8B79-37D633B846F1}">
                    <asvg:svgBlip xmlns:asvg="http://schemas.microsoft.com/office/drawing/2016/SVG/main" r:embed="rId4"/>
                  </a:ext>
                </a:extLst>
              </a:blip>
              <a:stretch>
                <a:fillRect/>
              </a:stretch>
            </a:blipFill>
          </p:spPr>
          <p:txBody>
            <a:bodyPr/>
            <a:lstStyle/>
            <a:p>
              <a:endParaRPr lang="en-US"/>
            </a:p>
          </p:txBody>
        </p:sp>
        <p:grpSp>
          <p:nvGrpSpPr>
            <p:cNvPr id="6" name="Group 6"/>
            <p:cNvGrpSpPr/>
            <p:nvPr/>
          </p:nvGrpSpPr>
          <p:grpSpPr>
            <a:xfrm>
              <a:off x="16667" y="86762"/>
              <a:ext cx="1226104" cy="1226104"/>
              <a:chOff x="0" y="0"/>
              <a:chExt cx="812800" cy="812800"/>
            </a:xfrm>
          </p:grpSpPr>
          <p:sp>
            <p:nvSpPr>
              <p:cNvPr id="7" name="Freeform 7"/>
              <p:cNvSpPr/>
              <p:nvPr/>
            </p:nvSpPr>
            <p:spPr>
              <a:xfrm>
                <a:off x="0" y="0"/>
                <a:ext cx="812800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 w="95250" cap="sq">
                <a:solidFill>
                  <a:srgbClr val="C3F1FC"/>
                </a:solidFill>
                <a:prstDash val="solid"/>
                <a:miter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8" name="TextBox 8"/>
              <p:cNvSpPr txBox="1"/>
              <p:nvPr/>
            </p:nvSpPr>
            <p:spPr>
              <a:xfrm>
                <a:off x="76200" y="38100"/>
                <a:ext cx="660400" cy="698500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239"/>
                  </a:lnSpc>
                </a:pPr>
                <a:endParaRPr/>
              </a:p>
            </p:txBody>
          </p:sp>
        </p:grpSp>
        <p:sp>
          <p:nvSpPr>
            <p:cNvPr id="9" name="TextBox 9"/>
            <p:cNvSpPr txBox="1"/>
            <p:nvPr/>
          </p:nvSpPr>
          <p:spPr>
            <a:xfrm>
              <a:off x="16667" y="468911"/>
              <a:ext cx="1226104" cy="423704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2664"/>
                </a:lnSpc>
              </a:pPr>
              <a:r>
                <a:rPr lang="en-US" sz="1903" b="1">
                  <a:solidFill>
                    <a:srgbClr val="A6DF18"/>
                  </a:solidFill>
                  <a:latin typeface="DM Sans Bold"/>
                  <a:ea typeface="DM Sans Bold"/>
                  <a:cs typeface="DM Sans Bold"/>
                  <a:sym typeface="DM Sans Bold"/>
                </a:rPr>
                <a:t>01</a:t>
              </a:r>
            </a:p>
          </p:txBody>
        </p:sp>
      </p:grpSp>
      <p:grpSp>
        <p:nvGrpSpPr>
          <p:cNvPr id="10" name="Group 10"/>
          <p:cNvGrpSpPr/>
          <p:nvPr/>
        </p:nvGrpSpPr>
        <p:grpSpPr>
          <a:xfrm>
            <a:off x="1463115" y="7080905"/>
            <a:ext cx="2295315" cy="1073798"/>
            <a:chOff x="0" y="0"/>
            <a:chExt cx="3060420" cy="1431731"/>
          </a:xfrm>
        </p:grpSpPr>
        <p:sp>
          <p:nvSpPr>
            <p:cNvPr id="11" name="Freeform 11"/>
            <p:cNvSpPr/>
            <p:nvPr/>
          </p:nvSpPr>
          <p:spPr>
            <a:xfrm>
              <a:off x="0" y="0"/>
              <a:ext cx="3060420" cy="1431731"/>
            </a:xfrm>
            <a:custGeom>
              <a:avLst/>
              <a:gdLst/>
              <a:ahLst/>
              <a:cxnLst/>
              <a:rect l="l" t="t" r="r" b="b"/>
              <a:pathLst>
                <a:path w="3060420" h="1431731">
                  <a:moveTo>
                    <a:pt x="0" y="0"/>
                  </a:moveTo>
                  <a:lnTo>
                    <a:pt x="3060420" y="0"/>
                  </a:lnTo>
                  <a:lnTo>
                    <a:pt x="3060420" y="1431731"/>
                  </a:lnTo>
                  <a:lnTo>
                    <a:pt x="0" y="143173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>
                <a:extLst>
                  <a:ext uri="{96DAC541-7B7A-43D3-8B79-37D633B846F1}">
                    <asvg:svgBlip xmlns:asvg="http://schemas.microsoft.com/office/drawing/2016/SVG/main" r:embed="rId5"/>
                  </a:ext>
                </a:extLst>
              </a:blip>
              <a:stretch>
                <a:fillRect/>
              </a:stretch>
            </a:blipFill>
          </p:spPr>
          <p:txBody>
            <a:bodyPr/>
            <a:lstStyle/>
            <a:p>
              <a:endParaRPr lang="en-US"/>
            </a:p>
          </p:txBody>
        </p:sp>
        <p:grpSp>
          <p:nvGrpSpPr>
            <p:cNvPr id="12" name="Group 12"/>
            <p:cNvGrpSpPr/>
            <p:nvPr/>
          </p:nvGrpSpPr>
          <p:grpSpPr>
            <a:xfrm>
              <a:off x="0" y="35288"/>
              <a:ext cx="1254228" cy="1254228"/>
              <a:chOff x="0" y="0"/>
              <a:chExt cx="812800" cy="812800"/>
            </a:xfrm>
          </p:grpSpPr>
          <p:sp>
            <p:nvSpPr>
              <p:cNvPr id="13" name="Freeform 13"/>
              <p:cNvSpPr/>
              <p:nvPr/>
            </p:nvSpPr>
            <p:spPr>
              <a:xfrm>
                <a:off x="0" y="0"/>
                <a:ext cx="812800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 w="95250" cap="sq">
                <a:solidFill>
                  <a:srgbClr val="90B7E7"/>
                </a:solidFill>
                <a:prstDash val="solid"/>
                <a:miter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4" name="TextBox 14"/>
              <p:cNvSpPr txBox="1"/>
              <p:nvPr/>
            </p:nvSpPr>
            <p:spPr>
              <a:xfrm>
                <a:off x="76200" y="38100"/>
                <a:ext cx="660400" cy="698500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240"/>
                  </a:lnSpc>
                </a:pPr>
                <a:endParaRPr/>
              </a:p>
            </p:txBody>
          </p:sp>
        </p:grpSp>
        <p:sp>
          <p:nvSpPr>
            <p:cNvPr id="15" name="TextBox 15"/>
            <p:cNvSpPr txBox="1"/>
            <p:nvPr/>
          </p:nvSpPr>
          <p:spPr>
            <a:xfrm>
              <a:off x="0" y="436602"/>
              <a:ext cx="1254228" cy="423024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2725"/>
                </a:lnSpc>
              </a:pPr>
              <a:r>
                <a:rPr lang="en-US" sz="1946" b="1">
                  <a:solidFill>
                    <a:srgbClr val="00CC91"/>
                  </a:solidFill>
                  <a:latin typeface="DM Sans Bold"/>
                  <a:ea typeface="DM Sans Bold"/>
                  <a:cs typeface="DM Sans Bold"/>
                  <a:sym typeface="DM Sans Bold"/>
                </a:rPr>
                <a:t>02</a:t>
              </a:r>
            </a:p>
          </p:txBody>
        </p:sp>
      </p:grpSp>
      <p:grpSp>
        <p:nvGrpSpPr>
          <p:cNvPr id="16" name="Group 16"/>
          <p:cNvGrpSpPr/>
          <p:nvPr/>
        </p:nvGrpSpPr>
        <p:grpSpPr>
          <a:xfrm>
            <a:off x="2461079" y="5685606"/>
            <a:ext cx="2310654" cy="1080974"/>
            <a:chOff x="0" y="0"/>
            <a:chExt cx="3080872" cy="1441299"/>
          </a:xfrm>
        </p:grpSpPr>
        <p:sp>
          <p:nvSpPr>
            <p:cNvPr id="17" name="Freeform 17"/>
            <p:cNvSpPr/>
            <p:nvPr/>
          </p:nvSpPr>
          <p:spPr>
            <a:xfrm>
              <a:off x="0" y="0"/>
              <a:ext cx="3080872" cy="1441299"/>
            </a:xfrm>
            <a:custGeom>
              <a:avLst/>
              <a:gdLst/>
              <a:ahLst/>
              <a:cxnLst/>
              <a:rect l="l" t="t" r="r" b="b"/>
              <a:pathLst>
                <a:path w="3080872" h="1441299">
                  <a:moveTo>
                    <a:pt x="0" y="0"/>
                  </a:moveTo>
                  <a:lnTo>
                    <a:pt x="3080872" y="0"/>
                  </a:lnTo>
                  <a:lnTo>
                    <a:pt x="3080872" y="1441299"/>
                  </a:lnTo>
                  <a:lnTo>
                    <a:pt x="0" y="144129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>
                <a:extLst>
                  <a:ext uri="{96DAC541-7B7A-43D3-8B79-37D633B846F1}">
                    <asvg:svgBlip xmlns:asvg="http://schemas.microsoft.com/office/drawing/2016/SVG/main" r:embed="rId6"/>
                  </a:ext>
                </a:extLst>
              </a:blip>
              <a:stretch>
                <a:fillRect/>
              </a:stretch>
            </a:blipFill>
          </p:spPr>
          <p:txBody>
            <a:bodyPr/>
            <a:lstStyle/>
            <a:p>
              <a:endParaRPr lang="en-US"/>
            </a:p>
          </p:txBody>
        </p:sp>
        <p:grpSp>
          <p:nvGrpSpPr>
            <p:cNvPr id="18" name="Group 18"/>
            <p:cNvGrpSpPr/>
            <p:nvPr/>
          </p:nvGrpSpPr>
          <p:grpSpPr>
            <a:xfrm>
              <a:off x="0" y="89345"/>
              <a:ext cx="1262609" cy="1262609"/>
              <a:chOff x="0" y="0"/>
              <a:chExt cx="812800" cy="812800"/>
            </a:xfrm>
          </p:grpSpPr>
          <p:sp>
            <p:nvSpPr>
              <p:cNvPr id="19" name="Freeform 19"/>
              <p:cNvSpPr/>
              <p:nvPr/>
            </p:nvSpPr>
            <p:spPr>
              <a:xfrm>
                <a:off x="0" y="0"/>
                <a:ext cx="812800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 w="95250" cap="sq">
                <a:solidFill>
                  <a:srgbClr val="6AA2E5"/>
                </a:solidFill>
                <a:prstDash val="solid"/>
                <a:miter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0" name="TextBox 20"/>
              <p:cNvSpPr txBox="1"/>
              <p:nvPr/>
            </p:nvSpPr>
            <p:spPr>
              <a:xfrm>
                <a:off x="76200" y="38100"/>
                <a:ext cx="660400" cy="698500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240"/>
                  </a:lnSpc>
                </a:pPr>
                <a:endParaRPr/>
              </a:p>
            </p:txBody>
          </p:sp>
        </p:grpSp>
        <p:sp>
          <p:nvSpPr>
            <p:cNvPr id="21" name="TextBox 21"/>
            <p:cNvSpPr txBox="1"/>
            <p:nvPr/>
          </p:nvSpPr>
          <p:spPr>
            <a:xfrm>
              <a:off x="0" y="493532"/>
              <a:ext cx="1262609" cy="425660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2743"/>
                </a:lnSpc>
              </a:pPr>
              <a:r>
                <a:rPr lang="en-US" sz="1959" b="1">
                  <a:solidFill>
                    <a:srgbClr val="00A7BF"/>
                  </a:solidFill>
                  <a:latin typeface="DM Sans Bold"/>
                  <a:ea typeface="DM Sans Bold"/>
                  <a:cs typeface="DM Sans Bold"/>
                  <a:sym typeface="DM Sans Bold"/>
                </a:rPr>
                <a:t>03</a:t>
              </a:r>
            </a:p>
          </p:txBody>
        </p:sp>
      </p:grpSp>
      <p:grpSp>
        <p:nvGrpSpPr>
          <p:cNvPr id="22" name="Group 22"/>
          <p:cNvGrpSpPr/>
          <p:nvPr/>
        </p:nvGrpSpPr>
        <p:grpSpPr>
          <a:xfrm>
            <a:off x="4681365" y="2998716"/>
            <a:ext cx="2281602" cy="1067383"/>
            <a:chOff x="0" y="0"/>
            <a:chExt cx="3042136" cy="1423178"/>
          </a:xfrm>
        </p:grpSpPr>
        <p:sp>
          <p:nvSpPr>
            <p:cNvPr id="23" name="Freeform 23"/>
            <p:cNvSpPr/>
            <p:nvPr/>
          </p:nvSpPr>
          <p:spPr>
            <a:xfrm>
              <a:off x="0" y="0"/>
              <a:ext cx="3042136" cy="1423178"/>
            </a:xfrm>
            <a:custGeom>
              <a:avLst/>
              <a:gdLst/>
              <a:ahLst/>
              <a:cxnLst/>
              <a:rect l="l" t="t" r="r" b="b"/>
              <a:pathLst>
                <a:path w="3042136" h="1423178">
                  <a:moveTo>
                    <a:pt x="0" y="0"/>
                  </a:moveTo>
                  <a:lnTo>
                    <a:pt x="3042136" y="0"/>
                  </a:lnTo>
                  <a:lnTo>
                    <a:pt x="3042136" y="1423178"/>
                  </a:lnTo>
                  <a:lnTo>
                    <a:pt x="0" y="142317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>
                <a:extLst>
                  <a:ext uri="{96DAC541-7B7A-43D3-8B79-37D633B846F1}">
                    <asvg:svgBlip xmlns:asvg="http://schemas.microsoft.com/office/drawing/2016/SVG/main" r:embed="rId7"/>
                  </a:ext>
                </a:extLst>
              </a:blip>
              <a:stretch>
                <a:fillRect/>
              </a:stretch>
            </a:blipFill>
          </p:spPr>
          <p:txBody>
            <a:bodyPr/>
            <a:lstStyle/>
            <a:p>
              <a:endParaRPr lang="en-US"/>
            </a:p>
          </p:txBody>
        </p:sp>
        <p:grpSp>
          <p:nvGrpSpPr>
            <p:cNvPr id="24" name="Group 24"/>
            <p:cNvGrpSpPr/>
            <p:nvPr/>
          </p:nvGrpSpPr>
          <p:grpSpPr>
            <a:xfrm>
              <a:off x="0" y="88222"/>
              <a:ext cx="1246734" cy="1246734"/>
              <a:chOff x="0" y="0"/>
              <a:chExt cx="812800" cy="812800"/>
            </a:xfrm>
          </p:grpSpPr>
          <p:sp>
            <p:nvSpPr>
              <p:cNvPr id="25" name="Freeform 25"/>
              <p:cNvSpPr/>
              <p:nvPr/>
            </p:nvSpPr>
            <p:spPr>
              <a:xfrm>
                <a:off x="0" y="0"/>
                <a:ext cx="812800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 w="95250" cap="sq">
                <a:solidFill>
                  <a:srgbClr val="5D65DA"/>
                </a:solidFill>
                <a:prstDash val="solid"/>
                <a:miter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6" name="TextBox 26"/>
              <p:cNvSpPr txBox="1"/>
              <p:nvPr/>
            </p:nvSpPr>
            <p:spPr>
              <a:xfrm>
                <a:off x="76200" y="38100"/>
                <a:ext cx="660400" cy="698500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240"/>
                  </a:lnSpc>
                </a:pPr>
                <a:endParaRPr/>
              </a:p>
            </p:txBody>
          </p:sp>
        </p:grpSp>
        <p:sp>
          <p:nvSpPr>
            <p:cNvPr id="27" name="TextBox 27"/>
            <p:cNvSpPr txBox="1"/>
            <p:nvPr/>
          </p:nvSpPr>
          <p:spPr>
            <a:xfrm>
              <a:off x="0" y="477443"/>
              <a:ext cx="1246734" cy="430192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2709"/>
                </a:lnSpc>
              </a:pPr>
              <a:r>
                <a:rPr lang="en-US" sz="1935" b="1">
                  <a:solidFill>
                    <a:srgbClr val="5D65DA"/>
                  </a:solidFill>
                  <a:latin typeface="DM Sans Bold"/>
                  <a:ea typeface="DM Sans Bold"/>
                  <a:cs typeface="DM Sans Bold"/>
                  <a:sym typeface="DM Sans Bold"/>
                </a:rPr>
                <a:t>05</a:t>
              </a:r>
            </a:p>
          </p:txBody>
        </p:sp>
      </p:grpSp>
      <p:sp>
        <p:nvSpPr>
          <p:cNvPr id="28" name="Freeform 28"/>
          <p:cNvSpPr/>
          <p:nvPr/>
        </p:nvSpPr>
        <p:spPr>
          <a:xfrm>
            <a:off x="12138102" y="7080905"/>
            <a:ext cx="1476567" cy="630897"/>
          </a:xfrm>
          <a:custGeom>
            <a:avLst/>
            <a:gdLst/>
            <a:ahLst/>
            <a:cxnLst/>
            <a:rect l="l" t="t" r="r" b="b"/>
            <a:pathLst>
              <a:path w="1476567" h="630897">
                <a:moveTo>
                  <a:pt x="0" y="0"/>
                </a:moveTo>
                <a:lnTo>
                  <a:pt x="1476568" y="0"/>
                </a:lnTo>
                <a:lnTo>
                  <a:pt x="1476568" y="630897"/>
                </a:lnTo>
                <a:lnTo>
                  <a:pt x="0" y="630897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29" name="TextBox 29"/>
          <p:cNvSpPr txBox="1"/>
          <p:nvPr/>
        </p:nvSpPr>
        <p:spPr>
          <a:xfrm>
            <a:off x="3284699" y="368759"/>
            <a:ext cx="11718602" cy="82740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5334"/>
              </a:lnSpc>
            </a:pPr>
            <a:r>
              <a:rPr lang="en-US" sz="5499">
                <a:solidFill>
                  <a:srgbClr val="090147"/>
                </a:solidFill>
                <a:latin typeface="Bungee"/>
                <a:ea typeface="Bungee"/>
                <a:cs typeface="Bungee"/>
                <a:sym typeface="Bungee"/>
              </a:rPr>
              <a:t>RECIPE 3-5: THÊM BIẾN PHỤ</a:t>
            </a:r>
          </a:p>
        </p:txBody>
      </p:sp>
      <p:sp>
        <p:nvSpPr>
          <p:cNvPr id="30" name="TextBox 30"/>
          <p:cNvSpPr txBox="1"/>
          <p:nvPr/>
        </p:nvSpPr>
        <p:spPr>
          <a:xfrm>
            <a:off x="7434276" y="3173315"/>
            <a:ext cx="7569025" cy="63246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039"/>
              </a:lnSpc>
            </a:pPr>
            <a:r>
              <a:rPr lang="en-US" sz="3599">
                <a:solidFill>
                  <a:srgbClr val="000000"/>
                </a:solidFill>
                <a:latin typeface="Josefin Sans"/>
                <a:ea typeface="Josefin Sans"/>
                <a:cs typeface="Josefin Sans"/>
                <a:sym typeface="Josefin Sans"/>
              </a:rPr>
              <a:t>Huấn luyện và dự báo trên tập test</a:t>
            </a:r>
          </a:p>
        </p:txBody>
      </p:sp>
      <p:grpSp>
        <p:nvGrpSpPr>
          <p:cNvPr id="31" name="Group 31"/>
          <p:cNvGrpSpPr/>
          <p:nvPr/>
        </p:nvGrpSpPr>
        <p:grpSpPr>
          <a:xfrm>
            <a:off x="13758335" y="5944470"/>
            <a:ext cx="2986088" cy="4077045"/>
            <a:chOff x="0" y="0"/>
            <a:chExt cx="786459" cy="1073790"/>
          </a:xfrm>
        </p:grpSpPr>
        <p:sp>
          <p:nvSpPr>
            <p:cNvPr id="32" name="Freeform 32"/>
            <p:cNvSpPr/>
            <p:nvPr/>
          </p:nvSpPr>
          <p:spPr>
            <a:xfrm>
              <a:off x="0" y="0"/>
              <a:ext cx="786459" cy="1073790"/>
            </a:xfrm>
            <a:custGeom>
              <a:avLst/>
              <a:gdLst/>
              <a:ahLst/>
              <a:cxnLst/>
              <a:rect l="l" t="t" r="r" b="b"/>
              <a:pathLst>
                <a:path w="786459" h="1073790">
                  <a:moveTo>
                    <a:pt x="132226" y="0"/>
                  </a:moveTo>
                  <a:lnTo>
                    <a:pt x="654233" y="0"/>
                  </a:lnTo>
                  <a:cubicBezTo>
                    <a:pt x="727260" y="0"/>
                    <a:pt x="786459" y="59200"/>
                    <a:pt x="786459" y="132226"/>
                  </a:cubicBezTo>
                  <a:lnTo>
                    <a:pt x="786459" y="941564"/>
                  </a:lnTo>
                  <a:cubicBezTo>
                    <a:pt x="786459" y="1014590"/>
                    <a:pt x="727260" y="1073790"/>
                    <a:pt x="654233" y="1073790"/>
                  </a:cubicBezTo>
                  <a:lnTo>
                    <a:pt x="132226" y="1073790"/>
                  </a:lnTo>
                  <a:cubicBezTo>
                    <a:pt x="59200" y="1073790"/>
                    <a:pt x="0" y="1014590"/>
                    <a:pt x="0" y="941564"/>
                  </a:cubicBezTo>
                  <a:lnTo>
                    <a:pt x="0" y="132226"/>
                  </a:lnTo>
                  <a:cubicBezTo>
                    <a:pt x="0" y="59200"/>
                    <a:pt x="59200" y="0"/>
                    <a:pt x="132226" y="0"/>
                  </a:cubicBezTo>
                  <a:close/>
                </a:path>
              </a:pathLst>
            </a:custGeom>
            <a:solidFill>
              <a:srgbClr val="E9EBF7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33" name="TextBox 33"/>
            <p:cNvSpPr txBox="1"/>
            <p:nvPr/>
          </p:nvSpPr>
          <p:spPr>
            <a:xfrm>
              <a:off x="0" y="-38100"/>
              <a:ext cx="786459" cy="111189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34" name="TextBox 34"/>
          <p:cNvSpPr txBox="1"/>
          <p:nvPr/>
        </p:nvSpPr>
        <p:spPr>
          <a:xfrm>
            <a:off x="6333930" y="4546431"/>
            <a:ext cx="7575752" cy="63246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039"/>
              </a:lnSpc>
            </a:pPr>
            <a:r>
              <a:rPr lang="en-US" sz="3599">
                <a:solidFill>
                  <a:srgbClr val="000000"/>
                </a:solidFill>
                <a:latin typeface="Josefin Sans"/>
                <a:ea typeface="Josefin Sans"/>
                <a:cs typeface="Josefin Sans"/>
                <a:sym typeface="Josefin Sans"/>
              </a:rPr>
              <a:t>Thêm các biến bổ sung vào mô hình</a:t>
            </a:r>
          </a:p>
        </p:txBody>
      </p:sp>
      <p:sp>
        <p:nvSpPr>
          <p:cNvPr id="35" name="TextBox 35"/>
          <p:cNvSpPr txBox="1"/>
          <p:nvPr/>
        </p:nvSpPr>
        <p:spPr>
          <a:xfrm>
            <a:off x="5219545" y="5868270"/>
            <a:ext cx="7656841" cy="63944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179"/>
              </a:lnSpc>
            </a:pPr>
            <a:r>
              <a:rPr lang="en-US" sz="3699">
                <a:solidFill>
                  <a:srgbClr val="000000"/>
                </a:solidFill>
                <a:latin typeface="Josefin Sans"/>
                <a:ea typeface="Josefin Sans"/>
                <a:cs typeface="Josefin Sans"/>
                <a:sym typeface="Josefin Sans"/>
              </a:rPr>
              <a:t>Chia dữ liệu thành tập train / test</a:t>
            </a:r>
          </a:p>
        </p:txBody>
      </p:sp>
      <p:sp>
        <p:nvSpPr>
          <p:cNvPr id="36" name="TextBox 36"/>
          <p:cNvSpPr txBox="1"/>
          <p:nvPr/>
        </p:nvSpPr>
        <p:spPr>
          <a:xfrm>
            <a:off x="4145799" y="7226071"/>
            <a:ext cx="7832454" cy="63246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039"/>
              </a:lnSpc>
            </a:pPr>
            <a:r>
              <a:rPr lang="en-US" sz="3599">
                <a:solidFill>
                  <a:srgbClr val="000000"/>
                </a:solidFill>
                <a:latin typeface="Josefin Sans"/>
                <a:ea typeface="Josefin Sans"/>
                <a:cs typeface="Josefin Sans"/>
                <a:sym typeface="Josefin Sans"/>
              </a:rPr>
              <a:t>Tạo dữ liệu gồm: ds, y + các biến phụ </a:t>
            </a:r>
          </a:p>
        </p:txBody>
      </p:sp>
      <p:sp>
        <p:nvSpPr>
          <p:cNvPr id="37" name="TextBox 37"/>
          <p:cNvSpPr txBox="1"/>
          <p:nvPr/>
        </p:nvSpPr>
        <p:spPr>
          <a:xfrm>
            <a:off x="3030598" y="8899207"/>
            <a:ext cx="10062856" cy="63246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039"/>
              </a:lnSpc>
            </a:pPr>
            <a:r>
              <a:rPr lang="en-US" sz="3599">
                <a:solidFill>
                  <a:srgbClr val="000000"/>
                </a:solidFill>
                <a:latin typeface="Josefin Sans"/>
                <a:ea typeface="Josefin Sans"/>
                <a:cs typeface="Josefin Sans"/>
                <a:sym typeface="Josefin Sans"/>
              </a:rPr>
              <a:t>Mã hóa cột type: conventional → 0, organic → 1</a:t>
            </a:r>
          </a:p>
        </p:txBody>
      </p:sp>
      <p:grpSp>
        <p:nvGrpSpPr>
          <p:cNvPr id="38" name="Group 38"/>
          <p:cNvGrpSpPr/>
          <p:nvPr/>
        </p:nvGrpSpPr>
        <p:grpSpPr>
          <a:xfrm>
            <a:off x="3542359" y="4372251"/>
            <a:ext cx="2279808" cy="1066544"/>
            <a:chOff x="0" y="0"/>
            <a:chExt cx="3039744" cy="1422058"/>
          </a:xfrm>
        </p:grpSpPr>
        <p:sp>
          <p:nvSpPr>
            <p:cNvPr id="39" name="Freeform 39"/>
            <p:cNvSpPr/>
            <p:nvPr/>
          </p:nvSpPr>
          <p:spPr>
            <a:xfrm>
              <a:off x="0" y="0"/>
              <a:ext cx="3039744" cy="1422058"/>
            </a:xfrm>
            <a:custGeom>
              <a:avLst/>
              <a:gdLst/>
              <a:ahLst/>
              <a:cxnLst/>
              <a:rect l="l" t="t" r="r" b="b"/>
              <a:pathLst>
                <a:path w="3039744" h="1422058">
                  <a:moveTo>
                    <a:pt x="0" y="0"/>
                  </a:moveTo>
                  <a:lnTo>
                    <a:pt x="3039744" y="0"/>
                  </a:lnTo>
                  <a:lnTo>
                    <a:pt x="3039744" y="1422058"/>
                  </a:lnTo>
                  <a:lnTo>
                    <a:pt x="0" y="142205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>
                <a:extLst>
                  <a:ext uri="{96DAC541-7B7A-43D3-8B79-37D633B846F1}">
                    <asvg:svgBlip xmlns:asvg="http://schemas.microsoft.com/office/drawing/2016/SVG/main" r:embed="rId9"/>
                  </a:ext>
                </a:extLst>
              </a:blip>
              <a:stretch>
                <a:fillRect/>
              </a:stretch>
            </a:blipFill>
          </p:spPr>
          <p:txBody>
            <a:bodyPr/>
            <a:lstStyle/>
            <a:p>
              <a:endParaRPr lang="en-US"/>
            </a:p>
          </p:txBody>
        </p:sp>
        <p:grpSp>
          <p:nvGrpSpPr>
            <p:cNvPr id="40" name="Group 40"/>
            <p:cNvGrpSpPr/>
            <p:nvPr/>
          </p:nvGrpSpPr>
          <p:grpSpPr>
            <a:xfrm>
              <a:off x="0" y="88083"/>
              <a:ext cx="1244774" cy="1244774"/>
              <a:chOff x="0" y="0"/>
              <a:chExt cx="812800" cy="812800"/>
            </a:xfrm>
          </p:grpSpPr>
          <p:sp>
            <p:nvSpPr>
              <p:cNvPr id="41" name="Freeform 41"/>
              <p:cNvSpPr/>
              <p:nvPr/>
            </p:nvSpPr>
            <p:spPr>
              <a:xfrm>
                <a:off x="0" y="0"/>
                <a:ext cx="812800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 w="95250" cap="sq">
                <a:solidFill>
                  <a:srgbClr val="0085E0"/>
                </a:solidFill>
                <a:prstDash val="solid"/>
                <a:miter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42" name="TextBox 42"/>
              <p:cNvSpPr txBox="1"/>
              <p:nvPr/>
            </p:nvSpPr>
            <p:spPr>
              <a:xfrm>
                <a:off x="76200" y="38100"/>
                <a:ext cx="660400" cy="698500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240"/>
                  </a:lnSpc>
                </a:pPr>
                <a:endParaRPr/>
              </a:p>
            </p:txBody>
          </p:sp>
        </p:grpSp>
        <p:sp>
          <p:nvSpPr>
            <p:cNvPr id="43" name="TextBox 43"/>
            <p:cNvSpPr txBox="1"/>
            <p:nvPr/>
          </p:nvSpPr>
          <p:spPr>
            <a:xfrm>
              <a:off x="0" y="476632"/>
              <a:ext cx="1244774" cy="429576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2704"/>
                </a:lnSpc>
              </a:pPr>
              <a:r>
                <a:rPr lang="en-US" sz="1931" b="1">
                  <a:solidFill>
                    <a:srgbClr val="0085E0"/>
                  </a:solidFill>
                  <a:latin typeface="DM Sans Bold"/>
                  <a:ea typeface="DM Sans Bold"/>
                  <a:cs typeface="DM Sans Bold"/>
                  <a:sym typeface="DM Sans Bold"/>
                </a:rPr>
                <a:t>04</a:t>
              </a:r>
            </a:p>
          </p:txBody>
        </p:sp>
      </p:grpSp>
      <p:sp>
        <p:nvSpPr>
          <p:cNvPr id="44" name="TextBox 44"/>
          <p:cNvSpPr txBox="1"/>
          <p:nvPr/>
        </p:nvSpPr>
        <p:spPr>
          <a:xfrm>
            <a:off x="1836882" y="1503828"/>
            <a:ext cx="15422418" cy="119008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754"/>
              </a:lnSpc>
              <a:spcBef>
                <a:spcPct val="0"/>
              </a:spcBef>
            </a:pPr>
            <a:r>
              <a:rPr lang="en-US" sz="3396">
                <a:solidFill>
                  <a:srgbClr val="AA1313"/>
                </a:solidFill>
                <a:latin typeface="Josefin Sans"/>
                <a:ea typeface="Josefin Sans"/>
                <a:cs typeface="Josefin Sans"/>
                <a:sym typeface="Josefin Sans"/>
              </a:rPr>
              <a:t>Vấn đề: Giá bơ không chỉ phụ thuộc vào thời gian — sản lượng bán ra, loại bơ, kích cỡ... đều ảnh hưởng.</a:t>
            </a:r>
          </a:p>
        </p:txBody>
      </p:sp>
      <p:sp>
        <p:nvSpPr>
          <p:cNvPr id="45" name="TextBox 45"/>
          <p:cNvSpPr txBox="1"/>
          <p:nvPr/>
        </p:nvSpPr>
        <p:spPr>
          <a:xfrm>
            <a:off x="13909682" y="6127135"/>
            <a:ext cx="1267941" cy="63944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179"/>
              </a:lnSpc>
            </a:pPr>
            <a:r>
              <a:rPr lang="en-US" sz="3699">
                <a:solidFill>
                  <a:srgbClr val="000000"/>
                </a:solidFill>
                <a:latin typeface="Josefin Sans"/>
                <a:ea typeface="Josefin Sans"/>
                <a:cs typeface="Josefin Sans"/>
                <a:sym typeface="Josefin Sans"/>
              </a:rPr>
              <a:t>type</a:t>
            </a:r>
          </a:p>
        </p:txBody>
      </p:sp>
      <p:sp>
        <p:nvSpPr>
          <p:cNvPr id="46" name="TextBox 46"/>
          <p:cNvSpPr txBox="1"/>
          <p:nvPr/>
        </p:nvSpPr>
        <p:spPr>
          <a:xfrm>
            <a:off x="13861718" y="6690380"/>
            <a:ext cx="2978407" cy="639445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5179"/>
              </a:lnSpc>
            </a:pPr>
            <a:r>
              <a:rPr lang="en-US" sz="3699" dirty="0">
                <a:solidFill>
                  <a:srgbClr val="000000"/>
                </a:solidFill>
                <a:latin typeface="Josefin Sans"/>
                <a:ea typeface="Josefin Sans"/>
                <a:cs typeface="Josefin Sans"/>
                <a:sym typeface="Josefin Sans"/>
              </a:rPr>
              <a:t>Total Volume</a:t>
            </a:r>
          </a:p>
        </p:txBody>
      </p:sp>
      <p:sp>
        <p:nvSpPr>
          <p:cNvPr id="47" name="TextBox 47"/>
          <p:cNvSpPr txBox="1"/>
          <p:nvPr/>
        </p:nvSpPr>
        <p:spPr>
          <a:xfrm>
            <a:off x="13909682" y="7312045"/>
            <a:ext cx="1267941" cy="63944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179"/>
              </a:lnSpc>
            </a:pPr>
            <a:r>
              <a:rPr lang="en-US" sz="3699">
                <a:solidFill>
                  <a:srgbClr val="000000"/>
                </a:solidFill>
                <a:latin typeface="Josefin Sans"/>
                <a:ea typeface="Josefin Sans"/>
                <a:cs typeface="Josefin Sans"/>
                <a:sym typeface="Josefin Sans"/>
              </a:rPr>
              <a:t>4060</a:t>
            </a:r>
          </a:p>
        </p:txBody>
      </p:sp>
      <p:sp>
        <p:nvSpPr>
          <p:cNvPr id="48" name="TextBox 48"/>
          <p:cNvSpPr txBox="1"/>
          <p:nvPr/>
        </p:nvSpPr>
        <p:spPr>
          <a:xfrm>
            <a:off x="13909682" y="7844175"/>
            <a:ext cx="1267941" cy="63944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179"/>
              </a:lnSpc>
            </a:pPr>
            <a:r>
              <a:rPr lang="en-US" sz="3699">
                <a:solidFill>
                  <a:srgbClr val="000000"/>
                </a:solidFill>
                <a:latin typeface="Josefin Sans"/>
                <a:ea typeface="Josefin Sans"/>
                <a:cs typeface="Josefin Sans"/>
                <a:sym typeface="Josefin Sans"/>
              </a:rPr>
              <a:t>4225</a:t>
            </a:r>
          </a:p>
        </p:txBody>
      </p:sp>
      <p:sp>
        <p:nvSpPr>
          <p:cNvPr id="49" name="TextBox 49"/>
          <p:cNvSpPr txBox="1"/>
          <p:nvPr/>
        </p:nvSpPr>
        <p:spPr>
          <a:xfrm>
            <a:off x="13909682" y="8459503"/>
            <a:ext cx="1267941" cy="63944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179"/>
              </a:lnSpc>
            </a:pPr>
            <a:r>
              <a:rPr lang="en-US" sz="3699">
                <a:solidFill>
                  <a:srgbClr val="000000"/>
                </a:solidFill>
                <a:latin typeface="Josefin Sans"/>
                <a:ea typeface="Josefin Sans"/>
                <a:cs typeface="Josefin Sans"/>
                <a:sym typeface="Josefin Sans"/>
              </a:rPr>
              <a:t>4770</a:t>
            </a:r>
          </a:p>
        </p:txBody>
      </p:sp>
      <p:sp>
        <p:nvSpPr>
          <p:cNvPr id="50" name="TextBox 50"/>
          <p:cNvSpPr txBox="1"/>
          <p:nvPr/>
        </p:nvSpPr>
        <p:spPr>
          <a:xfrm>
            <a:off x="13909682" y="8997971"/>
            <a:ext cx="2566218" cy="63944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179"/>
              </a:lnSpc>
            </a:pPr>
            <a:r>
              <a:rPr lang="en-US" sz="3699">
                <a:solidFill>
                  <a:srgbClr val="000000"/>
                </a:solidFill>
                <a:latin typeface="Josefin Sans"/>
                <a:ea typeface="Josefin Sans"/>
                <a:cs typeface="Josefin Sans"/>
                <a:sym typeface="Josefin Sans"/>
              </a:rPr>
              <a:t>Small bags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EF6F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-2078885" y="-1028700"/>
            <a:ext cx="4062430" cy="4114800"/>
          </a:xfrm>
          <a:custGeom>
            <a:avLst/>
            <a:gdLst/>
            <a:ahLst/>
            <a:cxnLst/>
            <a:rect l="l" t="t" r="r" b="b"/>
            <a:pathLst>
              <a:path w="4062430" h="4114800">
                <a:moveTo>
                  <a:pt x="0" y="0"/>
                </a:moveTo>
                <a:lnTo>
                  <a:pt x="4062430" y="0"/>
                </a:lnTo>
                <a:lnTo>
                  <a:pt x="4062430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3" name="Freeform 3"/>
          <p:cNvSpPr/>
          <p:nvPr/>
        </p:nvSpPr>
        <p:spPr>
          <a:xfrm flipH="1" flipV="1">
            <a:off x="14932275" y="-253970"/>
            <a:ext cx="7147278" cy="3993541"/>
          </a:xfrm>
          <a:custGeom>
            <a:avLst/>
            <a:gdLst/>
            <a:ahLst/>
            <a:cxnLst/>
            <a:rect l="l" t="t" r="r" b="b"/>
            <a:pathLst>
              <a:path w="7147278" h="3993541">
                <a:moveTo>
                  <a:pt x="7147278" y="3993541"/>
                </a:moveTo>
                <a:lnTo>
                  <a:pt x="0" y="3993541"/>
                </a:lnTo>
                <a:lnTo>
                  <a:pt x="0" y="0"/>
                </a:lnTo>
                <a:lnTo>
                  <a:pt x="7147278" y="0"/>
                </a:lnTo>
                <a:lnTo>
                  <a:pt x="7147278" y="3993541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4" name="Freeform 4"/>
          <p:cNvSpPr/>
          <p:nvPr/>
        </p:nvSpPr>
        <p:spPr>
          <a:xfrm>
            <a:off x="2480621" y="1577334"/>
            <a:ext cx="13326757" cy="7946079"/>
          </a:xfrm>
          <a:custGeom>
            <a:avLst/>
            <a:gdLst/>
            <a:ahLst/>
            <a:cxnLst/>
            <a:rect l="l" t="t" r="r" b="b"/>
            <a:pathLst>
              <a:path w="13326757" h="7946079">
                <a:moveTo>
                  <a:pt x="0" y="0"/>
                </a:moveTo>
                <a:lnTo>
                  <a:pt x="13326758" y="0"/>
                </a:lnTo>
                <a:lnTo>
                  <a:pt x="13326758" y="7946079"/>
                </a:lnTo>
                <a:lnTo>
                  <a:pt x="0" y="7946079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5" name="TextBox 5"/>
          <p:cNvSpPr txBox="1"/>
          <p:nvPr/>
        </p:nvSpPr>
        <p:spPr>
          <a:xfrm>
            <a:off x="3284699" y="368759"/>
            <a:ext cx="11718602" cy="82740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5334"/>
              </a:lnSpc>
            </a:pPr>
            <a:r>
              <a:rPr lang="en-US" sz="5499">
                <a:solidFill>
                  <a:srgbClr val="090147"/>
                </a:solidFill>
                <a:latin typeface="Bungee"/>
                <a:ea typeface="Bungee"/>
                <a:cs typeface="Bungee"/>
                <a:sym typeface="Bungee"/>
              </a:rPr>
              <a:t>RECIPE 3-5: THÊM BIẾN PHỤ</a:t>
            </a:r>
          </a:p>
        </p:txBody>
      </p:sp>
      <p:sp>
        <p:nvSpPr>
          <p:cNvPr id="6" name="Freeform 6"/>
          <p:cNvSpPr/>
          <p:nvPr/>
        </p:nvSpPr>
        <p:spPr>
          <a:xfrm>
            <a:off x="-1261928" y="9258300"/>
            <a:ext cx="4581255" cy="4114800"/>
          </a:xfrm>
          <a:custGeom>
            <a:avLst/>
            <a:gdLst/>
            <a:ahLst/>
            <a:cxnLst/>
            <a:rect l="l" t="t" r="r" b="b"/>
            <a:pathLst>
              <a:path w="4581255" h="4114800">
                <a:moveTo>
                  <a:pt x="0" y="0"/>
                </a:moveTo>
                <a:lnTo>
                  <a:pt x="4581256" y="0"/>
                </a:lnTo>
                <a:lnTo>
                  <a:pt x="4581256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7" name="TextBox 7"/>
          <p:cNvSpPr txBox="1"/>
          <p:nvPr/>
        </p:nvSpPr>
        <p:spPr>
          <a:xfrm>
            <a:off x="4158427" y="9466263"/>
            <a:ext cx="9971146" cy="58737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899"/>
              </a:lnSpc>
              <a:spcBef>
                <a:spcPct val="0"/>
              </a:spcBef>
            </a:pPr>
            <a:r>
              <a:rPr lang="en-US" sz="3499">
                <a:solidFill>
                  <a:srgbClr val="0049FF"/>
                </a:solidFill>
                <a:latin typeface="Open Sans"/>
                <a:ea typeface="Open Sans"/>
                <a:cs typeface="Open Sans"/>
                <a:sym typeface="Open Sans"/>
              </a:rPr>
              <a:t>Biểu đồ so sánh: dữ liệu thật và giá trị dự đoán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EF6F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-2031215" y="-2323593"/>
            <a:ext cx="4062430" cy="4114800"/>
          </a:xfrm>
          <a:custGeom>
            <a:avLst/>
            <a:gdLst/>
            <a:ahLst/>
            <a:cxnLst/>
            <a:rect l="l" t="t" r="r" b="b"/>
            <a:pathLst>
              <a:path w="4062430" h="4114800">
                <a:moveTo>
                  <a:pt x="0" y="0"/>
                </a:moveTo>
                <a:lnTo>
                  <a:pt x="4062430" y="0"/>
                </a:lnTo>
                <a:lnTo>
                  <a:pt x="4062430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3" name="Freeform 3"/>
          <p:cNvSpPr/>
          <p:nvPr/>
        </p:nvSpPr>
        <p:spPr>
          <a:xfrm flipH="1" flipV="1">
            <a:off x="15090620" y="0"/>
            <a:ext cx="7147278" cy="3993541"/>
          </a:xfrm>
          <a:custGeom>
            <a:avLst/>
            <a:gdLst/>
            <a:ahLst/>
            <a:cxnLst/>
            <a:rect l="l" t="t" r="r" b="b"/>
            <a:pathLst>
              <a:path w="7147278" h="3993541">
                <a:moveTo>
                  <a:pt x="7147278" y="3993541"/>
                </a:moveTo>
                <a:lnTo>
                  <a:pt x="0" y="3993541"/>
                </a:lnTo>
                <a:lnTo>
                  <a:pt x="0" y="0"/>
                </a:lnTo>
                <a:lnTo>
                  <a:pt x="7147278" y="0"/>
                </a:lnTo>
                <a:lnTo>
                  <a:pt x="7147278" y="3993541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pic>
        <p:nvPicPr>
          <p:cNvPr id="4" name="Picture 4"/>
          <p:cNvPicPr>
            <a:picLocks noChangeAspect="1"/>
          </p:cNvPicPr>
          <p:nvPr/>
        </p:nvPicPr>
        <p:blipFill>
          <a:blip r:embed="rId4"/>
          <a:srcRect/>
          <a:stretch>
            <a:fillRect/>
          </a:stretch>
        </p:blipFill>
        <p:spPr>
          <a:xfrm rot="6824268">
            <a:off x="4029301" y="2246610"/>
            <a:ext cx="1521869" cy="1369682"/>
          </a:xfrm>
          <a:prstGeom prst="rect">
            <a:avLst/>
          </a:prstGeom>
        </p:spPr>
      </p:pic>
      <p:pic>
        <p:nvPicPr>
          <p:cNvPr id="5" name="Picture 5"/>
          <p:cNvPicPr>
            <a:picLocks noChangeAspect="1"/>
          </p:cNvPicPr>
          <p:nvPr/>
        </p:nvPicPr>
        <p:blipFill>
          <a:blip r:embed="rId4"/>
          <a:srcRect/>
          <a:stretch>
            <a:fillRect/>
          </a:stretch>
        </p:blipFill>
        <p:spPr>
          <a:xfrm rot="8181271">
            <a:off x="4119388" y="3513744"/>
            <a:ext cx="1521869" cy="1369682"/>
          </a:xfrm>
          <a:prstGeom prst="rect">
            <a:avLst/>
          </a:prstGeom>
        </p:spPr>
      </p:pic>
      <p:pic>
        <p:nvPicPr>
          <p:cNvPr id="6" name="Picture 6"/>
          <p:cNvPicPr>
            <a:picLocks noChangeAspect="1"/>
          </p:cNvPicPr>
          <p:nvPr/>
        </p:nvPicPr>
        <p:blipFill>
          <a:blip r:embed="rId4"/>
          <a:srcRect/>
          <a:stretch>
            <a:fillRect/>
          </a:stretch>
        </p:blipFill>
        <p:spPr>
          <a:xfrm rot="9475586">
            <a:off x="3968518" y="4651648"/>
            <a:ext cx="1521869" cy="1369682"/>
          </a:xfrm>
          <a:prstGeom prst="rect">
            <a:avLst/>
          </a:prstGeom>
        </p:spPr>
      </p:pic>
      <p:sp>
        <p:nvSpPr>
          <p:cNvPr id="7" name="Freeform 7"/>
          <p:cNvSpPr/>
          <p:nvPr/>
        </p:nvSpPr>
        <p:spPr>
          <a:xfrm>
            <a:off x="653064" y="7107051"/>
            <a:ext cx="1378151" cy="789972"/>
          </a:xfrm>
          <a:custGeom>
            <a:avLst/>
            <a:gdLst/>
            <a:ahLst/>
            <a:cxnLst/>
            <a:rect l="l" t="t" r="r" b="b"/>
            <a:pathLst>
              <a:path w="1378151" h="789972">
                <a:moveTo>
                  <a:pt x="0" y="0"/>
                </a:moveTo>
                <a:lnTo>
                  <a:pt x="1378151" y="0"/>
                </a:lnTo>
                <a:lnTo>
                  <a:pt x="1378151" y="789972"/>
                </a:lnTo>
                <a:lnTo>
                  <a:pt x="0" y="789972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8" name="TextBox 8"/>
          <p:cNvSpPr txBox="1"/>
          <p:nvPr/>
        </p:nvSpPr>
        <p:spPr>
          <a:xfrm>
            <a:off x="1715413" y="406163"/>
            <a:ext cx="14857174" cy="82740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5334"/>
              </a:lnSpc>
            </a:pPr>
            <a:r>
              <a:rPr lang="en-US" sz="5499">
                <a:solidFill>
                  <a:srgbClr val="090147"/>
                </a:solidFill>
                <a:latin typeface="Bungee"/>
                <a:ea typeface="Bungee"/>
                <a:cs typeface="Bungee"/>
                <a:sym typeface="Bungee"/>
              </a:rPr>
              <a:t>RECIPE 3-6: AUTO-ARIMA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674295" y="3811870"/>
            <a:ext cx="2713840" cy="84010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6359"/>
              </a:lnSpc>
              <a:spcBef>
                <a:spcPct val="0"/>
              </a:spcBef>
            </a:pPr>
            <a:r>
              <a:rPr lang="en-US" sz="5999">
                <a:solidFill>
                  <a:srgbClr val="4288DD"/>
                </a:solidFill>
                <a:latin typeface="Josefin Sans"/>
                <a:ea typeface="Josefin Sans"/>
                <a:cs typeface="Josefin Sans"/>
                <a:sym typeface="Josefin Sans"/>
              </a:rPr>
              <a:t>ARIMA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4790444" y="2311253"/>
            <a:ext cx="2713840" cy="71932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5406"/>
              </a:lnSpc>
              <a:spcBef>
                <a:spcPct val="0"/>
              </a:spcBef>
            </a:pPr>
            <a:r>
              <a:rPr lang="en-US" sz="5100">
                <a:solidFill>
                  <a:srgbClr val="4288DD"/>
                </a:solidFill>
                <a:latin typeface="Josefin Sans"/>
                <a:ea typeface="Josefin Sans"/>
                <a:cs typeface="Josefin Sans"/>
                <a:sym typeface="Josefin Sans"/>
              </a:rPr>
              <a:t>AR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4790236" y="3867496"/>
            <a:ext cx="2713840" cy="71932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5406"/>
              </a:lnSpc>
              <a:spcBef>
                <a:spcPct val="0"/>
              </a:spcBef>
            </a:pPr>
            <a:r>
              <a:rPr lang="en-US" sz="5100">
                <a:solidFill>
                  <a:srgbClr val="4288DD"/>
                </a:solidFill>
                <a:latin typeface="Josefin Sans"/>
                <a:ea typeface="Josefin Sans"/>
                <a:cs typeface="Josefin Sans"/>
                <a:sym typeface="Josefin Sans"/>
              </a:rPr>
              <a:t>I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4790444" y="5120271"/>
            <a:ext cx="2713840" cy="71932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5406"/>
              </a:lnSpc>
              <a:spcBef>
                <a:spcPct val="0"/>
              </a:spcBef>
            </a:pPr>
            <a:r>
              <a:rPr lang="en-US" sz="5100">
                <a:solidFill>
                  <a:srgbClr val="4288DD"/>
                </a:solidFill>
                <a:latin typeface="Josefin Sans"/>
                <a:ea typeface="Josefin Sans"/>
                <a:cs typeface="Josefin Sans"/>
                <a:sym typeface="Josefin Sans"/>
              </a:rPr>
              <a:t>MA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7430329" y="2283249"/>
            <a:ext cx="5344142" cy="63246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039"/>
              </a:lnSpc>
            </a:pPr>
            <a:r>
              <a:rPr lang="en-US" sz="3599">
                <a:solidFill>
                  <a:srgbClr val="000000"/>
                </a:solidFill>
                <a:latin typeface="Josefin Sans"/>
                <a:ea typeface="Josefin Sans"/>
                <a:cs typeface="Josefin Sans"/>
                <a:sym typeface="Josefin Sans"/>
              </a:rPr>
              <a:t>Dựa vào giá trị quá khứ 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7430329" y="3783428"/>
            <a:ext cx="8141125" cy="63246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039"/>
              </a:lnSpc>
            </a:pPr>
            <a:r>
              <a:rPr lang="en-US" sz="3599">
                <a:solidFill>
                  <a:srgbClr val="000000"/>
                </a:solidFill>
                <a:latin typeface="Josefin Sans"/>
                <a:ea typeface="Josefin Sans"/>
                <a:cs typeface="Josefin Sans"/>
                <a:sym typeface="Josefin Sans"/>
              </a:rPr>
              <a:t>Loại bỏ xu hướng (làm dữ liệu ổn định) 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7430329" y="5057775"/>
            <a:ext cx="7569025" cy="63246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039"/>
              </a:lnSpc>
            </a:pPr>
            <a:r>
              <a:rPr lang="en-US" sz="3599">
                <a:solidFill>
                  <a:srgbClr val="000000"/>
                </a:solidFill>
                <a:latin typeface="Josefin Sans"/>
                <a:ea typeface="Josefin Sans"/>
                <a:cs typeface="Josefin Sans"/>
                <a:sym typeface="Josefin Sans"/>
              </a:rPr>
              <a:t>Điều chỉnh theo sai số quá khứ</a:t>
            </a:r>
          </a:p>
        </p:txBody>
      </p:sp>
      <p:sp>
        <p:nvSpPr>
          <p:cNvPr id="16" name="TextBox 16"/>
          <p:cNvSpPr txBox="1"/>
          <p:nvPr/>
        </p:nvSpPr>
        <p:spPr>
          <a:xfrm>
            <a:off x="2349698" y="6762262"/>
            <a:ext cx="15376504" cy="139382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599"/>
              </a:lnSpc>
              <a:spcBef>
                <a:spcPct val="0"/>
              </a:spcBef>
            </a:pPr>
            <a:r>
              <a:rPr lang="en-US" sz="3999" b="1">
                <a:solidFill>
                  <a:srgbClr val="0A008E"/>
                </a:solidFill>
                <a:latin typeface="Josefin Sans Bold"/>
                <a:ea typeface="Josefin Sans Bold"/>
                <a:cs typeface="Josefin Sans Bold"/>
                <a:sym typeface="Josefin Sans Bold"/>
              </a:rPr>
              <a:t>Phương pháp tự động tìm kiếm bộ tham số tối ưu cho mô hình ARIMA mà không cần can thiệp thủ công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EF6F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-2031215" y="-2323593"/>
            <a:ext cx="4062430" cy="4114800"/>
          </a:xfrm>
          <a:custGeom>
            <a:avLst/>
            <a:gdLst/>
            <a:ahLst/>
            <a:cxnLst/>
            <a:rect l="l" t="t" r="r" b="b"/>
            <a:pathLst>
              <a:path w="4062430" h="4114800">
                <a:moveTo>
                  <a:pt x="0" y="0"/>
                </a:moveTo>
                <a:lnTo>
                  <a:pt x="4062430" y="0"/>
                </a:lnTo>
                <a:lnTo>
                  <a:pt x="4062430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3" name="Freeform 3"/>
          <p:cNvSpPr/>
          <p:nvPr/>
        </p:nvSpPr>
        <p:spPr>
          <a:xfrm flipH="1" flipV="1">
            <a:off x="15090620" y="0"/>
            <a:ext cx="7147278" cy="3993541"/>
          </a:xfrm>
          <a:custGeom>
            <a:avLst/>
            <a:gdLst/>
            <a:ahLst/>
            <a:cxnLst/>
            <a:rect l="l" t="t" r="r" b="b"/>
            <a:pathLst>
              <a:path w="7147278" h="3993541">
                <a:moveTo>
                  <a:pt x="7147278" y="3993541"/>
                </a:moveTo>
                <a:lnTo>
                  <a:pt x="0" y="3993541"/>
                </a:lnTo>
                <a:lnTo>
                  <a:pt x="0" y="0"/>
                </a:lnTo>
                <a:lnTo>
                  <a:pt x="7147278" y="0"/>
                </a:lnTo>
                <a:lnTo>
                  <a:pt x="7147278" y="3993541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4" name="TextBox 4"/>
          <p:cNvSpPr txBox="1"/>
          <p:nvPr/>
        </p:nvSpPr>
        <p:spPr>
          <a:xfrm>
            <a:off x="1715413" y="406163"/>
            <a:ext cx="14857174" cy="82740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5334"/>
              </a:lnSpc>
            </a:pPr>
            <a:r>
              <a:rPr lang="en-US" sz="5499">
                <a:solidFill>
                  <a:srgbClr val="090147"/>
                </a:solidFill>
                <a:latin typeface="Bungee"/>
                <a:ea typeface="Bungee"/>
                <a:cs typeface="Bungee"/>
                <a:sym typeface="Bungee"/>
              </a:rPr>
              <a:t>RECIPE 3-6: AUTO-ARIMA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1028700" y="1775389"/>
            <a:ext cx="3635168" cy="71932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5406"/>
              </a:lnSpc>
              <a:spcBef>
                <a:spcPct val="0"/>
              </a:spcBef>
            </a:pPr>
            <a:r>
              <a:rPr lang="en-US" sz="5100">
                <a:solidFill>
                  <a:srgbClr val="4288DD"/>
                </a:solidFill>
                <a:latin typeface="Josefin Sans"/>
                <a:ea typeface="Josefin Sans"/>
                <a:cs typeface="Josefin Sans"/>
                <a:sym typeface="Josefin Sans"/>
              </a:rPr>
              <a:t>Quy trình: 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7370766" y="2530026"/>
            <a:ext cx="3833550" cy="63246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039"/>
              </a:lnSpc>
            </a:pPr>
            <a:r>
              <a:rPr lang="en-US" sz="3599">
                <a:solidFill>
                  <a:srgbClr val="000000"/>
                </a:solidFill>
                <a:latin typeface="Josefin Sans"/>
                <a:ea typeface="Josefin Sans"/>
                <a:cs typeface="Josefin Sans"/>
                <a:sym typeface="Josefin Sans"/>
              </a:rPr>
              <a:t>Đánh giá mô hình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6285780" y="3903142"/>
            <a:ext cx="1860519" cy="63246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039"/>
              </a:lnSpc>
            </a:pPr>
            <a:r>
              <a:rPr lang="en-US" sz="3599">
                <a:solidFill>
                  <a:srgbClr val="000000"/>
                </a:solidFill>
                <a:latin typeface="Josefin Sans"/>
                <a:ea typeface="Josefin Sans"/>
                <a:cs typeface="Josefin Sans"/>
                <a:sym typeface="Josefin Sans"/>
              </a:rPr>
              <a:t>Dự báo</a:t>
            </a:r>
          </a:p>
        </p:txBody>
      </p:sp>
      <p:grpSp>
        <p:nvGrpSpPr>
          <p:cNvPr id="8" name="Group 8"/>
          <p:cNvGrpSpPr/>
          <p:nvPr/>
        </p:nvGrpSpPr>
        <p:grpSpPr>
          <a:xfrm>
            <a:off x="484733" y="8090151"/>
            <a:ext cx="2243846" cy="1049720"/>
            <a:chOff x="0" y="0"/>
            <a:chExt cx="2991795" cy="1399627"/>
          </a:xfrm>
        </p:grpSpPr>
        <p:sp>
          <p:nvSpPr>
            <p:cNvPr id="9" name="Freeform 9"/>
            <p:cNvSpPr/>
            <p:nvPr/>
          </p:nvSpPr>
          <p:spPr>
            <a:xfrm>
              <a:off x="0" y="0"/>
              <a:ext cx="2991795" cy="1399627"/>
            </a:xfrm>
            <a:custGeom>
              <a:avLst/>
              <a:gdLst/>
              <a:ahLst/>
              <a:cxnLst/>
              <a:rect l="l" t="t" r="r" b="b"/>
              <a:pathLst>
                <a:path w="2991795" h="1399627">
                  <a:moveTo>
                    <a:pt x="0" y="0"/>
                  </a:moveTo>
                  <a:lnTo>
                    <a:pt x="2991795" y="0"/>
                  </a:lnTo>
                  <a:lnTo>
                    <a:pt x="2991795" y="1399627"/>
                  </a:lnTo>
                  <a:lnTo>
                    <a:pt x="0" y="139962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>
                <a:extLst>
                  <a:ext uri="{96DAC541-7B7A-43D3-8B79-37D633B846F1}">
                    <asvg:svgBlip xmlns:asvg="http://schemas.microsoft.com/office/drawing/2016/SVG/main" r:embed="rId4"/>
                  </a:ext>
                </a:extLst>
              </a:blip>
              <a:stretch>
                <a:fillRect/>
              </a:stretch>
            </a:blipFill>
          </p:spPr>
          <p:txBody>
            <a:bodyPr/>
            <a:lstStyle/>
            <a:p>
              <a:endParaRPr lang="en-US"/>
            </a:p>
          </p:txBody>
        </p:sp>
        <p:grpSp>
          <p:nvGrpSpPr>
            <p:cNvPr id="10" name="Group 10"/>
            <p:cNvGrpSpPr/>
            <p:nvPr/>
          </p:nvGrpSpPr>
          <p:grpSpPr>
            <a:xfrm>
              <a:off x="16667" y="86762"/>
              <a:ext cx="1226104" cy="1226104"/>
              <a:chOff x="0" y="0"/>
              <a:chExt cx="812800" cy="812800"/>
            </a:xfrm>
          </p:grpSpPr>
          <p:sp>
            <p:nvSpPr>
              <p:cNvPr id="11" name="Freeform 11"/>
              <p:cNvSpPr/>
              <p:nvPr/>
            </p:nvSpPr>
            <p:spPr>
              <a:xfrm>
                <a:off x="0" y="0"/>
                <a:ext cx="812800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 w="95250" cap="sq">
                <a:solidFill>
                  <a:srgbClr val="C3F1FC"/>
                </a:solidFill>
                <a:prstDash val="solid"/>
                <a:miter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2" name="TextBox 12"/>
              <p:cNvSpPr txBox="1"/>
              <p:nvPr/>
            </p:nvSpPr>
            <p:spPr>
              <a:xfrm>
                <a:off x="76200" y="38100"/>
                <a:ext cx="660400" cy="698500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239"/>
                  </a:lnSpc>
                </a:pPr>
                <a:endParaRPr/>
              </a:p>
            </p:txBody>
          </p:sp>
        </p:grpSp>
        <p:sp>
          <p:nvSpPr>
            <p:cNvPr id="13" name="TextBox 13"/>
            <p:cNvSpPr txBox="1"/>
            <p:nvPr/>
          </p:nvSpPr>
          <p:spPr>
            <a:xfrm>
              <a:off x="16667" y="468911"/>
              <a:ext cx="1226104" cy="423704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2664"/>
                </a:lnSpc>
              </a:pPr>
              <a:r>
                <a:rPr lang="en-US" sz="1903" b="1">
                  <a:solidFill>
                    <a:srgbClr val="A6DF18"/>
                  </a:solidFill>
                  <a:latin typeface="DM Sans Bold"/>
                  <a:ea typeface="DM Sans Bold"/>
                  <a:cs typeface="DM Sans Bold"/>
                  <a:sym typeface="DM Sans Bold"/>
                </a:rPr>
                <a:t>01</a:t>
              </a:r>
            </a:p>
          </p:txBody>
        </p:sp>
      </p:grpSp>
      <p:sp>
        <p:nvSpPr>
          <p:cNvPr id="14" name="TextBox 14"/>
          <p:cNvSpPr txBox="1"/>
          <p:nvPr/>
        </p:nvSpPr>
        <p:spPr>
          <a:xfrm>
            <a:off x="3233624" y="7987665"/>
            <a:ext cx="4912675" cy="127063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039"/>
              </a:lnSpc>
            </a:pPr>
            <a:r>
              <a:rPr lang="en-US" sz="3599">
                <a:solidFill>
                  <a:srgbClr val="000000"/>
                </a:solidFill>
                <a:latin typeface="Josefin Sans"/>
                <a:ea typeface="Josefin Sans"/>
                <a:cs typeface="Josefin Sans"/>
                <a:sym typeface="Josefin Sans"/>
              </a:rPr>
              <a:t>Chuẩn bị dữ liệu</a:t>
            </a:r>
          </a:p>
          <a:p>
            <a:pPr algn="l">
              <a:lnSpc>
                <a:spcPts val="5039"/>
              </a:lnSpc>
            </a:pPr>
            <a:r>
              <a:rPr lang="en-US" sz="3599">
                <a:solidFill>
                  <a:srgbClr val="000000"/>
                </a:solidFill>
                <a:latin typeface="Josefin Sans"/>
                <a:ea typeface="Josefin Sans"/>
                <a:cs typeface="Josefin Sans"/>
                <a:sym typeface="Josefin Sans"/>
              </a:rPr>
              <a:t>Đặt thời gian → index</a:t>
            </a:r>
          </a:p>
        </p:txBody>
      </p:sp>
      <p:grpSp>
        <p:nvGrpSpPr>
          <p:cNvPr id="15" name="Group 15"/>
          <p:cNvGrpSpPr/>
          <p:nvPr/>
        </p:nvGrpSpPr>
        <p:grpSpPr>
          <a:xfrm>
            <a:off x="1606656" y="6437616"/>
            <a:ext cx="2295315" cy="1073798"/>
            <a:chOff x="0" y="0"/>
            <a:chExt cx="3060420" cy="1431731"/>
          </a:xfrm>
        </p:grpSpPr>
        <p:sp>
          <p:nvSpPr>
            <p:cNvPr id="16" name="Freeform 16"/>
            <p:cNvSpPr/>
            <p:nvPr/>
          </p:nvSpPr>
          <p:spPr>
            <a:xfrm>
              <a:off x="0" y="0"/>
              <a:ext cx="3060420" cy="1431731"/>
            </a:xfrm>
            <a:custGeom>
              <a:avLst/>
              <a:gdLst/>
              <a:ahLst/>
              <a:cxnLst/>
              <a:rect l="l" t="t" r="r" b="b"/>
              <a:pathLst>
                <a:path w="3060420" h="1431731">
                  <a:moveTo>
                    <a:pt x="0" y="0"/>
                  </a:moveTo>
                  <a:lnTo>
                    <a:pt x="3060420" y="0"/>
                  </a:lnTo>
                  <a:lnTo>
                    <a:pt x="3060420" y="1431731"/>
                  </a:lnTo>
                  <a:lnTo>
                    <a:pt x="0" y="143173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>
                <a:extLst>
                  <a:ext uri="{96DAC541-7B7A-43D3-8B79-37D633B846F1}">
                    <asvg:svgBlip xmlns:asvg="http://schemas.microsoft.com/office/drawing/2016/SVG/main" r:embed="rId5"/>
                  </a:ext>
                </a:extLst>
              </a:blip>
              <a:stretch>
                <a:fillRect/>
              </a:stretch>
            </a:blipFill>
          </p:spPr>
          <p:txBody>
            <a:bodyPr/>
            <a:lstStyle/>
            <a:p>
              <a:endParaRPr lang="en-US"/>
            </a:p>
          </p:txBody>
        </p:sp>
        <p:grpSp>
          <p:nvGrpSpPr>
            <p:cNvPr id="17" name="Group 17"/>
            <p:cNvGrpSpPr/>
            <p:nvPr/>
          </p:nvGrpSpPr>
          <p:grpSpPr>
            <a:xfrm>
              <a:off x="0" y="35288"/>
              <a:ext cx="1254228" cy="1254228"/>
              <a:chOff x="0" y="0"/>
              <a:chExt cx="812800" cy="812800"/>
            </a:xfrm>
          </p:grpSpPr>
          <p:sp>
            <p:nvSpPr>
              <p:cNvPr id="18" name="Freeform 18"/>
              <p:cNvSpPr/>
              <p:nvPr/>
            </p:nvSpPr>
            <p:spPr>
              <a:xfrm>
                <a:off x="0" y="0"/>
                <a:ext cx="812800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 w="95250" cap="sq">
                <a:solidFill>
                  <a:srgbClr val="90B7E7"/>
                </a:solidFill>
                <a:prstDash val="solid"/>
                <a:miter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9" name="TextBox 19"/>
              <p:cNvSpPr txBox="1"/>
              <p:nvPr/>
            </p:nvSpPr>
            <p:spPr>
              <a:xfrm>
                <a:off x="76200" y="38100"/>
                <a:ext cx="660400" cy="698500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240"/>
                  </a:lnSpc>
                </a:pPr>
                <a:endParaRPr/>
              </a:p>
            </p:txBody>
          </p:sp>
        </p:grpSp>
        <p:sp>
          <p:nvSpPr>
            <p:cNvPr id="20" name="TextBox 20"/>
            <p:cNvSpPr txBox="1"/>
            <p:nvPr/>
          </p:nvSpPr>
          <p:spPr>
            <a:xfrm>
              <a:off x="0" y="436602"/>
              <a:ext cx="1254228" cy="423024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2725"/>
                </a:lnSpc>
              </a:pPr>
              <a:r>
                <a:rPr lang="en-US" sz="1946" b="1">
                  <a:solidFill>
                    <a:srgbClr val="00CC91"/>
                  </a:solidFill>
                  <a:latin typeface="DM Sans Bold"/>
                  <a:ea typeface="DM Sans Bold"/>
                  <a:cs typeface="DM Sans Bold"/>
                  <a:sym typeface="DM Sans Bold"/>
                </a:rPr>
                <a:t>02</a:t>
              </a:r>
            </a:p>
          </p:txBody>
        </p:sp>
      </p:grpSp>
      <p:sp>
        <p:nvSpPr>
          <p:cNvPr id="21" name="TextBox 21"/>
          <p:cNvSpPr txBox="1"/>
          <p:nvPr/>
        </p:nvSpPr>
        <p:spPr>
          <a:xfrm>
            <a:off x="4223757" y="6615423"/>
            <a:ext cx="4124045" cy="63246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039"/>
              </a:lnSpc>
            </a:pPr>
            <a:r>
              <a:rPr lang="en-US" sz="3599">
                <a:solidFill>
                  <a:srgbClr val="000000"/>
                </a:solidFill>
                <a:latin typeface="Josefin Sans"/>
                <a:ea typeface="Josefin Sans"/>
                <a:cs typeface="Josefin Sans"/>
                <a:sym typeface="Josefin Sans"/>
              </a:rPr>
              <a:t>Kiểm tra tính dừng</a:t>
            </a:r>
          </a:p>
        </p:txBody>
      </p:sp>
      <p:grpSp>
        <p:nvGrpSpPr>
          <p:cNvPr id="22" name="Group 22"/>
          <p:cNvGrpSpPr/>
          <p:nvPr/>
        </p:nvGrpSpPr>
        <p:grpSpPr>
          <a:xfrm>
            <a:off x="2604620" y="5042317"/>
            <a:ext cx="2310654" cy="1080974"/>
            <a:chOff x="0" y="0"/>
            <a:chExt cx="3080872" cy="1441299"/>
          </a:xfrm>
        </p:grpSpPr>
        <p:sp>
          <p:nvSpPr>
            <p:cNvPr id="23" name="Freeform 23"/>
            <p:cNvSpPr/>
            <p:nvPr/>
          </p:nvSpPr>
          <p:spPr>
            <a:xfrm>
              <a:off x="0" y="0"/>
              <a:ext cx="3080872" cy="1441299"/>
            </a:xfrm>
            <a:custGeom>
              <a:avLst/>
              <a:gdLst/>
              <a:ahLst/>
              <a:cxnLst/>
              <a:rect l="l" t="t" r="r" b="b"/>
              <a:pathLst>
                <a:path w="3080872" h="1441299">
                  <a:moveTo>
                    <a:pt x="0" y="0"/>
                  </a:moveTo>
                  <a:lnTo>
                    <a:pt x="3080872" y="0"/>
                  </a:lnTo>
                  <a:lnTo>
                    <a:pt x="3080872" y="1441299"/>
                  </a:lnTo>
                  <a:lnTo>
                    <a:pt x="0" y="144129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>
                <a:extLst>
                  <a:ext uri="{96DAC541-7B7A-43D3-8B79-37D633B846F1}">
                    <asvg:svgBlip xmlns:asvg="http://schemas.microsoft.com/office/drawing/2016/SVG/main" r:embed="rId6"/>
                  </a:ext>
                </a:extLst>
              </a:blip>
              <a:stretch>
                <a:fillRect/>
              </a:stretch>
            </a:blipFill>
          </p:spPr>
          <p:txBody>
            <a:bodyPr/>
            <a:lstStyle/>
            <a:p>
              <a:endParaRPr lang="en-US"/>
            </a:p>
          </p:txBody>
        </p:sp>
        <p:grpSp>
          <p:nvGrpSpPr>
            <p:cNvPr id="24" name="Group 24"/>
            <p:cNvGrpSpPr/>
            <p:nvPr/>
          </p:nvGrpSpPr>
          <p:grpSpPr>
            <a:xfrm>
              <a:off x="0" y="89345"/>
              <a:ext cx="1262609" cy="1262609"/>
              <a:chOff x="0" y="0"/>
              <a:chExt cx="812800" cy="812800"/>
            </a:xfrm>
          </p:grpSpPr>
          <p:sp>
            <p:nvSpPr>
              <p:cNvPr id="25" name="Freeform 25"/>
              <p:cNvSpPr/>
              <p:nvPr/>
            </p:nvSpPr>
            <p:spPr>
              <a:xfrm>
                <a:off x="0" y="0"/>
                <a:ext cx="812800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 w="95250" cap="sq">
                <a:solidFill>
                  <a:srgbClr val="6AA2E5"/>
                </a:solidFill>
                <a:prstDash val="solid"/>
                <a:miter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6" name="TextBox 26"/>
              <p:cNvSpPr txBox="1"/>
              <p:nvPr/>
            </p:nvSpPr>
            <p:spPr>
              <a:xfrm>
                <a:off x="76200" y="38100"/>
                <a:ext cx="660400" cy="698500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240"/>
                  </a:lnSpc>
                </a:pPr>
                <a:endParaRPr/>
              </a:p>
            </p:txBody>
          </p:sp>
        </p:grpSp>
        <p:sp>
          <p:nvSpPr>
            <p:cNvPr id="27" name="TextBox 27"/>
            <p:cNvSpPr txBox="1"/>
            <p:nvPr/>
          </p:nvSpPr>
          <p:spPr>
            <a:xfrm>
              <a:off x="0" y="493532"/>
              <a:ext cx="1262609" cy="425660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2743"/>
                </a:lnSpc>
              </a:pPr>
              <a:r>
                <a:rPr lang="en-US" sz="1959" b="1">
                  <a:solidFill>
                    <a:srgbClr val="00A7BF"/>
                  </a:solidFill>
                  <a:latin typeface="DM Sans Bold"/>
                  <a:ea typeface="DM Sans Bold"/>
                  <a:cs typeface="DM Sans Bold"/>
                  <a:sym typeface="DM Sans Bold"/>
                </a:rPr>
                <a:t>03</a:t>
              </a:r>
            </a:p>
          </p:txBody>
        </p:sp>
      </p:grpSp>
      <p:sp>
        <p:nvSpPr>
          <p:cNvPr id="28" name="TextBox 28"/>
          <p:cNvSpPr txBox="1"/>
          <p:nvPr/>
        </p:nvSpPr>
        <p:spPr>
          <a:xfrm>
            <a:off x="5088066" y="5252707"/>
            <a:ext cx="4565400" cy="63246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5039"/>
              </a:lnSpc>
              <a:spcBef>
                <a:spcPct val="0"/>
              </a:spcBef>
            </a:pPr>
            <a:r>
              <a:rPr lang="en-US" sz="3599">
                <a:solidFill>
                  <a:srgbClr val="000000"/>
                </a:solidFill>
                <a:latin typeface="Josefin Sans"/>
                <a:ea typeface="Josefin Sans"/>
                <a:cs typeface="Josefin Sans"/>
                <a:sym typeface="Josefin Sans"/>
              </a:rPr>
              <a:t>Tự động tìm tham số</a:t>
            </a:r>
          </a:p>
        </p:txBody>
      </p:sp>
      <p:grpSp>
        <p:nvGrpSpPr>
          <p:cNvPr id="29" name="Group 29"/>
          <p:cNvGrpSpPr/>
          <p:nvPr/>
        </p:nvGrpSpPr>
        <p:grpSpPr>
          <a:xfrm>
            <a:off x="3685899" y="3728963"/>
            <a:ext cx="2279808" cy="1066544"/>
            <a:chOff x="0" y="0"/>
            <a:chExt cx="3039744" cy="1422058"/>
          </a:xfrm>
        </p:grpSpPr>
        <p:sp>
          <p:nvSpPr>
            <p:cNvPr id="30" name="Freeform 30"/>
            <p:cNvSpPr/>
            <p:nvPr/>
          </p:nvSpPr>
          <p:spPr>
            <a:xfrm>
              <a:off x="0" y="0"/>
              <a:ext cx="3039744" cy="1422058"/>
            </a:xfrm>
            <a:custGeom>
              <a:avLst/>
              <a:gdLst/>
              <a:ahLst/>
              <a:cxnLst/>
              <a:rect l="l" t="t" r="r" b="b"/>
              <a:pathLst>
                <a:path w="3039744" h="1422058">
                  <a:moveTo>
                    <a:pt x="0" y="0"/>
                  </a:moveTo>
                  <a:lnTo>
                    <a:pt x="3039744" y="0"/>
                  </a:lnTo>
                  <a:lnTo>
                    <a:pt x="3039744" y="1422058"/>
                  </a:lnTo>
                  <a:lnTo>
                    <a:pt x="0" y="142205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>
                <a:extLst>
                  <a:ext uri="{96DAC541-7B7A-43D3-8B79-37D633B846F1}">
                    <asvg:svgBlip xmlns:asvg="http://schemas.microsoft.com/office/drawing/2016/SVG/main" r:embed="rId7"/>
                  </a:ext>
                </a:extLst>
              </a:blip>
              <a:stretch>
                <a:fillRect/>
              </a:stretch>
            </a:blipFill>
          </p:spPr>
          <p:txBody>
            <a:bodyPr/>
            <a:lstStyle/>
            <a:p>
              <a:endParaRPr lang="en-US"/>
            </a:p>
          </p:txBody>
        </p:sp>
        <p:grpSp>
          <p:nvGrpSpPr>
            <p:cNvPr id="31" name="Group 31"/>
            <p:cNvGrpSpPr/>
            <p:nvPr/>
          </p:nvGrpSpPr>
          <p:grpSpPr>
            <a:xfrm>
              <a:off x="0" y="88083"/>
              <a:ext cx="1244774" cy="1244774"/>
              <a:chOff x="0" y="0"/>
              <a:chExt cx="812800" cy="812800"/>
            </a:xfrm>
          </p:grpSpPr>
          <p:sp>
            <p:nvSpPr>
              <p:cNvPr id="32" name="Freeform 32"/>
              <p:cNvSpPr/>
              <p:nvPr/>
            </p:nvSpPr>
            <p:spPr>
              <a:xfrm>
                <a:off x="0" y="0"/>
                <a:ext cx="812800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 w="95250" cap="sq">
                <a:solidFill>
                  <a:srgbClr val="0085E0"/>
                </a:solidFill>
                <a:prstDash val="solid"/>
                <a:miter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3" name="TextBox 33"/>
              <p:cNvSpPr txBox="1"/>
              <p:nvPr/>
            </p:nvSpPr>
            <p:spPr>
              <a:xfrm>
                <a:off x="76200" y="38100"/>
                <a:ext cx="660400" cy="698500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240"/>
                  </a:lnSpc>
                </a:pPr>
                <a:endParaRPr/>
              </a:p>
            </p:txBody>
          </p:sp>
        </p:grpSp>
        <p:sp>
          <p:nvSpPr>
            <p:cNvPr id="34" name="TextBox 34"/>
            <p:cNvSpPr txBox="1"/>
            <p:nvPr/>
          </p:nvSpPr>
          <p:spPr>
            <a:xfrm>
              <a:off x="0" y="476632"/>
              <a:ext cx="1244774" cy="429576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2704"/>
                </a:lnSpc>
              </a:pPr>
              <a:r>
                <a:rPr lang="en-US" sz="1931" b="1">
                  <a:solidFill>
                    <a:srgbClr val="0085E0"/>
                  </a:solidFill>
                  <a:latin typeface="DM Sans Bold"/>
                  <a:ea typeface="DM Sans Bold"/>
                  <a:cs typeface="DM Sans Bold"/>
                  <a:sym typeface="DM Sans Bold"/>
                </a:rPr>
                <a:t>04</a:t>
              </a:r>
            </a:p>
          </p:txBody>
        </p:sp>
      </p:grpSp>
      <p:grpSp>
        <p:nvGrpSpPr>
          <p:cNvPr id="35" name="Group 35"/>
          <p:cNvGrpSpPr/>
          <p:nvPr/>
        </p:nvGrpSpPr>
        <p:grpSpPr>
          <a:xfrm>
            <a:off x="4824906" y="2355427"/>
            <a:ext cx="2281602" cy="1067383"/>
            <a:chOff x="0" y="0"/>
            <a:chExt cx="3042136" cy="1423178"/>
          </a:xfrm>
        </p:grpSpPr>
        <p:sp>
          <p:nvSpPr>
            <p:cNvPr id="36" name="Freeform 36"/>
            <p:cNvSpPr/>
            <p:nvPr/>
          </p:nvSpPr>
          <p:spPr>
            <a:xfrm>
              <a:off x="0" y="0"/>
              <a:ext cx="3042136" cy="1423178"/>
            </a:xfrm>
            <a:custGeom>
              <a:avLst/>
              <a:gdLst/>
              <a:ahLst/>
              <a:cxnLst/>
              <a:rect l="l" t="t" r="r" b="b"/>
              <a:pathLst>
                <a:path w="3042136" h="1423178">
                  <a:moveTo>
                    <a:pt x="0" y="0"/>
                  </a:moveTo>
                  <a:lnTo>
                    <a:pt x="3042136" y="0"/>
                  </a:lnTo>
                  <a:lnTo>
                    <a:pt x="3042136" y="1423178"/>
                  </a:lnTo>
                  <a:lnTo>
                    <a:pt x="0" y="142317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>
                <a:extLst>
                  <a:ext uri="{96DAC541-7B7A-43D3-8B79-37D633B846F1}">
                    <asvg:svgBlip xmlns:asvg="http://schemas.microsoft.com/office/drawing/2016/SVG/main" r:embed="rId8"/>
                  </a:ext>
                </a:extLst>
              </a:blip>
              <a:stretch>
                <a:fillRect/>
              </a:stretch>
            </a:blipFill>
          </p:spPr>
          <p:txBody>
            <a:bodyPr/>
            <a:lstStyle/>
            <a:p>
              <a:endParaRPr lang="en-US"/>
            </a:p>
          </p:txBody>
        </p:sp>
        <p:grpSp>
          <p:nvGrpSpPr>
            <p:cNvPr id="37" name="Group 37"/>
            <p:cNvGrpSpPr/>
            <p:nvPr/>
          </p:nvGrpSpPr>
          <p:grpSpPr>
            <a:xfrm>
              <a:off x="0" y="88222"/>
              <a:ext cx="1246734" cy="1246734"/>
              <a:chOff x="0" y="0"/>
              <a:chExt cx="812800" cy="812800"/>
            </a:xfrm>
          </p:grpSpPr>
          <p:sp>
            <p:nvSpPr>
              <p:cNvPr id="38" name="Freeform 38"/>
              <p:cNvSpPr/>
              <p:nvPr/>
            </p:nvSpPr>
            <p:spPr>
              <a:xfrm>
                <a:off x="0" y="0"/>
                <a:ext cx="812800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 w="95250" cap="sq">
                <a:solidFill>
                  <a:srgbClr val="5D65DA"/>
                </a:solidFill>
                <a:prstDash val="solid"/>
                <a:miter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9" name="TextBox 39"/>
              <p:cNvSpPr txBox="1"/>
              <p:nvPr/>
            </p:nvSpPr>
            <p:spPr>
              <a:xfrm>
                <a:off x="76200" y="38100"/>
                <a:ext cx="660400" cy="698500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240"/>
                  </a:lnSpc>
                </a:pPr>
                <a:endParaRPr/>
              </a:p>
            </p:txBody>
          </p:sp>
        </p:grpSp>
        <p:sp>
          <p:nvSpPr>
            <p:cNvPr id="40" name="TextBox 40"/>
            <p:cNvSpPr txBox="1"/>
            <p:nvPr/>
          </p:nvSpPr>
          <p:spPr>
            <a:xfrm>
              <a:off x="0" y="477443"/>
              <a:ext cx="1246734" cy="430192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2709"/>
                </a:lnSpc>
              </a:pPr>
              <a:r>
                <a:rPr lang="en-US" sz="1935" b="1">
                  <a:solidFill>
                    <a:srgbClr val="5D65DA"/>
                  </a:solidFill>
                  <a:latin typeface="DM Sans Bold"/>
                  <a:ea typeface="DM Sans Bold"/>
                  <a:cs typeface="DM Sans Bold"/>
                  <a:sym typeface="DM Sans Bold"/>
                </a:rPr>
                <a:t>05</a:t>
              </a:r>
            </a:p>
          </p:txBody>
        </p:sp>
      </p:grpSp>
      <p:sp>
        <p:nvSpPr>
          <p:cNvPr id="41" name="Freeform 41"/>
          <p:cNvSpPr/>
          <p:nvPr/>
        </p:nvSpPr>
        <p:spPr>
          <a:xfrm>
            <a:off x="9824916" y="3286975"/>
            <a:ext cx="8299606" cy="6301282"/>
          </a:xfrm>
          <a:custGeom>
            <a:avLst/>
            <a:gdLst/>
            <a:ahLst/>
            <a:cxnLst/>
            <a:rect l="l" t="t" r="r" b="b"/>
            <a:pathLst>
              <a:path w="8299606" h="6301282">
                <a:moveTo>
                  <a:pt x="0" y="0"/>
                </a:moveTo>
                <a:lnTo>
                  <a:pt x="8299605" y="0"/>
                </a:lnTo>
                <a:lnTo>
                  <a:pt x="8299605" y="6301283"/>
                </a:lnTo>
                <a:lnTo>
                  <a:pt x="0" y="6301283"/>
                </a:lnTo>
                <a:lnTo>
                  <a:pt x="0" y="0"/>
                </a:lnTo>
                <a:close/>
              </a:path>
            </a:pathLst>
          </a:custGeom>
          <a:blipFill>
            <a:blip r:embed="rId9"/>
            <a:stretch>
              <a:fillRect/>
            </a:stretch>
          </a:blipFill>
          <a:ln w="38100" cap="sq">
            <a:solidFill>
              <a:srgbClr val="000000"/>
            </a:solidFill>
            <a:prstDash val="solid"/>
            <a:miter/>
          </a:ln>
        </p:spPr>
        <p:txBody>
          <a:bodyPr/>
          <a:lstStyle/>
          <a:p>
            <a:endParaRPr lang="en-US"/>
          </a:p>
        </p:txBody>
      </p:sp>
      <p:sp>
        <p:nvSpPr>
          <p:cNvPr id="42" name="TextBox 42"/>
          <p:cNvSpPr txBox="1"/>
          <p:nvPr/>
        </p:nvSpPr>
        <p:spPr>
          <a:xfrm>
            <a:off x="6285780" y="9664458"/>
            <a:ext cx="11926442" cy="49530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199"/>
              </a:lnSpc>
              <a:spcBef>
                <a:spcPct val="0"/>
              </a:spcBef>
            </a:pPr>
            <a:r>
              <a:rPr lang="en-US" sz="2999" i="1">
                <a:solidFill>
                  <a:srgbClr val="000000"/>
                </a:solidFill>
                <a:latin typeface="Open Sans Italics"/>
                <a:ea typeface="Open Sans Italics"/>
                <a:cs typeface="Open Sans Italics"/>
                <a:sym typeface="Open Sans Italics"/>
              </a:rPr>
              <a:t>Dữ liệu chuỗi thời gian thể hiện doanh số champagne theo từng tháng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EF6F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-2031215" y="-2323593"/>
            <a:ext cx="4062430" cy="4114800"/>
          </a:xfrm>
          <a:custGeom>
            <a:avLst/>
            <a:gdLst/>
            <a:ahLst/>
            <a:cxnLst/>
            <a:rect l="l" t="t" r="r" b="b"/>
            <a:pathLst>
              <a:path w="4062430" h="4114800">
                <a:moveTo>
                  <a:pt x="0" y="0"/>
                </a:moveTo>
                <a:lnTo>
                  <a:pt x="4062430" y="0"/>
                </a:lnTo>
                <a:lnTo>
                  <a:pt x="4062430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3" name="Freeform 3"/>
          <p:cNvSpPr/>
          <p:nvPr/>
        </p:nvSpPr>
        <p:spPr>
          <a:xfrm flipH="1" flipV="1">
            <a:off x="15090620" y="0"/>
            <a:ext cx="7147278" cy="3993541"/>
          </a:xfrm>
          <a:custGeom>
            <a:avLst/>
            <a:gdLst/>
            <a:ahLst/>
            <a:cxnLst/>
            <a:rect l="l" t="t" r="r" b="b"/>
            <a:pathLst>
              <a:path w="7147278" h="3993541">
                <a:moveTo>
                  <a:pt x="7147278" y="3993541"/>
                </a:moveTo>
                <a:lnTo>
                  <a:pt x="0" y="3993541"/>
                </a:lnTo>
                <a:lnTo>
                  <a:pt x="0" y="0"/>
                </a:lnTo>
                <a:lnTo>
                  <a:pt x="7147278" y="0"/>
                </a:lnTo>
                <a:lnTo>
                  <a:pt x="7147278" y="3993541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4" name="Freeform 4"/>
          <p:cNvSpPr/>
          <p:nvPr/>
        </p:nvSpPr>
        <p:spPr>
          <a:xfrm>
            <a:off x="9144000" y="4586996"/>
            <a:ext cx="9104860" cy="5599039"/>
          </a:xfrm>
          <a:custGeom>
            <a:avLst/>
            <a:gdLst/>
            <a:ahLst/>
            <a:cxnLst/>
            <a:rect l="l" t="t" r="r" b="b"/>
            <a:pathLst>
              <a:path w="9104860" h="5599039">
                <a:moveTo>
                  <a:pt x="0" y="0"/>
                </a:moveTo>
                <a:lnTo>
                  <a:pt x="9104860" y="0"/>
                </a:lnTo>
                <a:lnTo>
                  <a:pt x="9104860" y="5599039"/>
                </a:lnTo>
                <a:lnTo>
                  <a:pt x="0" y="5599039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5" name="Freeform 5"/>
          <p:cNvSpPr/>
          <p:nvPr/>
        </p:nvSpPr>
        <p:spPr>
          <a:xfrm>
            <a:off x="12884495" y="3139007"/>
            <a:ext cx="3083293" cy="730254"/>
          </a:xfrm>
          <a:custGeom>
            <a:avLst/>
            <a:gdLst/>
            <a:ahLst/>
            <a:cxnLst/>
            <a:rect l="l" t="t" r="r" b="b"/>
            <a:pathLst>
              <a:path w="3083293" h="730254">
                <a:moveTo>
                  <a:pt x="0" y="0"/>
                </a:moveTo>
                <a:lnTo>
                  <a:pt x="3083293" y="0"/>
                </a:lnTo>
                <a:lnTo>
                  <a:pt x="3083293" y="730254"/>
                </a:lnTo>
                <a:lnTo>
                  <a:pt x="0" y="730254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6" name="TextBox 6"/>
          <p:cNvSpPr txBox="1"/>
          <p:nvPr/>
        </p:nvSpPr>
        <p:spPr>
          <a:xfrm>
            <a:off x="1715413" y="406163"/>
            <a:ext cx="14857174" cy="82740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5334"/>
              </a:lnSpc>
            </a:pPr>
            <a:r>
              <a:rPr lang="en-US" sz="5499">
                <a:solidFill>
                  <a:srgbClr val="090147"/>
                </a:solidFill>
                <a:latin typeface="Bungee"/>
                <a:ea typeface="Bungee"/>
                <a:cs typeface="Bungee"/>
                <a:sym typeface="Bungee"/>
              </a:rPr>
              <a:t>RECIPE 3-6: AUTO-ARIMA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-9525" y="2053921"/>
            <a:ext cx="4783495" cy="71932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5406"/>
              </a:lnSpc>
              <a:spcBef>
                <a:spcPct val="0"/>
              </a:spcBef>
            </a:pPr>
            <a:r>
              <a:rPr lang="en-US" sz="5100">
                <a:solidFill>
                  <a:srgbClr val="4288DD"/>
                </a:solidFill>
                <a:latin typeface="Josefin Sans"/>
                <a:ea typeface="Josefin Sans"/>
                <a:cs typeface="Josefin Sans"/>
                <a:sym typeface="Josefin Sans"/>
              </a:rPr>
              <a:t>Tính dừng ? 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4793883" y="2025917"/>
            <a:ext cx="11778704" cy="63246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5039"/>
              </a:lnSpc>
              <a:spcBef>
                <a:spcPct val="0"/>
              </a:spcBef>
            </a:pPr>
            <a:r>
              <a:rPr lang="en-US" sz="3599">
                <a:solidFill>
                  <a:srgbClr val="000000"/>
                </a:solidFill>
                <a:latin typeface="Josefin Sans"/>
                <a:ea typeface="Josefin Sans"/>
                <a:cs typeface="Josefin Sans"/>
                <a:sym typeface="Josefin Sans"/>
              </a:rPr>
              <a:t>Dữ liệu dừng thường dao động quanh một giá trị cố định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388752" y="4501271"/>
            <a:ext cx="7881493" cy="135826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459"/>
              </a:lnSpc>
              <a:spcBef>
                <a:spcPct val="0"/>
              </a:spcBef>
            </a:pPr>
            <a:r>
              <a:rPr lang="en-US" sz="3900" b="1">
                <a:solidFill>
                  <a:srgbClr val="020BB5"/>
                </a:solidFill>
                <a:latin typeface="Josefin Sans Bold"/>
                <a:ea typeface="Josefin Sans Bold"/>
                <a:cs typeface="Josefin Sans Bold"/>
                <a:sym typeface="Josefin Sans Bold"/>
              </a:rPr>
              <a:t>Xu hướng tăng dần và tính mùa vụ lặp lại hàng năm 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388752" y="2916124"/>
            <a:ext cx="10790852" cy="110934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479"/>
              </a:lnSpc>
              <a:spcBef>
                <a:spcPct val="0"/>
              </a:spcBef>
            </a:pPr>
            <a:r>
              <a:rPr lang="en-US" sz="3199" b="1">
                <a:solidFill>
                  <a:srgbClr val="000000"/>
                </a:solidFill>
                <a:latin typeface="Courier New Bold"/>
                <a:ea typeface="Courier New Bold"/>
                <a:cs typeface="Courier New Bold"/>
                <a:sym typeface="Courier New Bold"/>
              </a:rPr>
              <a:t>stationary_test = ADFTest(alpha= 0.05)</a:t>
            </a:r>
          </a:p>
          <a:p>
            <a:pPr algn="ctr">
              <a:lnSpc>
                <a:spcPts val="4479"/>
              </a:lnSpc>
              <a:spcBef>
                <a:spcPct val="0"/>
              </a:spcBef>
            </a:pPr>
            <a:r>
              <a:rPr lang="en-US" sz="3199" b="1">
                <a:solidFill>
                  <a:srgbClr val="000000"/>
                </a:solidFill>
                <a:latin typeface="Courier New Bold"/>
                <a:ea typeface="Courier New Bold"/>
                <a:cs typeface="Courier New Bold"/>
                <a:sym typeface="Courier New Bold"/>
              </a:rPr>
              <a:t>stationary_test.should_diff(auto_arima_data)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388752" y="6116711"/>
            <a:ext cx="8250056" cy="223329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479"/>
              </a:lnSpc>
              <a:spcBef>
                <a:spcPct val="0"/>
              </a:spcBef>
            </a:pPr>
            <a:r>
              <a:rPr lang="en-US" sz="3199" b="1">
                <a:solidFill>
                  <a:srgbClr val="000000"/>
                </a:solidFill>
                <a:latin typeface="Courier New Bold"/>
                <a:ea typeface="Courier New Bold"/>
                <a:cs typeface="Courier New Bold"/>
                <a:sym typeface="Courier New Bold"/>
              </a:rPr>
              <a:t>train_data = auto_arima_data[:85]</a:t>
            </a:r>
          </a:p>
          <a:p>
            <a:pPr algn="l">
              <a:lnSpc>
                <a:spcPts val="4479"/>
              </a:lnSpc>
              <a:spcBef>
                <a:spcPct val="0"/>
              </a:spcBef>
            </a:pPr>
            <a:r>
              <a:rPr lang="en-US" sz="3199" b="1">
                <a:solidFill>
                  <a:srgbClr val="000000"/>
                </a:solidFill>
                <a:latin typeface="Courier New Bold"/>
                <a:ea typeface="Courier New Bold"/>
                <a:cs typeface="Courier New Bold"/>
                <a:sym typeface="Courier New Bold"/>
              </a:rPr>
              <a:t>test_data = auto_arima_data[-20:]</a:t>
            </a:r>
          </a:p>
          <a:p>
            <a:pPr algn="l">
              <a:lnSpc>
                <a:spcPts val="4479"/>
              </a:lnSpc>
              <a:spcBef>
                <a:spcPct val="0"/>
              </a:spcBef>
            </a:pPr>
            <a:r>
              <a:rPr lang="en-US" sz="3199" b="1">
                <a:solidFill>
                  <a:srgbClr val="000000"/>
                </a:solidFill>
                <a:latin typeface="Courier New Bold"/>
                <a:ea typeface="Courier New Bold"/>
                <a:cs typeface="Courier New Bold"/>
                <a:sym typeface="Courier New Bold"/>
              </a:rPr>
              <a:t>plt.plot(train_data)</a:t>
            </a:r>
          </a:p>
          <a:p>
            <a:pPr algn="l">
              <a:lnSpc>
                <a:spcPts val="4479"/>
              </a:lnSpc>
              <a:spcBef>
                <a:spcPct val="0"/>
              </a:spcBef>
            </a:pPr>
            <a:r>
              <a:rPr lang="en-US" sz="3199" b="1">
                <a:solidFill>
                  <a:srgbClr val="000000"/>
                </a:solidFill>
                <a:latin typeface="Courier New Bold"/>
                <a:ea typeface="Courier New Bold"/>
                <a:cs typeface="Courier New Bold"/>
                <a:sym typeface="Courier New Bold"/>
              </a:rPr>
              <a:t>plt.plot(test_data)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EF6F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-2031215" y="-2323593"/>
            <a:ext cx="4062430" cy="4114800"/>
          </a:xfrm>
          <a:custGeom>
            <a:avLst/>
            <a:gdLst/>
            <a:ahLst/>
            <a:cxnLst/>
            <a:rect l="l" t="t" r="r" b="b"/>
            <a:pathLst>
              <a:path w="4062430" h="4114800">
                <a:moveTo>
                  <a:pt x="0" y="0"/>
                </a:moveTo>
                <a:lnTo>
                  <a:pt x="4062430" y="0"/>
                </a:lnTo>
                <a:lnTo>
                  <a:pt x="4062430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3" name="Freeform 3"/>
          <p:cNvSpPr/>
          <p:nvPr/>
        </p:nvSpPr>
        <p:spPr>
          <a:xfrm flipH="1" flipV="1">
            <a:off x="15090620" y="0"/>
            <a:ext cx="7147278" cy="3993541"/>
          </a:xfrm>
          <a:custGeom>
            <a:avLst/>
            <a:gdLst/>
            <a:ahLst/>
            <a:cxnLst/>
            <a:rect l="l" t="t" r="r" b="b"/>
            <a:pathLst>
              <a:path w="7147278" h="3993541">
                <a:moveTo>
                  <a:pt x="7147278" y="3993541"/>
                </a:moveTo>
                <a:lnTo>
                  <a:pt x="0" y="3993541"/>
                </a:lnTo>
                <a:lnTo>
                  <a:pt x="0" y="0"/>
                </a:lnTo>
                <a:lnTo>
                  <a:pt x="7147278" y="0"/>
                </a:lnTo>
                <a:lnTo>
                  <a:pt x="7147278" y="3993541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4" name="TextBox 4"/>
          <p:cNvSpPr txBox="1"/>
          <p:nvPr/>
        </p:nvSpPr>
        <p:spPr>
          <a:xfrm>
            <a:off x="1715413" y="406163"/>
            <a:ext cx="14857174" cy="82740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5334"/>
              </a:lnSpc>
            </a:pPr>
            <a:r>
              <a:rPr lang="en-US" sz="5499">
                <a:solidFill>
                  <a:srgbClr val="090147"/>
                </a:solidFill>
                <a:latin typeface="Bungee"/>
                <a:ea typeface="Bungee"/>
                <a:cs typeface="Bungee"/>
                <a:sym typeface="Bungee"/>
              </a:rPr>
              <a:t>RECIPE 3-6: AUTO-ARIMA</a:t>
            </a:r>
          </a:p>
        </p:txBody>
      </p:sp>
      <p:grpSp>
        <p:nvGrpSpPr>
          <p:cNvPr id="5" name="Group 5"/>
          <p:cNvGrpSpPr/>
          <p:nvPr/>
        </p:nvGrpSpPr>
        <p:grpSpPr>
          <a:xfrm>
            <a:off x="121139" y="2593991"/>
            <a:ext cx="7900022" cy="7234754"/>
            <a:chOff x="0" y="0"/>
            <a:chExt cx="10533363" cy="9646339"/>
          </a:xfrm>
        </p:grpSpPr>
        <p:grpSp>
          <p:nvGrpSpPr>
            <p:cNvPr id="6" name="Group 6"/>
            <p:cNvGrpSpPr/>
            <p:nvPr/>
          </p:nvGrpSpPr>
          <p:grpSpPr>
            <a:xfrm>
              <a:off x="0" y="0"/>
              <a:ext cx="10533363" cy="9646339"/>
              <a:chOff x="0" y="0"/>
              <a:chExt cx="2080664" cy="1905450"/>
            </a:xfrm>
          </p:grpSpPr>
          <p:sp>
            <p:nvSpPr>
              <p:cNvPr id="7" name="Freeform 7"/>
              <p:cNvSpPr/>
              <p:nvPr/>
            </p:nvSpPr>
            <p:spPr>
              <a:xfrm>
                <a:off x="0" y="0"/>
                <a:ext cx="2080664" cy="1905450"/>
              </a:xfrm>
              <a:custGeom>
                <a:avLst/>
                <a:gdLst/>
                <a:ahLst/>
                <a:cxnLst/>
                <a:rect l="l" t="t" r="r" b="b"/>
                <a:pathLst>
                  <a:path w="2080664" h="1905450">
                    <a:moveTo>
                      <a:pt x="49979" y="0"/>
                    </a:moveTo>
                    <a:lnTo>
                      <a:pt x="2030685" y="0"/>
                    </a:lnTo>
                    <a:cubicBezTo>
                      <a:pt x="2043940" y="0"/>
                      <a:pt x="2056653" y="5266"/>
                      <a:pt x="2066026" y="14639"/>
                    </a:cubicBezTo>
                    <a:cubicBezTo>
                      <a:pt x="2075399" y="24012"/>
                      <a:pt x="2080664" y="36724"/>
                      <a:pt x="2080664" y="49979"/>
                    </a:cubicBezTo>
                    <a:lnTo>
                      <a:pt x="2080664" y="1855470"/>
                    </a:lnTo>
                    <a:cubicBezTo>
                      <a:pt x="2080664" y="1868726"/>
                      <a:pt x="2075399" y="1881438"/>
                      <a:pt x="2066026" y="1890811"/>
                    </a:cubicBezTo>
                    <a:cubicBezTo>
                      <a:pt x="2056653" y="1900184"/>
                      <a:pt x="2043940" y="1905450"/>
                      <a:pt x="2030685" y="1905450"/>
                    </a:cubicBezTo>
                    <a:lnTo>
                      <a:pt x="49979" y="1905450"/>
                    </a:lnTo>
                    <a:cubicBezTo>
                      <a:pt x="36724" y="1905450"/>
                      <a:pt x="24012" y="1900184"/>
                      <a:pt x="14639" y="1890811"/>
                    </a:cubicBezTo>
                    <a:cubicBezTo>
                      <a:pt x="5266" y="1881438"/>
                      <a:pt x="0" y="1868726"/>
                      <a:pt x="0" y="1855470"/>
                    </a:cubicBezTo>
                    <a:lnTo>
                      <a:pt x="0" y="49979"/>
                    </a:lnTo>
                    <a:cubicBezTo>
                      <a:pt x="0" y="36724"/>
                      <a:pt x="5266" y="24012"/>
                      <a:pt x="14639" y="14639"/>
                    </a:cubicBezTo>
                    <a:cubicBezTo>
                      <a:pt x="24012" y="5266"/>
                      <a:pt x="36724" y="0"/>
                      <a:pt x="49979" y="0"/>
                    </a:cubicBezTo>
                    <a:close/>
                  </a:path>
                </a:pathLst>
              </a:custGeom>
              <a:solidFill>
                <a:srgbClr val="FFFFFF"/>
              </a:solidFill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8" name="TextBox 8"/>
              <p:cNvSpPr txBox="1"/>
              <p:nvPr/>
            </p:nvSpPr>
            <p:spPr>
              <a:xfrm>
                <a:off x="0" y="-38100"/>
                <a:ext cx="2080664" cy="1943550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659"/>
                  </a:lnSpc>
                  <a:spcBef>
                    <a:spcPct val="0"/>
                  </a:spcBef>
                </a:pPr>
                <a:endParaRPr/>
              </a:p>
            </p:txBody>
          </p:sp>
        </p:grpSp>
        <p:sp>
          <p:nvSpPr>
            <p:cNvPr id="9" name="TextBox 9"/>
            <p:cNvSpPr txBox="1"/>
            <p:nvPr/>
          </p:nvSpPr>
          <p:spPr>
            <a:xfrm>
              <a:off x="325962" y="308578"/>
              <a:ext cx="10207401" cy="9036051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4199"/>
                </a:lnSpc>
              </a:pPr>
              <a:r>
                <a:rPr lang="en-US" sz="2999" b="1">
                  <a:solidFill>
                    <a:srgbClr val="0400BF"/>
                  </a:solidFill>
                  <a:latin typeface="Courier New Bold"/>
                  <a:ea typeface="Courier New Bold"/>
                  <a:cs typeface="Courier New Bold"/>
                  <a:sym typeface="Courier New Bold"/>
                </a:rPr>
                <a:t>auto_arima_model = auto_arima(train_data, start_p = 0, d=1,</a:t>
              </a:r>
            </a:p>
            <a:p>
              <a:pPr algn="l">
                <a:lnSpc>
                  <a:spcPts val="4199"/>
                </a:lnSpc>
              </a:pPr>
              <a:r>
                <a:rPr lang="en-US" sz="2999" b="1">
                  <a:solidFill>
                    <a:srgbClr val="0400BF"/>
                  </a:solidFill>
                  <a:latin typeface="Courier New Bold"/>
                  <a:ea typeface="Courier New Bold"/>
                  <a:cs typeface="Courier New Bold"/>
                  <a:sym typeface="Courier New Bold"/>
                </a:rPr>
                <a:t>start_q = 0, max_p = 5, max_d = 5,max_q= 5, start_P = 0, D=1,</a:t>
              </a:r>
            </a:p>
            <a:p>
              <a:pPr algn="l">
                <a:lnSpc>
                  <a:spcPts val="4199"/>
                </a:lnSpc>
              </a:pPr>
              <a:r>
                <a:rPr lang="en-US" sz="2999" b="1">
                  <a:solidFill>
                    <a:srgbClr val="0400BF"/>
                  </a:solidFill>
                  <a:latin typeface="Courier New Bold"/>
                  <a:ea typeface="Courier New Bold"/>
                  <a:cs typeface="Courier New Bold"/>
                  <a:sym typeface="Courier New Bold"/>
                </a:rPr>
                <a:t>start_Q = 0, max_P = 5, max_D = 5,</a:t>
              </a:r>
            </a:p>
            <a:p>
              <a:pPr algn="l">
                <a:lnSpc>
                  <a:spcPts val="4199"/>
                </a:lnSpc>
              </a:pPr>
              <a:r>
                <a:rPr lang="en-US" sz="2999" b="1">
                  <a:solidFill>
                    <a:srgbClr val="0400BF"/>
                  </a:solidFill>
                  <a:latin typeface="Courier New Bold"/>
                  <a:ea typeface="Courier New Bold"/>
                  <a:cs typeface="Courier New Bold"/>
                  <a:sym typeface="Courier New Bold"/>
                </a:rPr>
                <a:t>max_Q= 5, m=12, seasonal = True,</a:t>
              </a:r>
            </a:p>
            <a:p>
              <a:pPr algn="l">
                <a:lnSpc>
                  <a:spcPts val="4199"/>
                </a:lnSpc>
                <a:spcBef>
                  <a:spcPct val="0"/>
                </a:spcBef>
              </a:pPr>
              <a:r>
                <a:rPr lang="en-US" sz="2999" b="1">
                  <a:solidFill>
                    <a:srgbClr val="0400BF"/>
                  </a:solidFill>
                  <a:latin typeface="Courier New Bold"/>
                  <a:ea typeface="Courier New Bold"/>
                  <a:cs typeface="Courier New Bold"/>
                  <a:sym typeface="Courier New Bold"/>
                </a:rPr>
                <a:t>error_action = 'warn', trace = True, supress_warnings= True,</a:t>
              </a:r>
            </a:p>
            <a:p>
              <a:pPr algn="l">
                <a:lnSpc>
                  <a:spcPts val="4199"/>
                </a:lnSpc>
                <a:spcBef>
                  <a:spcPct val="0"/>
                </a:spcBef>
              </a:pPr>
              <a:r>
                <a:rPr lang="en-US" sz="2999" b="1">
                  <a:solidFill>
                    <a:srgbClr val="0400BF"/>
                  </a:solidFill>
                  <a:latin typeface="Courier New Bold"/>
                  <a:ea typeface="Courier New Bold"/>
                  <a:cs typeface="Courier New Bold"/>
                  <a:sym typeface="Courier New Bold"/>
                </a:rPr>
                <a:t>stepwise = True, random_state =20,</a:t>
              </a:r>
            </a:p>
            <a:p>
              <a:pPr algn="l">
                <a:lnSpc>
                  <a:spcPts val="4199"/>
                </a:lnSpc>
                <a:spcBef>
                  <a:spcPct val="0"/>
                </a:spcBef>
              </a:pPr>
              <a:r>
                <a:rPr lang="en-US" sz="2999" b="1">
                  <a:solidFill>
                    <a:srgbClr val="0400BF"/>
                  </a:solidFill>
                  <a:latin typeface="Courier New Bold"/>
                  <a:ea typeface="Courier New Bold"/>
                  <a:cs typeface="Courier New Bold"/>
                  <a:sym typeface="Courier New Bold"/>
                </a:rPr>
                <a:t>n_fits = 50)</a:t>
              </a:r>
            </a:p>
          </p:txBody>
        </p:sp>
      </p:grpSp>
      <p:sp>
        <p:nvSpPr>
          <p:cNvPr id="10" name="TextBox 10"/>
          <p:cNvSpPr txBox="1"/>
          <p:nvPr/>
        </p:nvSpPr>
        <p:spPr>
          <a:xfrm>
            <a:off x="-163731" y="1848357"/>
            <a:ext cx="9144000" cy="71932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5406"/>
              </a:lnSpc>
              <a:spcBef>
                <a:spcPct val="0"/>
              </a:spcBef>
            </a:pPr>
            <a:r>
              <a:rPr lang="en-US" sz="5100">
                <a:solidFill>
                  <a:srgbClr val="4288DD"/>
                </a:solidFill>
                <a:latin typeface="Josefin Sans"/>
                <a:ea typeface="Josefin Sans"/>
                <a:cs typeface="Josefin Sans"/>
                <a:sym typeface="Josefin Sans"/>
              </a:rPr>
              <a:t>Xây dựng mô hình ARIMA 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8021161" y="2788545"/>
            <a:ext cx="7816977" cy="63246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5039"/>
              </a:lnSpc>
              <a:spcBef>
                <a:spcPct val="0"/>
              </a:spcBef>
            </a:pPr>
            <a:r>
              <a:rPr lang="en-US" sz="3599" b="1">
                <a:solidFill>
                  <a:srgbClr val="0400BF"/>
                </a:solidFill>
                <a:latin typeface="Josefin Sans Bold"/>
                <a:ea typeface="Josefin Sans Bold"/>
                <a:cs typeface="Josefin Sans Bold"/>
                <a:sym typeface="Josefin Sans Bold"/>
              </a:rPr>
              <a:t>start_p, start_q, start_P, start_Q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8980269" y="3537198"/>
            <a:ext cx="8910698" cy="127063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039"/>
              </a:lnSpc>
              <a:spcBef>
                <a:spcPct val="0"/>
              </a:spcBef>
            </a:pPr>
            <a:r>
              <a:rPr lang="en-US" sz="3599">
                <a:solidFill>
                  <a:srgbClr val="000000"/>
                </a:solidFill>
                <a:latin typeface="Josefin Sans"/>
                <a:ea typeface="Josefin Sans"/>
                <a:cs typeface="Josefin Sans"/>
                <a:sym typeface="Josefin Sans"/>
              </a:rPr>
              <a:t>Giá trị bắt đầu cho các tham số AR, MA cho ARIMA và ARIMA mùa vụ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8980269" y="5331143"/>
            <a:ext cx="8910698" cy="190881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039"/>
              </a:lnSpc>
              <a:spcBef>
                <a:spcPct val="0"/>
              </a:spcBef>
            </a:pPr>
            <a:r>
              <a:rPr lang="en-US" sz="3599">
                <a:solidFill>
                  <a:srgbClr val="000000"/>
                </a:solidFill>
                <a:latin typeface="Josefin Sans"/>
                <a:ea typeface="Josefin Sans"/>
                <a:cs typeface="Josefin Sans"/>
                <a:sym typeface="Josefin Sans"/>
              </a:rPr>
              <a:t>Bậc sai phân để làm dữ liệu ổn định (khử trend và seasonal trend</a:t>
            </a:r>
          </a:p>
          <a:p>
            <a:pPr algn="l">
              <a:lnSpc>
                <a:spcPts val="5039"/>
              </a:lnSpc>
              <a:spcBef>
                <a:spcPct val="0"/>
              </a:spcBef>
            </a:pPr>
            <a:r>
              <a:rPr lang="en-US" sz="3599">
                <a:solidFill>
                  <a:srgbClr val="000000"/>
                </a:solidFill>
                <a:latin typeface="Josefin Sans"/>
                <a:ea typeface="Josefin Sans"/>
                <a:cs typeface="Josefin Sans"/>
                <a:sym typeface="Josefin Sans"/>
              </a:rPr>
              <a:t>→ Đưa dữ liệu về trạng thái dừng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8338143" y="4784407"/>
            <a:ext cx="919498" cy="63246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039"/>
              </a:lnSpc>
              <a:spcBef>
                <a:spcPct val="0"/>
              </a:spcBef>
            </a:pPr>
            <a:r>
              <a:rPr lang="en-US" sz="3599" b="1">
                <a:solidFill>
                  <a:srgbClr val="0400BF"/>
                </a:solidFill>
                <a:latin typeface="Josefin Sans Bold"/>
                <a:ea typeface="Josefin Sans Bold"/>
                <a:cs typeface="Josefin Sans Bold"/>
                <a:sym typeface="Josefin Sans Bold"/>
              </a:rPr>
              <a:t>d,D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8338143" y="7519035"/>
            <a:ext cx="919498" cy="63246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039"/>
              </a:lnSpc>
              <a:spcBef>
                <a:spcPct val="0"/>
              </a:spcBef>
            </a:pPr>
            <a:r>
              <a:rPr lang="en-US" sz="3599" b="1">
                <a:solidFill>
                  <a:srgbClr val="0400BF"/>
                </a:solidFill>
                <a:latin typeface="Josefin Sans Bold"/>
                <a:ea typeface="Josefin Sans Bold"/>
                <a:cs typeface="Josefin Sans Bold"/>
                <a:sym typeface="Josefin Sans Bold"/>
              </a:rPr>
              <a:t>m</a:t>
            </a:r>
          </a:p>
        </p:txBody>
      </p:sp>
      <p:sp>
        <p:nvSpPr>
          <p:cNvPr id="16" name="TextBox 16"/>
          <p:cNvSpPr txBox="1"/>
          <p:nvPr/>
        </p:nvSpPr>
        <p:spPr>
          <a:xfrm>
            <a:off x="9381483" y="7519035"/>
            <a:ext cx="2966293" cy="63246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5039"/>
              </a:lnSpc>
              <a:spcBef>
                <a:spcPct val="0"/>
              </a:spcBef>
            </a:pPr>
            <a:r>
              <a:rPr lang="en-US" sz="3599">
                <a:solidFill>
                  <a:srgbClr val="000000"/>
                </a:solidFill>
                <a:latin typeface="Josefin Sans"/>
                <a:ea typeface="Josefin Sans"/>
                <a:cs typeface="Josefin Sans"/>
                <a:sym typeface="Josefin Sans"/>
              </a:rPr>
              <a:t>Chu kỳ thời vụ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EF6F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-2031215" y="-2323593"/>
            <a:ext cx="4062430" cy="4114800"/>
          </a:xfrm>
          <a:custGeom>
            <a:avLst/>
            <a:gdLst/>
            <a:ahLst/>
            <a:cxnLst/>
            <a:rect l="l" t="t" r="r" b="b"/>
            <a:pathLst>
              <a:path w="4062430" h="4114800">
                <a:moveTo>
                  <a:pt x="0" y="0"/>
                </a:moveTo>
                <a:lnTo>
                  <a:pt x="4062430" y="0"/>
                </a:lnTo>
                <a:lnTo>
                  <a:pt x="4062430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3" name="Freeform 3"/>
          <p:cNvSpPr/>
          <p:nvPr/>
        </p:nvSpPr>
        <p:spPr>
          <a:xfrm flipH="1" flipV="1">
            <a:off x="15090620" y="0"/>
            <a:ext cx="7147278" cy="3993541"/>
          </a:xfrm>
          <a:custGeom>
            <a:avLst/>
            <a:gdLst/>
            <a:ahLst/>
            <a:cxnLst/>
            <a:rect l="l" t="t" r="r" b="b"/>
            <a:pathLst>
              <a:path w="7147278" h="3993541">
                <a:moveTo>
                  <a:pt x="7147278" y="3993541"/>
                </a:moveTo>
                <a:lnTo>
                  <a:pt x="0" y="3993541"/>
                </a:lnTo>
                <a:lnTo>
                  <a:pt x="0" y="0"/>
                </a:lnTo>
                <a:lnTo>
                  <a:pt x="7147278" y="0"/>
                </a:lnTo>
                <a:lnTo>
                  <a:pt x="7147278" y="3993541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4" name="Freeform 4"/>
          <p:cNvSpPr/>
          <p:nvPr/>
        </p:nvSpPr>
        <p:spPr>
          <a:xfrm>
            <a:off x="284942" y="1996771"/>
            <a:ext cx="12042580" cy="7321341"/>
          </a:xfrm>
          <a:custGeom>
            <a:avLst/>
            <a:gdLst/>
            <a:ahLst/>
            <a:cxnLst/>
            <a:rect l="l" t="t" r="r" b="b"/>
            <a:pathLst>
              <a:path w="12042580" h="7321341">
                <a:moveTo>
                  <a:pt x="0" y="0"/>
                </a:moveTo>
                <a:lnTo>
                  <a:pt x="12042579" y="0"/>
                </a:lnTo>
                <a:lnTo>
                  <a:pt x="12042579" y="7321341"/>
                </a:lnTo>
                <a:lnTo>
                  <a:pt x="0" y="7321341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5" name="TextBox 5"/>
          <p:cNvSpPr txBox="1"/>
          <p:nvPr/>
        </p:nvSpPr>
        <p:spPr>
          <a:xfrm>
            <a:off x="1715413" y="406163"/>
            <a:ext cx="14857174" cy="82740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5334"/>
              </a:lnSpc>
            </a:pPr>
            <a:r>
              <a:rPr lang="en-US" sz="5499">
                <a:solidFill>
                  <a:srgbClr val="090147"/>
                </a:solidFill>
                <a:latin typeface="Bungee"/>
                <a:ea typeface="Bungee"/>
                <a:cs typeface="Bungee"/>
                <a:sym typeface="Bungee"/>
              </a:rPr>
              <a:t>RECIPE 3-6: AUTO-ARIMA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12736893" y="1949146"/>
            <a:ext cx="5024010" cy="311467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199"/>
              </a:lnSpc>
            </a:pPr>
            <a:r>
              <a:rPr lang="en-US" sz="2999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🔵 Training data  →  Dữ liệu huấn luyện </a:t>
            </a:r>
          </a:p>
          <a:p>
            <a:pPr algn="l">
              <a:lnSpc>
                <a:spcPts val="4199"/>
              </a:lnSpc>
            </a:pPr>
            <a:r>
              <a:rPr lang="en-US" sz="2999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🟠 Test data  →  Dữ liệu thực tế chưa học</a:t>
            </a:r>
          </a:p>
          <a:p>
            <a:pPr algn="l">
              <a:lnSpc>
                <a:spcPts val="4199"/>
              </a:lnSpc>
              <a:spcBef>
                <a:spcPct val="0"/>
              </a:spcBef>
            </a:pPr>
            <a:r>
              <a:rPr lang="en-US" sz="2999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🟢 Predicted data  →  Kết quả mô hình dự báo</a:t>
            </a:r>
          </a:p>
        </p:txBody>
      </p:sp>
      <p:grpSp>
        <p:nvGrpSpPr>
          <p:cNvPr id="7" name="Group 7"/>
          <p:cNvGrpSpPr/>
          <p:nvPr/>
        </p:nvGrpSpPr>
        <p:grpSpPr>
          <a:xfrm>
            <a:off x="12473344" y="5334888"/>
            <a:ext cx="5551107" cy="3089917"/>
            <a:chOff x="0" y="0"/>
            <a:chExt cx="7401476" cy="4119889"/>
          </a:xfrm>
        </p:grpSpPr>
        <p:grpSp>
          <p:nvGrpSpPr>
            <p:cNvPr id="8" name="Group 8"/>
            <p:cNvGrpSpPr/>
            <p:nvPr/>
          </p:nvGrpSpPr>
          <p:grpSpPr>
            <a:xfrm>
              <a:off x="0" y="0"/>
              <a:ext cx="7401476" cy="4119889"/>
              <a:chOff x="0" y="0"/>
              <a:chExt cx="1462020" cy="813805"/>
            </a:xfrm>
          </p:grpSpPr>
          <p:sp>
            <p:nvSpPr>
              <p:cNvPr id="9" name="Freeform 9"/>
              <p:cNvSpPr/>
              <p:nvPr/>
            </p:nvSpPr>
            <p:spPr>
              <a:xfrm>
                <a:off x="0" y="0"/>
                <a:ext cx="1462020" cy="813805"/>
              </a:xfrm>
              <a:custGeom>
                <a:avLst/>
                <a:gdLst/>
                <a:ahLst/>
                <a:cxnLst/>
                <a:rect l="l" t="t" r="r" b="b"/>
                <a:pathLst>
                  <a:path w="1462020" h="813805">
                    <a:moveTo>
                      <a:pt x="23709" y="0"/>
                    </a:moveTo>
                    <a:lnTo>
                      <a:pt x="1438311" y="0"/>
                    </a:lnTo>
                    <a:cubicBezTo>
                      <a:pt x="1444599" y="0"/>
                      <a:pt x="1450629" y="2498"/>
                      <a:pt x="1455076" y="6944"/>
                    </a:cubicBezTo>
                    <a:cubicBezTo>
                      <a:pt x="1459522" y="11391"/>
                      <a:pt x="1462020" y="17421"/>
                      <a:pt x="1462020" y="23709"/>
                    </a:cubicBezTo>
                    <a:lnTo>
                      <a:pt x="1462020" y="790096"/>
                    </a:lnTo>
                    <a:cubicBezTo>
                      <a:pt x="1462020" y="796384"/>
                      <a:pt x="1459522" y="802415"/>
                      <a:pt x="1455076" y="806861"/>
                    </a:cubicBezTo>
                    <a:cubicBezTo>
                      <a:pt x="1450629" y="811307"/>
                      <a:pt x="1444599" y="813805"/>
                      <a:pt x="1438311" y="813805"/>
                    </a:cubicBezTo>
                    <a:lnTo>
                      <a:pt x="23709" y="813805"/>
                    </a:lnTo>
                    <a:cubicBezTo>
                      <a:pt x="10615" y="813805"/>
                      <a:pt x="0" y="803190"/>
                      <a:pt x="0" y="790096"/>
                    </a:cubicBezTo>
                    <a:lnTo>
                      <a:pt x="0" y="23709"/>
                    </a:lnTo>
                    <a:cubicBezTo>
                      <a:pt x="0" y="17421"/>
                      <a:pt x="2498" y="11391"/>
                      <a:pt x="6944" y="6944"/>
                    </a:cubicBezTo>
                    <a:cubicBezTo>
                      <a:pt x="11391" y="2498"/>
                      <a:pt x="17421" y="0"/>
                      <a:pt x="23709" y="0"/>
                    </a:cubicBezTo>
                    <a:close/>
                  </a:path>
                </a:pathLst>
              </a:custGeom>
              <a:solidFill>
                <a:srgbClr val="C3F7FC"/>
              </a:solidFill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0" name="TextBox 10"/>
              <p:cNvSpPr txBox="1"/>
              <p:nvPr/>
            </p:nvSpPr>
            <p:spPr>
              <a:xfrm>
                <a:off x="0" y="-38100"/>
                <a:ext cx="1462020" cy="851905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659"/>
                  </a:lnSpc>
                </a:pPr>
                <a:endParaRPr/>
              </a:p>
            </p:txBody>
          </p:sp>
        </p:grpSp>
        <p:sp>
          <p:nvSpPr>
            <p:cNvPr id="11" name="TextBox 11"/>
            <p:cNvSpPr txBox="1"/>
            <p:nvPr/>
          </p:nvSpPr>
          <p:spPr>
            <a:xfrm>
              <a:off x="139324" y="316869"/>
              <a:ext cx="7122829" cy="3438526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just">
                <a:lnSpc>
                  <a:spcPts val="4199"/>
                </a:lnSpc>
              </a:pPr>
              <a:r>
                <a:rPr lang="en-US" sz="2999" b="1">
                  <a:solidFill>
                    <a:srgbClr val="020BB5"/>
                  </a:solidFill>
                  <a:latin typeface="Open Sans Bold"/>
                  <a:ea typeface="Open Sans Bold"/>
                  <a:cs typeface="Open Sans Bold"/>
                  <a:sym typeface="Open Sans Bold"/>
                </a:rPr>
                <a:t>Đánh giá: </a:t>
              </a:r>
            </a:p>
            <a:p>
              <a:pPr marL="647694" lvl="1" indent="-323847" algn="l">
                <a:lnSpc>
                  <a:spcPts val="4199"/>
                </a:lnSpc>
                <a:buFont typeface="Arial"/>
                <a:buChar char="•"/>
              </a:pPr>
              <a:r>
                <a:rPr lang="en-US" sz="2999" b="1">
                  <a:solidFill>
                    <a:srgbClr val="020BB5"/>
                  </a:solidFill>
                  <a:latin typeface="Open Sans Bold"/>
                  <a:ea typeface="Open Sans Bold"/>
                  <a:cs typeface="Open Sans Bold"/>
                  <a:sym typeface="Open Sans Bold"/>
                </a:rPr>
                <a:t>R² — càng gần 1 càng tốt</a:t>
              </a:r>
            </a:p>
            <a:p>
              <a:pPr marL="647694" lvl="1" indent="-323847" algn="l">
                <a:lnSpc>
                  <a:spcPts val="4199"/>
                </a:lnSpc>
                <a:buFont typeface="Arial"/>
                <a:buChar char="•"/>
              </a:pPr>
              <a:r>
                <a:rPr lang="en-US" sz="2999" b="1">
                  <a:solidFill>
                    <a:srgbClr val="020BB5"/>
                  </a:solidFill>
                  <a:latin typeface="Open Sans Bold"/>
                  <a:ea typeface="Open Sans Bold"/>
                  <a:cs typeface="Open Sans Bold"/>
                  <a:sym typeface="Open Sans Bold"/>
                </a:rPr>
                <a:t>Nắm xu hướng tổng thể</a:t>
              </a:r>
            </a:p>
            <a:p>
              <a:pPr algn="just">
                <a:lnSpc>
                  <a:spcPts val="4199"/>
                </a:lnSpc>
                <a:spcBef>
                  <a:spcPct val="0"/>
                </a:spcBef>
              </a:pPr>
              <a:r>
                <a:rPr lang="en-US" sz="2999" b="1">
                  <a:solidFill>
                    <a:srgbClr val="020BB5"/>
                  </a:solidFill>
                  <a:latin typeface="Open Sans Bold"/>
                  <a:ea typeface="Open Sans Bold"/>
                  <a:cs typeface="Open Sans Bold"/>
                  <a:sym typeface="Open Sans Bold"/>
                </a:rPr>
                <a:t>Mục tiêu: đường xanh lá bám sát đường cam</a:t>
              </a:r>
            </a:p>
          </p:txBody>
        </p:sp>
      </p:grpSp>
      <p:sp>
        <p:nvSpPr>
          <p:cNvPr id="12" name="Freeform 12"/>
          <p:cNvSpPr/>
          <p:nvPr/>
        </p:nvSpPr>
        <p:spPr>
          <a:xfrm>
            <a:off x="14281959" y="9145100"/>
            <a:ext cx="4581255" cy="4114800"/>
          </a:xfrm>
          <a:custGeom>
            <a:avLst/>
            <a:gdLst/>
            <a:ahLst/>
            <a:cxnLst/>
            <a:rect l="l" t="t" r="r" b="b"/>
            <a:pathLst>
              <a:path w="4581255" h="4114800">
                <a:moveTo>
                  <a:pt x="0" y="0"/>
                </a:moveTo>
                <a:lnTo>
                  <a:pt x="4581256" y="0"/>
                </a:lnTo>
                <a:lnTo>
                  <a:pt x="4581256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13" name="TextBox 13"/>
          <p:cNvSpPr txBox="1"/>
          <p:nvPr/>
        </p:nvSpPr>
        <p:spPr>
          <a:xfrm>
            <a:off x="4818831" y="9446886"/>
            <a:ext cx="3313991" cy="49530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199"/>
              </a:lnSpc>
              <a:spcBef>
                <a:spcPct val="0"/>
              </a:spcBef>
            </a:pPr>
            <a:r>
              <a:rPr lang="en-US" sz="2999" i="1">
                <a:solidFill>
                  <a:srgbClr val="000000"/>
                </a:solidFill>
                <a:latin typeface="Open Sans Italics"/>
                <a:ea typeface="Open Sans Italics"/>
                <a:cs typeface="Open Sans Italics"/>
                <a:sym typeface="Open Sans Italics"/>
              </a:rPr>
              <a:t>Kết quả dự báo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EF6F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-2031215" y="-1447165"/>
            <a:ext cx="4062430" cy="4114800"/>
          </a:xfrm>
          <a:custGeom>
            <a:avLst/>
            <a:gdLst/>
            <a:ahLst/>
            <a:cxnLst/>
            <a:rect l="l" t="t" r="r" b="b"/>
            <a:pathLst>
              <a:path w="4062430" h="4114800">
                <a:moveTo>
                  <a:pt x="0" y="0"/>
                </a:moveTo>
                <a:lnTo>
                  <a:pt x="4062430" y="0"/>
                </a:lnTo>
                <a:lnTo>
                  <a:pt x="4062430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3" name="Freeform 3"/>
          <p:cNvSpPr/>
          <p:nvPr/>
        </p:nvSpPr>
        <p:spPr>
          <a:xfrm flipH="1" flipV="1">
            <a:off x="15018850" y="-167464"/>
            <a:ext cx="7147278" cy="3993541"/>
          </a:xfrm>
          <a:custGeom>
            <a:avLst/>
            <a:gdLst/>
            <a:ahLst/>
            <a:cxnLst/>
            <a:rect l="l" t="t" r="r" b="b"/>
            <a:pathLst>
              <a:path w="7147278" h="3993541">
                <a:moveTo>
                  <a:pt x="7147277" y="3993541"/>
                </a:moveTo>
                <a:lnTo>
                  <a:pt x="0" y="3993541"/>
                </a:lnTo>
                <a:lnTo>
                  <a:pt x="0" y="0"/>
                </a:lnTo>
                <a:lnTo>
                  <a:pt x="7147277" y="0"/>
                </a:lnTo>
                <a:lnTo>
                  <a:pt x="7147277" y="3993541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4" name="TextBox 4"/>
          <p:cNvSpPr txBox="1"/>
          <p:nvPr/>
        </p:nvSpPr>
        <p:spPr>
          <a:xfrm>
            <a:off x="1715413" y="406163"/>
            <a:ext cx="14857174" cy="82740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5334"/>
              </a:lnSpc>
            </a:pPr>
            <a:r>
              <a:rPr lang="en-US" sz="5499">
                <a:solidFill>
                  <a:srgbClr val="090147"/>
                </a:solidFill>
                <a:latin typeface="Bungee"/>
                <a:ea typeface="Bungee"/>
                <a:cs typeface="Bungee"/>
                <a:sym typeface="Bungee"/>
              </a:rPr>
              <a:t>RECIPE 3-7: VAR MODEL</a:t>
            </a:r>
          </a:p>
        </p:txBody>
      </p:sp>
      <p:pic>
        <p:nvPicPr>
          <p:cNvPr id="5" name="Picture 5"/>
          <p:cNvPicPr>
            <a:picLocks noChangeAspect="1"/>
          </p:cNvPicPr>
          <p:nvPr/>
        </p:nvPicPr>
        <p:blipFill>
          <a:blip r:embed="rId4">
            <a:alphaModFix amt="35000"/>
          </a:blip>
          <a:srcRect/>
          <a:stretch>
            <a:fillRect/>
          </a:stretch>
        </p:blipFill>
        <p:spPr>
          <a:xfrm rot="7895515" flipH="1">
            <a:off x="7521419" y="6549816"/>
            <a:ext cx="2690786" cy="2596609"/>
          </a:xfrm>
          <a:prstGeom prst="rect">
            <a:avLst/>
          </a:prstGeom>
        </p:spPr>
      </p:pic>
      <p:sp>
        <p:nvSpPr>
          <p:cNvPr id="6" name="TextBox 6"/>
          <p:cNvSpPr txBox="1"/>
          <p:nvPr/>
        </p:nvSpPr>
        <p:spPr>
          <a:xfrm>
            <a:off x="2710220" y="1386721"/>
            <a:ext cx="9273216" cy="59690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755641" lvl="1" indent="-377820" algn="l">
              <a:lnSpc>
                <a:spcPts val="4899"/>
              </a:lnSpc>
              <a:spcBef>
                <a:spcPct val="0"/>
              </a:spcBef>
              <a:buFont typeface="Arial"/>
              <a:buChar char="•"/>
            </a:pPr>
            <a:r>
              <a:rPr lang="en-US" sz="3499">
                <a:solidFill>
                  <a:srgbClr val="000000"/>
                </a:solidFill>
                <a:latin typeface="Josefin Sans"/>
                <a:ea typeface="Josefin Sans"/>
                <a:cs typeface="Josefin Sans"/>
                <a:sym typeface="Josefin Sans"/>
              </a:rPr>
              <a:t>Mô hình dự báo đa biến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2710220" y="2143760"/>
            <a:ext cx="12077700" cy="5969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755647" lvl="1" indent="-377824" algn="l">
              <a:lnSpc>
                <a:spcPts val="4899"/>
              </a:lnSpc>
              <a:spcBef>
                <a:spcPct val="0"/>
              </a:spcBef>
              <a:buFont typeface="Arial"/>
              <a:buChar char="•"/>
            </a:pPr>
            <a:r>
              <a:rPr lang="en-US" sz="3499">
                <a:solidFill>
                  <a:srgbClr val="000000"/>
                </a:solidFill>
                <a:latin typeface="Josefin Sans"/>
                <a:ea typeface="Josefin Sans"/>
                <a:cs typeface="Josefin Sans"/>
                <a:sym typeface="Josefin Sans"/>
              </a:rPr>
              <a:t>Thích hợp khi các biến tác động lẫn nhau theo thời gian.</a:t>
            </a:r>
          </a:p>
        </p:txBody>
      </p:sp>
      <p:grpSp>
        <p:nvGrpSpPr>
          <p:cNvPr id="8" name="Group 8"/>
          <p:cNvGrpSpPr/>
          <p:nvPr/>
        </p:nvGrpSpPr>
        <p:grpSpPr>
          <a:xfrm>
            <a:off x="2532793" y="3826077"/>
            <a:ext cx="3715028" cy="1447979"/>
            <a:chOff x="0" y="0"/>
            <a:chExt cx="1042686" cy="406400"/>
          </a:xfrm>
        </p:grpSpPr>
        <p:sp>
          <p:nvSpPr>
            <p:cNvPr id="9" name="Freeform 9"/>
            <p:cNvSpPr/>
            <p:nvPr/>
          </p:nvSpPr>
          <p:spPr>
            <a:xfrm>
              <a:off x="0" y="0"/>
              <a:ext cx="1042686" cy="406400"/>
            </a:xfrm>
            <a:custGeom>
              <a:avLst/>
              <a:gdLst/>
              <a:ahLst/>
              <a:cxnLst/>
              <a:rect l="l" t="t" r="r" b="b"/>
              <a:pathLst>
                <a:path w="1042686" h="406400">
                  <a:moveTo>
                    <a:pt x="839486" y="0"/>
                  </a:moveTo>
                  <a:cubicBezTo>
                    <a:pt x="951710" y="0"/>
                    <a:pt x="1042686" y="90976"/>
                    <a:pt x="1042686" y="203200"/>
                  </a:cubicBezTo>
                  <a:cubicBezTo>
                    <a:pt x="1042686" y="315424"/>
                    <a:pt x="951710" y="406400"/>
                    <a:pt x="839486" y="406400"/>
                  </a:cubicBezTo>
                  <a:lnTo>
                    <a:pt x="203200" y="406400"/>
                  </a:lnTo>
                  <a:cubicBezTo>
                    <a:pt x="90976" y="406400"/>
                    <a:pt x="0" y="315424"/>
                    <a:pt x="0" y="203200"/>
                  </a:cubicBezTo>
                  <a:cubicBezTo>
                    <a:pt x="0" y="90976"/>
                    <a:pt x="90976" y="0"/>
                    <a:pt x="203200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2D8BBA">
                    <a:alpha val="100000"/>
                  </a:srgbClr>
                </a:gs>
                <a:gs pos="100000">
                  <a:srgbClr val="192385">
                    <a:alpha val="100000"/>
                  </a:srgbClr>
                </a:gs>
              </a:gsLst>
              <a:lin ang="0"/>
            </a:gradFill>
          </p:spPr>
          <p:txBody>
            <a:bodyPr/>
            <a:lstStyle/>
            <a:p>
              <a:endParaRPr lang="en-US"/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0" y="-66675"/>
              <a:ext cx="1042686" cy="47307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4899"/>
                </a:lnSpc>
              </a:pPr>
              <a:r>
                <a:rPr lang="en-US" sz="3499" b="1">
                  <a:solidFill>
                    <a:srgbClr val="FFFFFF"/>
                  </a:solidFill>
                  <a:latin typeface="Cabin Bold"/>
                  <a:ea typeface="Cabin Bold"/>
                  <a:cs typeface="Cabin Bold"/>
                  <a:sym typeface="Cabin Bold"/>
                </a:rPr>
                <a:t>Dự báo đơn biến</a:t>
              </a:r>
            </a:p>
          </p:txBody>
        </p:sp>
      </p:grpSp>
      <p:grpSp>
        <p:nvGrpSpPr>
          <p:cNvPr id="11" name="Group 11"/>
          <p:cNvGrpSpPr/>
          <p:nvPr/>
        </p:nvGrpSpPr>
        <p:grpSpPr>
          <a:xfrm>
            <a:off x="1520469" y="5345495"/>
            <a:ext cx="6366589" cy="4626985"/>
            <a:chOff x="0" y="0"/>
            <a:chExt cx="1676797" cy="1218630"/>
          </a:xfrm>
        </p:grpSpPr>
        <p:sp>
          <p:nvSpPr>
            <p:cNvPr id="12" name="Freeform 12"/>
            <p:cNvSpPr/>
            <p:nvPr/>
          </p:nvSpPr>
          <p:spPr>
            <a:xfrm>
              <a:off x="0" y="0"/>
              <a:ext cx="1676797" cy="1218630"/>
            </a:xfrm>
            <a:custGeom>
              <a:avLst/>
              <a:gdLst/>
              <a:ahLst/>
              <a:cxnLst/>
              <a:rect l="l" t="t" r="r" b="b"/>
              <a:pathLst>
                <a:path w="1676797" h="1218630">
                  <a:moveTo>
                    <a:pt x="20672" y="0"/>
                  </a:moveTo>
                  <a:lnTo>
                    <a:pt x="1656125" y="0"/>
                  </a:lnTo>
                  <a:cubicBezTo>
                    <a:pt x="1661607" y="0"/>
                    <a:pt x="1666866" y="2178"/>
                    <a:pt x="1670742" y="6055"/>
                  </a:cubicBezTo>
                  <a:cubicBezTo>
                    <a:pt x="1674619" y="9932"/>
                    <a:pt x="1676797" y="15190"/>
                    <a:pt x="1676797" y="20672"/>
                  </a:cubicBezTo>
                  <a:lnTo>
                    <a:pt x="1676797" y="1197957"/>
                  </a:lnTo>
                  <a:cubicBezTo>
                    <a:pt x="1676797" y="1209374"/>
                    <a:pt x="1667542" y="1218630"/>
                    <a:pt x="1656125" y="1218630"/>
                  </a:cubicBezTo>
                  <a:lnTo>
                    <a:pt x="20672" y="1218630"/>
                  </a:lnTo>
                  <a:cubicBezTo>
                    <a:pt x="15190" y="1218630"/>
                    <a:pt x="9932" y="1216452"/>
                    <a:pt x="6055" y="1212575"/>
                  </a:cubicBezTo>
                  <a:cubicBezTo>
                    <a:pt x="2178" y="1208698"/>
                    <a:pt x="0" y="1203440"/>
                    <a:pt x="0" y="1197957"/>
                  </a:cubicBezTo>
                  <a:lnTo>
                    <a:pt x="0" y="20672"/>
                  </a:lnTo>
                  <a:cubicBezTo>
                    <a:pt x="0" y="15190"/>
                    <a:pt x="2178" y="9932"/>
                    <a:pt x="6055" y="6055"/>
                  </a:cubicBezTo>
                  <a:cubicBezTo>
                    <a:pt x="9932" y="2178"/>
                    <a:pt x="15190" y="0"/>
                    <a:pt x="20672" y="0"/>
                  </a:cubicBezTo>
                  <a:close/>
                </a:path>
              </a:pathLst>
            </a:custGeom>
            <a:solidFill>
              <a:srgbClr val="FFFFFF"/>
            </a:solidFill>
            <a:ln w="9525" cap="sq">
              <a:solidFill>
                <a:srgbClr val="000000"/>
              </a:solidFill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0" y="-38100"/>
              <a:ext cx="1676797" cy="125673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240"/>
                </a:lnSpc>
              </a:pPr>
              <a:r>
                <a:rPr lang="en-US" sz="1600" b="1">
                  <a:solidFill>
                    <a:srgbClr val="FFFFFF"/>
                  </a:solidFill>
                  <a:latin typeface="DM Sans Bold"/>
                  <a:ea typeface="DM Sans Bold"/>
                  <a:cs typeface="DM Sans Bold"/>
                  <a:sym typeface="DM Sans Bold"/>
                </a:rPr>
                <a:t>Chỉ dự báo 1 biến chínhChỉ dự báo 1 biến chính</a:t>
              </a:r>
            </a:p>
          </p:txBody>
        </p:sp>
      </p:grpSp>
      <p:sp>
        <p:nvSpPr>
          <p:cNvPr id="14" name="TextBox 14"/>
          <p:cNvSpPr txBox="1"/>
          <p:nvPr/>
        </p:nvSpPr>
        <p:spPr>
          <a:xfrm>
            <a:off x="1715413" y="6169406"/>
            <a:ext cx="4989931" cy="63246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5039"/>
              </a:lnSpc>
              <a:spcBef>
                <a:spcPct val="0"/>
              </a:spcBef>
            </a:pPr>
            <a:r>
              <a:rPr lang="en-US" sz="3599">
                <a:solidFill>
                  <a:srgbClr val="000000"/>
                </a:solidFill>
                <a:latin typeface="Josefin Sans"/>
                <a:ea typeface="Josefin Sans"/>
                <a:cs typeface="Josefin Sans"/>
                <a:sym typeface="Josefin Sans"/>
              </a:rPr>
              <a:t>Chỉ dự báo 1 biến chính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1763301" y="7355017"/>
            <a:ext cx="5880925" cy="12160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899"/>
              </a:lnSpc>
              <a:spcBef>
                <a:spcPct val="0"/>
              </a:spcBef>
            </a:pPr>
            <a:r>
              <a:rPr lang="en-US" sz="3499">
                <a:solidFill>
                  <a:srgbClr val="000000"/>
                </a:solidFill>
                <a:latin typeface="Josefin Sans"/>
                <a:ea typeface="Josefin Sans"/>
                <a:cs typeface="Josefin Sans"/>
                <a:sym typeface="Josefin Sans"/>
              </a:rPr>
              <a:t>Các biến khác chỉ hỗ trợ giải thích, không dự báo được.</a:t>
            </a:r>
          </a:p>
        </p:txBody>
      </p:sp>
      <p:grpSp>
        <p:nvGrpSpPr>
          <p:cNvPr id="16" name="Group 16"/>
          <p:cNvGrpSpPr/>
          <p:nvPr/>
        </p:nvGrpSpPr>
        <p:grpSpPr>
          <a:xfrm>
            <a:off x="10692999" y="3883770"/>
            <a:ext cx="7052389" cy="6282482"/>
            <a:chOff x="0" y="0"/>
            <a:chExt cx="9403186" cy="8376642"/>
          </a:xfrm>
        </p:grpSpPr>
        <p:grpSp>
          <p:nvGrpSpPr>
            <p:cNvPr id="17" name="Group 17"/>
            <p:cNvGrpSpPr/>
            <p:nvPr/>
          </p:nvGrpSpPr>
          <p:grpSpPr>
            <a:xfrm>
              <a:off x="1871516" y="0"/>
              <a:ext cx="4899869" cy="1909786"/>
              <a:chOff x="0" y="0"/>
              <a:chExt cx="1042686" cy="406400"/>
            </a:xfrm>
          </p:grpSpPr>
          <p:sp>
            <p:nvSpPr>
              <p:cNvPr id="18" name="Freeform 18"/>
              <p:cNvSpPr/>
              <p:nvPr/>
            </p:nvSpPr>
            <p:spPr>
              <a:xfrm>
                <a:off x="0" y="0"/>
                <a:ext cx="1042686" cy="406400"/>
              </a:xfrm>
              <a:custGeom>
                <a:avLst/>
                <a:gdLst/>
                <a:ahLst/>
                <a:cxnLst/>
                <a:rect l="l" t="t" r="r" b="b"/>
                <a:pathLst>
                  <a:path w="1042686" h="406400">
                    <a:moveTo>
                      <a:pt x="839486" y="0"/>
                    </a:moveTo>
                    <a:cubicBezTo>
                      <a:pt x="951710" y="0"/>
                      <a:pt x="1042686" y="90976"/>
                      <a:pt x="1042686" y="203200"/>
                    </a:cubicBezTo>
                    <a:cubicBezTo>
                      <a:pt x="1042686" y="315424"/>
                      <a:pt x="951710" y="406400"/>
                      <a:pt x="839486" y="406400"/>
                    </a:cubicBezTo>
                    <a:lnTo>
                      <a:pt x="203200" y="406400"/>
                    </a:lnTo>
                    <a:cubicBezTo>
                      <a:pt x="90976" y="406400"/>
                      <a:pt x="0" y="315424"/>
                      <a:pt x="0" y="203200"/>
                    </a:cubicBezTo>
                    <a:cubicBezTo>
                      <a:pt x="0" y="90976"/>
                      <a:pt x="90976" y="0"/>
                      <a:pt x="203200" y="0"/>
                    </a:cubicBezTo>
                    <a:close/>
                  </a:path>
                </a:pathLst>
              </a:custGeom>
              <a:gradFill rotWithShape="1">
                <a:gsLst>
                  <a:gs pos="0">
                    <a:srgbClr val="2D8BBA">
                      <a:alpha val="100000"/>
                    </a:srgbClr>
                  </a:gs>
                  <a:gs pos="100000">
                    <a:srgbClr val="192385">
                      <a:alpha val="100000"/>
                    </a:srgbClr>
                  </a:gs>
                </a:gsLst>
                <a:lin ang="0"/>
              </a:gradFill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9" name="TextBox 19"/>
              <p:cNvSpPr txBox="1"/>
              <p:nvPr/>
            </p:nvSpPr>
            <p:spPr>
              <a:xfrm>
                <a:off x="0" y="-66675"/>
                <a:ext cx="1042686" cy="473075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4899"/>
                  </a:lnSpc>
                </a:pPr>
                <a:r>
                  <a:rPr lang="en-US" sz="3499" b="1">
                    <a:solidFill>
                      <a:srgbClr val="FFFFFF"/>
                    </a:solidFill>
                    <a:latin typeface="Cabin Bold"/>
                    <a:ea typeface="Cabin Bold"/>
                    <a:cs typeface="Cabin Bold"/>
                    <a:sym typeface="Cabin Bold"/>
                  </a:rPr>
                  <a:t>Dự báo đa biến</a:t>
                </a:r>
              </a:p>
            </p:txBody>
          </p:sp>
        </p:grpSp>
        <p:grpSp>
          <p:nvGrpSpPr>
            <p:cNvPr id="20" name="Group 20"/>
            <p:cNvGrpSpPr/>
            <p:nvPr/>
          </p:nvGrpSpPr>
          <p:grpSpPr>
            <a:xfrm>
              <a:off x="0" y="2054929"/>
              <a:ext cx="9403186" cy="6321713"/>
              <a:chOff x="0" y="0"/>
              <a:chExt cx="1857419" cy="1248733"/>
            </a:xfrm>
          </p:grpSpPr>
          <p:sp>
            <p:nvSpPr>
              <p:cNvPr id="21" name="Freeform 21"/>
              <p:cNvSpPr/>
              <p:nvPr/>
            </p:nvSpPr>
            <p:spPr>
              <a:xfrm>
                <a:off x="0" y="0"/>
                <a:ext cx="1857419" cy="1248733"/>
              </a:xfrm>
              <a:custGeom>
                <a:avLst/>
                <a:gdLst/>
                <a:ahLst/>
                <a:cxnLst/>
                <a:rect l="l" t="t" r="r" b="b"/>
                <a:pathLst>
                  <a:path w="1857419" h="1248733">
                    <a:moveTo>
                      <a:pt x="18662" y="0"/>
                    </a:moveTo>
                    <a:lnTo>
                      <a:pt x="1838757" y="0"/>
                    </a:lnTo>
                    <a:cubicBezTo>
                      <a:pt x="1843707" y="0"/>
                      <a:pt x="1848453" y="1966"/>
                      <a:pt x="1851953" y="5466"/>
                    </a:cubicBezTo>
                    <a:cubicBezTo>
                      <a:pt x="1855453" y="8966"/>
                      <a:pt x="1857419" y="13713"/>
                      <a:pt x="1857419" y="18662"/>
                    </a:cubicBezTo>
                    <a:lnTo>
                      <a:pt x="1857419" y="1230071"/>
                    </a:lnTo>
                    <a:cubicBezTo>
                      <a:pt x="1857419" y="1235021"/>
                      <a:pt x="1855453" y="1239768"/>
                      <a:pt x="1851953" y="1243267"/>
                    </a:cubicBezTo>
                    <a:cubicBezTo>
                      <a:pt x="1848453" y="1246767"/>
                      <a:pt x="1843707" y="1248733"/>
                      <a:pt x="1838757" y="1248733"/>
                    </a:cubicBezTo>
                    <a:lnTo>
                      <a:pt x="18662" y="1248733"/>
                    </a:lnTo>
                    <a:cubicBezTo>
                      <a:pt x="13713" y="1248733"/>
                      <a:pt x="8966" y="1246767"/>
                      <a:pt x="5466" y="1243267"/>
                    </a:cubicBezTo>
                    <a:cubicBezTo>
                      <a:pt x="1966" y="1239768"/>
                      <a:pt x="0" y="1235021"/>
                      <a:pt x="0" y="1230071"/>
                    </a:cubicBezTo>
                    <a:lnTo>
                      <a:pt x="0" y="18662"/>
                    </a:lnTo>
                    <a:cubicBezTo>
                      <a:pt x="0" y="13713"/>
                      <a:pt x="1966" y="8966"/>
                      <a:pt x="5466" y="5466"/>
                    </a:cubicBezTo>
                    <a:cubicBezTo>
                      <a:pt x="8966" y="1966"/>
                      <a:pt x="13713" y="0"/>
                      <a:pt x="18662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 w="9525" cap="sq">
                <a:solidFill>
                  <a:srgbClr val="000000"/>
                </a:solidFill>
                <a:prstDash val="solid"/>
                <a:miter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2" name="TextBox 22"/>
              <p:cNvSpPr txBox="1"/>
              <p:nvPr/>
            </p:nvSpPr>
            <p:spPr>
              <a:xfrm>
                <a:off x="0" y="-38100"/>
                <a:ext cx="1857419" cy="1286833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240"/>
                  </a:lnSpc>
                </a:pPr>
                <a:r>
                  <a:rPr lang="en-US" sz="1600" b="1">
                    <a:solidFill>
                      <a:srgbClr val="FFFFFF"/>
                    </a:solidFill>
                    <a:latin typeface="DM Sans Bold"/>
                    <a:ea typeface="DM Sans Bold"/>
                    <a:cs typeface="DM Sans Bold"/>
                    <a:sym typeface="DM Sans Bold"/>
                  </a:rPr>
                  <a:t>Chỉ dự báo 1 biến chínhChỉ dự báo 1 biến chính</a:t>
                </a:r>
              </a:p>
            </p:txBody>
          </p:sp>
        </p:grpSp>
        <p:sp>
          <p:nvSpPr>
            <p:cNvPr id="23" name="TextBox 23"/>
            <p:cNvSpPr txBox="1"/>
            <p:nvPr/>
          </p:nvSpPr>
          <p:spPr>
            <a:xfrm>
              <a:off x="643074" y="2568666"/>
              <a:ext cx="8760111" cy="2516506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5039"/>
                </a:lnSpc>
                <a:spcBef>
                  <a:spcPct val="0"/>
                </a:spcBef>
              </a:pPr>
              <a:r>
                <a:rPr lang="en-US" sz="3599">
                  <a:solidFill>
                    <a:srgbClr val="000000"/>
                  </a:solidFill>
                  <a:latin typeface="Josefin Sans"/>
                  <a:ea typeface="Josefin Sans"/>
                  <a:cs typeface="Josefin Sans"/>
                  <a:sym typeface="Josefin Sans"/>
                </a:rPr>
                <a:t>Dự báo nhiều biến cùng lúc, và các biến có thể ảnh hưởng lẫn nhau.</a:t>
              </a: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643074" y="5453091"/>
              <a:ext cx="8029951" cy="2424642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4899"/>
                </a:lnSpc>
                <a:spcBef>
                  <a:spcPct val="0"/>
                </a:spcBef>
              </a:pPr>
              <a:r>
                <a:rPr lang="en-US" sz="3499">
                  <a:solidFill>
                    <a:srgbClr val="000000"/>
                  </a:solidFill>
                  <a:latin typeface="Josefin Sans"/>
                  <a:ea typeface="Josefin Sans"/>
                  <a:cs typeface="Josefin Sans"/>
                  <a:sym typeface="Josefin Sans"/>
                </a:rPr>
                <a:t>Mỗi biến vừa là mục tiêu dự báo, vừa có thể là biến giải thích cho các biến khác.</a:t>
              </a:r>
            </a:p>
          </p:txBody>
        </p:sp>
      </p:grpSp>
      <p:sp>
        <p:nvSpPr>
          <p:cNvPr id="25" name="TextBox 25"/>
          <p:cNvSpPr txBox="1"/>
          <p:nvPr/>
        </p:nvSpPr>
        <p:spPr>
          <a:xfrm>
            <a:off x="2710220" y="2886710"/>
            <a:ext cx="13864679" cy="63246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777237" lvl="1" indent="-388618" algn="l">
              <a:lnSpc>
                <a:spcPts val="5039"/>
              </a:lnSpc>
              <a:spcBef>
                <a:spcPct val="0"/>
              </a:spcBef>
              <a:buFont typeface="Arial"/>
              <a:buChar char="•"/>
            </a:pPr>
            <a:r>
              <a:rPr lang="en-US" sz="3599">
                <a:solidFill>
                  <a:srgbClr val="000000"/>
                </a:solidFill>
                <a:latin typeface="Josefin Sans"/>
                <a:ea typeface="Josefin Sans"/>
                <a:cs typeface="Josefin Sans"/>
                <a:sym typeface="Josefin Sans"/>
              </a:rPr>
              <a:t>Các biến tác động qua lại lẫn nhau, không phân biệt chính phụ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EF6F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-2031215" y="-1447165"/>
            <a:ext cx="4062430" cy="4114800"/>
          </a:xfrm>
          <a:custGeom>
            <a:avLst/>
            <a:gdLst/>
            <a:ahLst/>
            <a:cxnLst/>
            <a:rect l="l" t="t" r="r" b="b"/>
            <a:pathLst>
              <a:path w="4062430" h="4114800">
                <a:moveTo>
                  <a:pt x="0" y="0"/>
                </a:moveTo>
                <a:lnTo>
                  <a:pt x="4062430" y="0"/>
                </a:lnTo>
                <a:lnTo>
                  <a:pt x="4062430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3" name="Freeform 3"/>
          <p:cNvSpPr/>
          <p:nvPr/>
        </p:nvSpPr>
        <p:spPr>
          <a:xfrm flipH="1" flipV="1">
            <a:off x="14714361" y="0"/>
            <a:ext cx="7147278" cy="3993541"/>
          </a:xfrm>
          <a:custGeom>
            <a:avLst/>
            <a:gdLst/>
            <a:ahLst/>
            <a:cxnLst/>
            <a:rect l="l" t="t" r="r" b="b"/>
            <a:pathLst>
              <a:path w="7147278" h="3993541">
                <a:moveTo>
                  <a:pt x="7147278" y="3993541"/>
                </a:moveTo>
                <a:lnTo>
                  <a:pt x="0" y="3993541"/>
                </a:lnTo>
                <a:lnTo>
                  <a:pt x="0" y="0"/>
                </a:lnTo>
                <a:lnTo>
                  <a:pt x="7147278" y="0"/>
                </a:lnTo>
                <a:lnTo>
                  <a:pt x="7147278" y="3993541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4" name="Freeform 4"/>
          <p:cNvSpPr/>
          <p:nvPr/>
        </p:nvSpPr>
        <p:spPr>
          <a:xfrm>
            <a:off x="267895" y="7012225"/>
            <a:ext cx="17752211" cy="2485310"/>
          </a:xfrm>
          <a:custGeom>
            <a:avLst/>
            <a:gdLst/>
            <a:ahLst/>
            <a:cxnLst/>
            <a:rect l="l" t="t" r="r" b="b"/>
            <a:pathLst>
              <a:path w="17752211" h="2485310">
                <a:moveTo>
                  <a:pt x="0" y="0"/>
                </a:moveTo>
                <a:lnTo>
                  <a:pt x="17752210" y="0"/>
                </a:lnTo>
                <a:lnTo>
                  <a:pt x="17752210" y="2485310"/>
                </a:lnTo>
                <a:lnTo>
                  <a:pt x="0" y="2485310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grpSp>
        <p:nvGrpSpPr>
          <p:cNvPr id="5" name="Group 5"/>
          <p:cNvGrpSpPr/>
          <p:nvPr/>
        </p:nvGrpSpPr>
        <p:grpSpPr>
          <a:xfrm>
            <a:off x="2024047" y="1250325"/>
            <a:ext cx="3458201" cy="1569014"/>
            <a:chOff x="0" y="-66675"/>
            <a:chExt cx="1042686" cy="473075"/>
          </a:xfrm>
        </p:grpSpPr>
        <p:sp>
          <p:nvSpPr>
            <p:cNvPr id="6" name="Freeform 6"/>
            <p:cNvSpPr/>
            <p:nvPr/>
          </p:nvSpPr>
          <p:spPr>
            <a:xfrm>
              <a:off x="0" y="-22910"/>
              <a:ext cx="1042686" cy="406400"/>
            </a:xfrm>
            <a:custGeom>
              <a:avLst/>
              <a:gdLst/>
              <a:ahLst/>
              <a:cxnLst/>
              <a:rect l="l" t="t" r="r" b="b"/>
              <a:pathLst>
                <a:path w="1042686" h="406400">
                  <a:moveTo>
                    <a:pt x="839486" y="0"/>
                  </a:moveTo>
                  <a:cubicBezTo>
                    <a:pt x="951710" y="0"/>
                    <a:pt x="1042686" y="90976"/>
                    <a:pt x="1042686" y="203200"/>
                  </a:cubicBezTo>
                  <a:cubicBezTo>
                    <a:pt x="1042686" y="315424"/>
                    <a:pt x="951710" y="406400"/>
                    <a:pt x="839486" y="406400"/>
                  </a:cubicBezTo>
                  <a:lnTo>
                    <a:pt x="203200" y="406400"/>
                  </a:lnTo>
                  <a:cubicBezTo>
                    <a:pt x="90976" y="406400"/>
                    <a:pt x="0" y="315424"/>
                    <a:pt x="0" y="203200"/>
                  </a:cubicBezTo>
                  <a:cubicBezTo>
                    <a:pt x="0" y="90976"/>
                    <a:pt x="90976" y="0"/>
                    <a:pt x="203200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2D8BBA">
                    <a:alpha val="100000"/>
                  </a:srgbClr>
                </a:gs>
                <a:gs pos="100000">
                  <a:srgbClr val="192385">
                    <a:alpha val="100000"/>
                  </a:srgbClr>
                </a:gs>
              </a:gsLst>
              <a:lin ang="0"/>
            </a:gradFill>
          </p:spPr>
          <p:txBody>
            <a:bodyPr/>
            <a:lstStyle/>
            <a:p>
              <a:endParaRPr lang="en-US"/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0" y="-66675"/>
              <a:ext cx="1042686" cy="47307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4200"/>
                </a:lnSpc>
              </a:pPr>
              <a:r>
                <a:rPr lang="en-US" sz="3000" b="1" dirty="0">
                  <a:solidFill>
                    <a:srgbClr val="FFFFFF"/>
                  </a:solidFill>
                  <a:latin typeface="Cabin Bold"/>
                  <a:ea typeface="Cabin Bold"/>
                  <a:cs typeface="Cabin Bold"/>
                  <a:sym typeface="Cabin Bold"/>
                </a:rPr>
                <a:t>Các </a:t>
              </a:r>
              <a:r>
                <a:rPr lang="en-US" sz="3000" b="1" dirty="0" err="1">
                  <a:solidFill>
                    <a:srgbClr val="FFFFFF"/>
                  </a:solidFill>
                  <a:latin typeface="Cabin Bold"/>
                  <a:ea typeface="Cabin Bold"/>
                  <a:cs typeface="Cabin Bold"/>
                  <a:sym typeface="Cabin Bold"/>
                </a:rPr>
                <a:t>mô</a:t>
              </a:r>
              <a:r>
                <a:rPr lang="en-US" sz="3000" b="1" dirty="0">
                  <a:solidFill>
                    <a:srgbClr val="FFFFFF"/>
                  </a:solidFill>
                  <a:latin typeface="Cabin Bold"/>
                  <a:ea typeface="Cabin Bold"/>
                  <a:cs typeface="Cabin Bold"/>
                  <a:sym typeface="Cabin Bold"/>
                </a:rPr>
                <a:t> </a:t>
              </a:r>
              <a:r>
                <a:rPr lang="en-US" sz="3000" b="1" dirty="0" err="1">
                  <a:solidFill>
                    <a:srgbClr val="FFFFFF"/>
                  </a:solidFill>
                  <a:latin typeface="Cabin Bold"/>
                  <a:ea typeface="Cabin Bold"/>
                  <a:cs typeface="Cabin Bold"/>
                  <a:sym typeface="Cabin Bold"/>
                </a:rPr>
                <a:t>hình</a:t>
              </a:r>
              <a:r>
                <a:rPr lang="en-US" sz="3000" b="1" dirty="0">
                  <a:solidFill>
                    <a:srgbClr val="FFFFFF"/>
                  </a:solidFill>
                  <a:latin typeface="Cabin Bold"/>
                  <a:ea typeface="Cabin Bold"/>
                  <a:cs typeface="Cabin Bold"/>
                  <a:sym typeface="Cabin Bold"/>
                </a:rPr>
                <a:t> </a:t>
              </a:r>
              <a:r>
                <a:rPr lang="en-US" sz="3000" b="1" dirty="0" err="1">
                  <a:solidFill>
                    <a:srgbClr val="FFFFFF"/>
                  </a:solidFill>
                  <a:latin typeface="Cabin Bold"/>
                  <a:ea typeface="Cabin Bold"/>
                  <a:cs typeface="Cabin Bold"/>
                  <a:sym typeface="Cabin Bold"/>
                </a:rPr>
                <a:t>trước</a:t>
              </a:r>
              <a:endParaRPr lang="en-US" sz="3000" b="1" dirty="0">
                <a:solidFill>
                  <a:srgbClr val="FFFFFF"/>
                </a:solidFill>
                <a:latin typeface="Cabin Bold"/>
                <a:ea typeface="Cabin Bold"/>
                <a:cs typeface="Cabin Bold"/>
                <a:sym typeface="Cabin Bold"/>
              </a:endParaRPr>
            </a:p>
          </p:txBody>
        </p:sp>
      </p:grpSp>
      <p:grpSp>
        <p:nvGrpSpPr>
          <p:cNvPr id="8" name="Group 8"/>
          <p:cNvGrpSpPr/>
          <p:nvPr/>
        </p:nvGrpSpPr>
        <p:grpSpPr>
          <a:xfrm>
            <a:off x="12480301" y="1250325"/>
            <a:ext cx="3459451" cy="1569014"/>
            <a:chOff x="0" y="-66675"/>
            <a:chExt cx="1043063" cy="473075"/>
          </a:xfrm>
        </p:grpSpPr>
        <p:sp>
          <p:nvSpPr>
            <p:cNvPr id="9" name="Freeform 9"/>
            <p:cNvSpPr/>
            <p:nvPr/>
          </p:nvSpPr>
          <p:spPr>
            <a:xfrm>
              <a:off x="377" y="-32527"/>
              <a:ext cx="1042686" cy="406400"/>
            </a:xfrm>
            <a:custGeom>
              <a:avLst/>
              <a:gdLst/>
              <a:ahLst/>
              <a:cxnLst/>
              <a:rect l="l" t="t" r="r" b="b"/>
              <a:pathLst>
                <a:path w="1042686" h="406400">
                  <a:moveTo>
                    <a:pt x="839486" y="0"/>
                  </a:moveTo>
                  <a:cubicBezTo>
                    <a:pt x="951710" y="0"/>
                    <a:pt x="1042686" y="90976"/>
                    <a:pt x="1042686" y="203200"/>
                  </a:cubicBezTo>
                  <a:cubicBezTo>
                    <a:pt x="1042686" y="315424"/>
                    <a:pt x="951710" y="406400"/>
                    <a:pt x="839486" y="406400"/>
                  </a:cubicBezTo>
                  <a:lnTo>
                    <a:pt x="203200" y="406400"/>
                  </a:lnTo>
                  <a:cubicBezTo>
                    <a:pt x="90976" y="406400"/>
                    <a:pt x="0" y="315424"/>
                    <a:pt x="0" y="203200"/>
                  </a:cubicBezTo>
                  <a:cubicBezTo>
                    <a:pt x="0" y="90976"/>
                    <a:pt x="90976" y="0"/>
                    <a:pt x="203200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2D8BBA">
                    <a:alpha val="100000"/>
                  </a:srgbClr>
                </a:gs>
                <a:gs pos="100000">
                  <a:srgbClr val="192385">
                    <a:alpha val="100000"/>
                  </a:srgbClr>
                </a:gs>
              </a:gsLst>
              <a:lin ang="0"/>
            </a:gradFill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0" y="-66675"/>
              <a:ext cx="1042686" cy="47307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4200"/>
                </a:lnSpc>
              </a:pPr>
              <a:r>
                <a:rPr lang="en-US" sz="3000" b="1" dirty="0" err="1">
                  <a:solidFill>
                    <a:srgbClr val="FFFFFF"/>
                  </a:solidFill>
                  <a:latin typeface="Cabin Bold"/>
                  <a:ea typeface="Cabin Bold"/>
                  <a:cs typeface="Cabin Bold"/>
                  <a:sym typeface="Cabin Bold"/>
                </a:rPr>
                <a:t>Mô</a:t>
              </a:r>
              <a:r>
                <a:rPr lang="en-US" sz="3000" b="1" dirty="0">
                  <a:solidFill>
                    <a:srgbClr val="FFFFFF"/>
                  </a:solidFill>
                  <a:latin typeface="Cabin Bold"/>
                  <a:ea typeface="Cabin Bold"/>
                  <a:cs typeface="Cabin Bold"/>
                  <a:sym typeface="Cabin Bold"/>
                </a:rPr>
                <a:t> </a:t>
              </a:r>
              <a:r>
                <a:rPr lang="en-US" sz="3000" b="1" dirty="0" err="1">
                  <a:solidFill>
                    <a:srgbClr val="FFFFFF"/>
                  </a:solidFill>
                  <a:latin typeface="Cabin Bold"/>
                  <a:ea typeface="Cabin Bold"/>
                  <a:cs typeface="Cabin Bold"/>
                  <a:sym typeface="Cabin Bold"/>
                </a:rPr>
                <a:t>hình</a:t>
              </a:r>
              <a:r>
                <a:rPr lang="en-US" sz="3000" b="1" dirty="0">
                  <a:solidFill>
                    <a:srgbClr val="FFFFFF"/>
                  </a:solidFill>
                  <a:latin typeface="Cabin Bold"/>
                  <a:ea typeface="Cabin Bold"/>
                  <a:cs typeface="Cabin Bold"/>
                  <a:sym typeface="Cabin Bold"/>
                </a:rPr>
                <a:t> VAR</a:t>
              </a:r>
            </a:p>
          </p:txBody>
        </p:sp>
      </p:grpSp>
      <p:sp>
        <p:nvSpPr>
          <p:cNvPr id="11" name="TextBox 11"/>
          <p:cNvSpPr txBox="1"/>
          <p:nvPr/>
        </p:nvSpPr>
        <p:spPr>
          <a:xfrm>
            <a:off x="1715413" y="406163"/>
            <a:ext cx="14857174" cy="82740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5334"/>
              </a:lnSpc>
            </a:pPr>
            <a:r>
              <a:rPr lang="en-US" sz="5499">
                <a:solidFill>
                  <a:srgbClr val="090147"/>
                </a:solidFill>
                <a:latin typeface="Bungee"/>
                <a:ea typeface="Bungee"/>
                <a:cs typeface="Bungee"/>
                <a:sym typeface="Bungee"/>
              </a:rPr>
              <a:t>RECIPE 3-7: VAR MODEL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2492282" y="9614680"/>
            <a:ext cx="13303437" cy="49530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199"/>
              </a:lnSpc>
              <a:spcBef>
                <a:spcPct val="0"/>
              </a:spcBef>
            </a:pPr>
            <a:r>
              <a:rPr lang="en-US" sz="2999" i="1">
                <a:solidFill>
                  <a:srgbClr val="000000"/>
                </a:solidFill>
                <a:latin typeface="Open Sans Italics"/>
                <a:ea typeface="Open Sans Italics"/>
                <a:cs typeface="Open Sans Italics"/>
                <a:sym typeface="Open Sans Italics"/>
              </a:rPr>
              <a:t>Dataset AirQualityUCI dùng để phân tích và dự đoán chất lượng không khí</a:t>
            </a:r>
          </a:p>
        </p:txBody>
      </p:sp>
      <p:grpSp>
        <p:nvGrpSpPr>
          <p:cNvPr id="13" name="Group 13"/>
          <p:cNvGrpSpPr/>
          <p:nvPr/>
        </p:nvGrpSpPr>
        <p:grpSpPr>
          <a:xfrm>
            <a:off x="739347" y="3057464"/>
            <a:ext cx="6027599" cy="3639493"/>
            <a:chOff x="0" y="0"/>
            <a:chExt cx="1587516" cy="958550"/>
          </a:xfrm>
        </p:grpSpPr>
        <p:sp>
          <p:nvSpPr>
            <p:cNvPr id="14" name="Freeform 14"/>
            <p:cNvSpPr/>
            <p:nvPr/>
          </p:nvSpPr>
          <p:spPr>
            <a:xfrm>
              <a:off x="0" y="0"/>
              <a:ext cx="1587516" cy="958550"/>
            </a:xfrm>
            <a:custGeom>
              <a:avLst/>
              <a:gdLst/>
              <a:ahLst/>
              <a:cxnLst/>
              <a:rect l="l" t="t" r="r" b="b"/>
              <a:pathLst>
                <a:path w="1587516" h="958550">
                  <a:moveTo>
                    <a:pt x="21835" y="0"/>
                  </a:moveTo>
                  <a:lnTo>
                    <a:pt x="1565681" y="0"/>
                  </a:lnTo>
                  <a:cubicBezTo>
                    <a:pt x="1577740" y="0"/>
                    <a:pt x="1587516" y="9776"/>
                    <a:pt x="1587516" y="21835"/>
                  </a:cubicBezTo>
                  <a:lnTo>
                    <a:pt x="1587516" y="936715"/>
                  </a:lnTo>
                  <a:cubicBezTo>
                    <a:pt x="1587516" y="942506"/>
                    <a:pt x="1585215" y="948059"/>
                    <a:pt x="1581121" y="952154"/>
                  </a:cubicBezTo>
                  <a:cubicBezTo>
                    <a:pt x="1577026" y="956249"/>
                    <a:pt x="1571472" y="958550"/>
                    <a:pt x="1565681" y="958550"/>
                  </a:cubicBezTo>
                  <a:lnTo>
                    <a:pt x="21835" y="958550"/>
                  </a:lnTo>
                  <a:cubicBezTo>
                    <a:pt x="9776" y="958550"/>
                    <a:pt x="0" y="948774"/>
                    <a:pt x="0" y="936715"/>
                  </a:cubicBezTo>
                  <a:lnTo>
                    <a:pt x="0" y="21835"/>
                  </a:lnTo>
                  <a:cubicBezTo>
                    <a:pt x="0" y="9776"/>
                    <a:pt x="9776" y="0"/>
                    <a:pt x="21835" y="0"/>
                  </a:cubicBezTo>
                  <a:close/>
                </a:path>
              </a:pathLst>
            </a:custGeom>
            <a:solidFill>
              <a:srgbClr val="FFFFFF"/>
            </a:solidFill>
            <a:ln w="9525" cap="sq">
              <a:solidFill>
                <a:srgbClr val="000000"/>
              </a:solidFill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0" y="-38100"/>
              <a:ext cx="1587516" cy="99665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240"/>
                </a:lnSpc>
              </a:pPr>
              <a:endParaRPr/>
            </a:p>
          </p:txBody>
        </p:sp>
      </p:grpSp>
      <p:grpSp>
        <p:nvGrpSpPr>
          <p:cNvPr id="16" name="Group 16"/>
          <p:cNvGrpSpPr/>
          <p:nvPr/>
        </p:nvGrpSpPr>
        <p:grpSpPr>
          <a:xfrm>
            <a:off x="11195602" y="3057464"/>
            <a:ext cx="6824504" cy="3639493"/>
            <a:chOff x="0" y="0"/>
            <a:chExt cx="1797400" cy="958550"/>
          </a:xfrm>
        </p:grpSpPr>
        <p:sp>
          <p:nvSpPr>
            <p:cNvPr id="17" name="Freeform 17"/>
            <p:cNvSpPr/>
            <p:nvPr/>
          </p:nvSpPr>
          <p:spPr>
            <a:xfrm>
              <a:off x="0" y="0"/>
              <a:ext cx="1797400" cy="958550"/>
            </a:xfrm>
            <a:custGeom>
              <a:avLst/>
              <a:gdLst/>
              <a:ahLst/>
              <a:cxnLst/>
              <a:rect l="l" t="t" r="r" b="b"/>
              <a:pathLst>
                <a:path w="1797400" h="958550">
                  <a:moveTo>
                    <a:pt x="19285" y="0"/>
                  </a:moveTo>
                  <a:lnTo>
                    <a:pt x="1778115" y="0"/>
                  </a:lnTo>
                  <a:cubicBezTo>
                    <a:pt x="1788766" y="0"/>
                    <a:pt x="1797400" y="8634"/>
                    <a:pt x="1797400" y="19285"/>
                  </a:cubicBezTo>
                  <a:lnTo>
                    <a:pt x="1797400" y="939264"/>
                  </a:lnTo>
                  <a:cubicBezTo>
                    <a:pt x="1797400" y="944379"/>
                    <a:pt x="1795368" y="949284"/>
                    <a:pt x="1791752" y="952901"/>
                  </a:cubicBezTo>
                  <a:cubicBezTo>
                    <a:pt x="1788135" y="956518"/>
                    <a:pt x="1783230" y="958550"/>
                    <a:pt x="1778115" y="958550"/>
                  </a:cubicBezTo>
                  <a:lnTo>
                    <a:pt x="19285" y="958550"/>
                  </a:lnTo>
                  <a:cubicBezTo>
                    <a:pt x="8634" y="958550"/>
                    <a:pt x="0" y="949915"/>
                    <a:pt x="0" y="939264"/>
                  </a:cubicBezTo>
                  <a:lnTo>
                    <a:pt x="0" y="19285"/>
                  </a:lnTo>
                  <a:cubicBezTo>
                    <a:pt x="0" y="8634"/>
                    <a:pt x="8634" y="0"/>
                    <a:pt x="19285" y="0"/>
                  </a:cubicBezTo>
                  <a:close/>
                </a:path>
              </a:pathLst>
            </a:custGeom>
            <a:solidFill>
              <a:srgbClr val="FFFFFF"/>
            </a:solidFill>
            <a:ln w="9525" cap="sq">
              <a:solidFill>
                <a:srgbClr val="000000"/>
              </a:solidFill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0" y="-38100"/>
              <a:ext cx="1797400" cy="99665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240"/>
                </a:lnSpc>
              </a:pPr>
              <a:endParaRPr/>
            </a:p>
          </p:txBody>
        </p:sp>
      </p:grpSp>
      <p:sp>
        <p:nvSpPr>
          <p:cNvPr id="19" name="TextBox 19"/>
          <p:cNvSpPr txBox="1"/>
          <p:nvPr/>
        </p:nvSpPr>
        <p:spPr>
          <a:xfrm>
            <a:off x="7039663" y="3302202"/>
            <a:ext cx="3883223" cy="5238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200"/>
              </a:lnSpc>
              <a:spcBef>
                <a:spcPct val="0"/>
              </a:spcBef>
            </a:pPr>
            <a:r>
              <a:rPr lang="en-US" sz="3000" b="1">
                <a:solidFill>
                  <a:srgbClr val="AA1313"/>
                </a:solidFill>
                <a:latin typeface="Josefin Sans Bold"/>
                <a:ea typeface="Josefin Sans Bold"/>
                <a:cs typeface="Josefin Sans Bold"/>
                <a:sym typeface="Josefin Sans Bold"/>
              </a:rPr>
              <a:t>Số lượng biến dự báo</a:t>
            </a:r>
          </a:p>
        </p:txBody>
      </p:sp>
      <p:sp>
        <p:nvSpPr>
          <p:cNvPr id="20" name="TextBox 20"/>
          <p:cNvSpPr txBox="1"/>
          <p:nvPr/>
        </p:nvSpPr>
        <p:spPr>
          <a:xfrm>
            <a:off x="7125983" y="4131632"/>
            <a:ext cx="3710583" cy="5238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200"/>
              </a:lnSpc>
              <a:spcBef>
                <a:spcPct val="0"/>
              </a:spcBef>
            </a:pPr>
            <a:r>
              <a:rPr lang="en-US" sz="3000" b="1">
                <a:solidFill>
                  <a:srgbClr val="AA1313"/>
                </a:solidFill>
                <a:latin typeface="Josefin Sans Bold"/>
                <a:ea typeface="Josefin Sans Bold"/>
                <a:cs typeface="Josefin Sans Bold"/>
                <a:sym typeface="Josefin Sans Bold"/>
              </a:rPr>
              <a:t>Mối quan hệ biến số</a:t>
            </a:r>
          </a:p>
        </p:txBody>
      </p:sp>
      <p:sp>
        <p:nvSpPr>
          <p:cNvPr id="21" name="TextBox 21"/>
          <p:cNvSpPr txBox="1"/>
          <p:nvPr/>
        </p:nvSpPr>
        <p:spPr>
          <a:xfrm>
            <a:off x="7540856" y="4960307"/>
            <a:ext cx="2880836" cy="5238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200"/>
              </a:lnSpc>
              <a:spcBef>
                <a:spcPct val="0"/>
              </a:spcBef>
            </a:pPr>
            <a:r>
              <a:rPr lang="en-US" sz="3000" b="1">
                <a:solidFill>
                  <a:srgbClr val="AA1313"/>
                </a:solidFill>
                <a:latin typeface="Josefin Sans Bold"/>
                <a:ea typeface="Josefin Sans Bold"/>
                <a:cs typeface="Josefin Sans Bold"/>
                <a:sym typeface="Josefin Sans Bold"/>
              </a:rPr>
              <a:t>Dữ liệu đầu vào</a:t>
            </a:r>
          </a:p>
        </p:txBody>
      </p:sp>
      <p:sp>
        <p:nvSpPr>
          <p:cNvPr id="22" name="TextBox 22"/>
          <p:cNvSpPr txBox="1"/>
          <p:nvPr/>
        </p:nvSpPr>
        <p:spPr>
          <a:xfrm>
            <a:off x="7673254" y="5788982"/>
            <a:ext cx="2616041" cy="5238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200"/>
              </a:lnSpc>
              <a:spcBef>
                <a:spcPct val="0"/>
              </a:spcBef>
            </a:pPr>
            <a:r>
              <a:rPr lang="en-US" sz="3000" b="1">
                <a:solidFill>
                  <a:srgbClr val="AA1313"/>
                </a:solidFill>
                <a:latin typeface="Josefin Sans Bold"/>
                <a:ea typeface="Josefin Sans Bold"/>
                <a:cs typeface="Josefin Sans Bold"/>
                <a:sym typeface="Josefin Sans Bold"/>
              </a:rPr>
              <a:t>Dữ liệu đầu ra</a:t>
            </a:r>
          </a:p>
        </p:txBody>
      </p:sp>
      <p:sp>
        <p:nvSpPr>
          <p:cNvPr id="23" name="TextBox 23"/>
          <p:cNvSpPr txBox="1"/>
          <p:nvPr/>
        </p:nvSpPr>
        <p:spPr>
          <a:xfrm>
            <a:off x="1266676" y="3302202"/>
            <a:ext cx="4972943" cy="5969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899"/>
              </a:lnSpc>
              <a:spcBef>
                <a:spcPct val="0"/>
              </a:spcBef>
            </a:pPr>
            <a:r>
              <a:rPr lang="en-US" sz="3499">
                <a:solidFill>
                  <a:srgbClr val="000000"/>
                </a:solidFill>
                <a:latin typeface="Josefin Sans"/>
                <a:ea typeface="Josefin Sans"/>
                <a:cs typeface="Josefin Sans"/>
                <a:sym typeface="Josefin Sans"/>
              </a:rPr>
              <a:t>Duy nhất 1 biến mục tiêu</a:t>
            </a:r>
          </a:p>
        </p:txBody>
      </p:sp>
      <p:sp>
        <p:nvSpPr>
          <p:cNvPr id="24" name="TextBox 24"/>
          <p:cNvSpPr txBox="1"/>
          <p:nvPr/>
        </p:nvSpPr>
        <p:spPr>
          <a:xfrm>
            <a:off x="1266676" y="4076126"/>
            <a:ext cx="4972943" cy="605935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4899"/>
              </a:lnSpc>
              <a:spcBef>
                <a:spcPct val="0"/>
              </a:spcBef>
            </a:pPr>
            <a:r>
              <a:rPr lang="en-US" sz="3499" dirty="0">
                <a:solidFill>
                  <a:srgbClr val="000000"/>
                </a:solidFill>
                <a:latin typeface="Josefin Sans"/>
                <a:ea typeface="Josefin Sans"/>
                <a:cs typeface="Josefin Sans"/>
                <a:sym typeface="Josefin Sans"/>
              </a:rPr>
              <a:t>Dựa </a:t>
            </a:r>
            <a:r>
              <a:rPr lang="en-US" sz="3499" dirty="0" err="1">
                <a:solidFill>
                  <a:srgbClr val="000000"/>
                </a:solidFill>
                <a:latin typeface="Josefin Sans"/>
                <a:ea typeface="Josefin Sans"/>
                <a:cs typeface="Josefin Sans"/>
                <a:sym typeface="Josefin Sans"/>
              </a:rPr>
              <a:t>vào</a:t>
            </a:r>
            <a:r>
              <a:rPr lang="en-US" sz="3499" dirty="0">
                <a:solidFill>
                  <a:srgbClr val="000000"/>
                </a:solidFill>
                <a:latin typeface="Josefin Sans"/>
                <a:ea typeface="Josefin Sans"/>
                <a:cs typeface="Josefin Sans"/>
                <a:sym typeface="Josefin Sans"/>
              </a:rPr>
              <a:t> </a:t>
            </a:r>
            <a:r>
              <a:rPr lang="en-US" sz="3499" dirty="0" err="1">
                <a:solidFill>
                  <a:srgbClr val="000000"/>
                </a:solidFill>
                <a:latin typeface="Josefin Sans"/>
                <a:ea typeface="Josefin Sans"/>
                <a:cs typeface="Josefin Sans"/>
                <a:sym typeface="Josefin Sans"/>
              </a:rPr>
              <a:t>lịch</a:t>
            </a:r>
            <a:r>
              <a:rPr lang="en-US" sz="3499" dirty="0">
                <a:solidFill>
                  <a:srgbClr val="000000"/>
                </a:solidFill>
                <a:latin typeface="Josefin Sans"/>
                <a:ea typeface="Josefin Sans"/>
                <a:cs typeface="Josefin Sans"/>
                <a:sym typeface="Josefin Sans"/>
              </a:rPr>
              <a:t> </a:t>
            </a:r>
            <a:r>
              <a:rPr lang="en-US" sz="3499" dirty="0" err="1">
                <a:solidFill>
                  <a:srgbClr val="000000"/>
                </a:solidFill>
                <a:latin typeface="Josefin Sans"/>
                <a:ea typeface="Josefin Sans"/>
                <a:cs typeface="Josefin Sans"/>
                <a:sym typeface="Josefin Sans"/>
              </a:rPr>
              <a:t>sử</a:t>
            </a:r>
            <a:r>
              <a:rPr lang="en-US" sz="3499" dirty="0">
                <a:solidFill>
                  <a:srgbClr val="000000"/>
                </a:solidFill>
                <a:latin typeface="Josefin Sans"/>
                <a:ea typeface="Josefin Sans"/>
                <a:cs typeface="Josefin Sans"/>
                <a:sym typeface="Josefin Sans"/>
              </a:rPr>
              <a:t> </a:t>
            </a:r>
            <a:r>
              <a:rPr lang="en-US" sz="3499" dirty="0" err="1">
                <a:solidFill>
                  <a:srgbClr val="000000"/>
                </a:solidFill>
                <a:latin typeface="Josefin Sans"/>
                <a:ea typeface="Josefin Sans"/>
                <a:cs typeface="Josefin Sans"/>
                <a:sym typeface="Josefin Sans"/>
              </a:rPr>
              <a:t>chính</a:t>
            </a:r>
            <a:r>
              <a:rPr lang="en-US" sz="3499" dirty="0">
                <a:solidFill>
                  <a:srgbClr val="000000"/>
                </a:solidFill>
                <a:latin typeface="Josefin Sans"/>
                <a:ea typeface="Josefin Sans"/>
                <a:cs typeface="Josefin Sans"/>
                <a:sym typeface="Josefin Sans"/>
              </a:rPr>
              <a:t> </a:t>
            </a:r>
            <a:r>
              <a:rPr lang="en-US" sz="3499" dirty="0" err="1">
                <a:solidFill>
                  <a:srgbClr val="000000"/>
                </a:solidFill>
                <a:latin typeface="Josefin Sans"/>
                <a:ea typeface="Josefin Sans"/>
                <a:cs typeface="Josefin Sans"/>
                <a:sym typeface="Josefin Sans"/>
              </a:rPr>
              <a:t>nó</a:t>
            </a:r>
            <a:endParaRPr lang="en-US" sz="3499" dirty="0">
              <a:solidFill>
                <a:srgbClr val="000000"/>
              </a:solidFill>
              <a:latin typeface="Josefin Sans"/>
              <a:ea typeface="Josefin Sans"/>
              <a:cs typeface="Josefin Sans"/>
              <a:sym typeface="Josefin Sans"/>
            </a:endParaRPr>
          </a:p>
        </p:txBody>
      </p:sp>
      <p:sp>
        <p:nvSpPr>
          <p:cNvPr id="25" name="TextBox 25"/>
          <p:cNvSpPr txBox="1"/>
          <p:nvPr/>
        </p:nvSpPr>
        <p:spPr>
          <a:xfrm>
            <a:off x="1524073" y="4915649"/>
            <a:ext cx="4458146" cy="5969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899"/>
              </a:lnSpc>
              <a:spcBef>
                <a:spcPct val="0"/>
              </a:spcBef>
            </a:pPr>
            <a:r>
              <a:rPr lang="en-US" sz="3499" dirty="0" err="1">
                <a:solidFill>
                  <a:srgbClr val="000000"/>
                </a:solidFill>
                <a:latin typeface="Josefin Sans"/>
                <a:ea typeface="Josefin Sans"/>
                <a:cs typeface="Josefin Sans"/>
                <a:sym typeface="Josefin Sans"/>
              </a:rPr>
              <a:t>Chuỗi</a:t>
            </a:r>
            <a:r>
              <a:rPr lang="en-US" sz="3499" dirty="0">
                <a:solidFill>
                  <a:srgbClr val="000000"/>
                </a:solidFill>
                <a:latin typeface="Josefin Sans"/>
                <a:ea typeface="Josefin Sans"/>
                <a:cs typeface="Josefin Sans"/>
                <a:sym typeface="Josefin Sans"/>
              </a:rPr>
              <a:t> </a:t>
            </a:r>
            <a:r>
              <a:rPr lang="en-US" sz="3499" dirty="0" err="1">
                <a:solidFill>
                  <a:srgbClr val="000000"/>
                </a:solidFill>
                <a:latin typeface="Josefin Sans"/>
                <a:ea typeface="Josefin Sans"/>
                <a:cs typeface="Josefin Sans"/>
                <a:sym typeface="Josefin Sans"/>
              </a:rPr>
              <a:t>thời</a:t>
            </a:r>
            <a:r>
              <a:rPr lang="en-US" sz="3499" dirty="0">
                <a:solidFill>
                  <a:srgbClr val="000000"/>
                </a:solidFill>
                <a:latin typeface="Josefin Sans"/>
                <a:ea typeface="Josefin Sans"/>
                <a:cs typeface="Josefin Sans"/>
                <a:sym typeface="Josefin Sans"/>
              </a:rPr>
              <a:t> </a:t>
            </a:r>
            <a:r>
              <a:rPr lang="en-US" sz="3499" dirty="0" err="1">
                <a:solidFill>
                  <a:srgbClr val="000000"/>
                </a:solidFill>
                <a:latin typeface="Josefin Sans"/>
                <a:ea typeface="Josefin Sans"/>
                <a:cs typeface="Josefin Sans"/>
                <a:sym typeface="Josefin Sans"/>
              </a:rPr>
              <a:t>gian</a:t>
            </a:r>
            <a:r>
              <a:rPr lang="en-US" sz="3499" dirty="0">
                <a:solidFill>
                  <a:srgbClr val="000000"/>
                </a:solidFill>
                <a:latin typeface="Josefin Sans"/>
                <a:ea typeface="Josefin Sans"/>
                <a:cs typeface="Josefin Sans"/>
                <a:sym typeface="Josefin Sans"/>
              </a:rPr>
              <a:t> </a:t>
            </a:r>
            <a:r>
              <a:rPr lang="en-US" sz="3499" dirty="0" err="1">
                <a:solidFill>
                  <a:srgbClr val="000000"/>
                </a:solidFill>
                <a:latin typeface="Josefin Sans"/>
                <a:ea typeface="Josefin Sans"/>
                <a:cs typeface="Josefin Sans"/>
                <a:sym typeface="Josefin Sans"/>
              </a:rPr>
              <a:t>đơn</a:t>
            </a:r>
            <a:r>
              <a:rPr lang="en-US" sz="3499" dirty="0">
                <a:solidFill>
                  <a:srgbClr val="000000"/>
                </a:solidFill>
                <a:latin typeface="Josefin Sans"/>
                <a:ea typeface="Josefin Sans"/>
                <a:cs typeface="Josefin Sans"/>
                <a:sym typeface="Josefin Sans"/>
              </a:rPr>
              <a:t> </a:t>
            </a:r>
            <a:r>
              <a:rPr lang="en-US" sz="3499" dirty="0" err="1">
                <a:solidFill>
                  <a:srgbClr val="000000"/>
                </a:solidFill>
                <a:latin typeface="Josefin Sans"/>
                <a:ea typeface="Josefin Sans"/>
                <a:cs typeface="Josefin Sans"/>
                <a:sym typeface="Josefin Sans"/>
              </a:rPr>
              <a:t>lẻ</a:t>
            </a:r>
            <a:endParaRPr lang="en-US" sz="3499" dirty="0">
              <a:solidFill>
                <a:srgbClr val="000000"/>
              </a:solidFill>
              <a:latin typeface="Josefin Sans"/>
              <a:ea typeface="Josefin Sans"/>
              <a:cs typeface="Josefin Sans"/>
              <a:sym typeface="Josefin Sans"/>
            </a:endParaRPr>
          </a:p>
        </p:txBody>
      </p:sp>
      <p:sp>
        <p:nvSpPr>
          <p:cNvPr id="26" name="TextBox 26"/>
          <p:cNvSpPr txBox="1"/>
          <p:nvPr/>
        </p:nvSpPr>
        <p:spPr>
          <a:xfrm>
            <a:off x="2221779" y="5725494"/>
            <a:ext cx="3062734" cy="5969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899"/>
              </a:lnSpc>
              <a:spcBef>
                <a:spcPct val="0"/>
              </a:spcBef>
            </a:pPr>
            <a:r>
              <a:rPr lang="en-US" sz="3499" dirty="0">
                <a:solidFill>
                  <a:srgbClr val="000000"/>
                </a:solidFill>
                <a:latin typeface="Josefin Sans"/>
                <a:ea typeface="Josefin Sans"/>
                <a:cs typeface="Josefin Sans"/>
                <a:sym typeface="Josefin Sans"/>
              </a:rPr>
              <a:t>1 </a:t>
            </a:r>
            <a:r>
              <a:rPr lang="en-US" sz="3499" dirty="0" err="1">
                <a:solidFill>
                  <a:srgbClr val="000000"/>
                </a:solidFill>
                <a:latin typeface="Josefin Sans"/>
                <a:ea typeface="Josefin Sans"/>
                <a:cs typeface="Josefin Sans"/>
                <a:sym typeface="Josefin Sans"/>
              </a:rPr>
              <a:t>giá</a:t>
            </a:r>
            <a:r>
              <a:rPr lang="en-US" sz="3499" dirty="0">
                <a:solidFill>
                  <a:srgbClr val="000000"/>
                </a:solidFill>
                <a:latin typeface="Josefin Sans"/>
                <a:ea typeface="Josefin Sans"/>
                <a:cs typeface="Josefin Sans"/>
                <a:sym typeface="Josefin Sans"/>
              </a:rPr>
              <a:t> </a:t>
            </a:r>
            <a:r>
              <a:rPr lang="en-US" sz="3499" dirty="0" err="1">
                <a:solidFill>
                  <a:srgbClr val="000000"/>
                </a:solidFill>
                <a:latin typeface="Josefin Sans"/>
                <a:ea typeface="Josefin Sans"/>
                <a:cs typeface="Josefin Sans"/>
                <a:sym typeface="Josefin Sans"/>
              </a:rPr>
              <a:t>trị</a:t>
            </a:r>
            <a:r>
              <a:rPr lang="en-US" sz="3499" dirty="0">
                <a:solidFill>
                  <a:srgbClr val="000000"/>
                </a:solidFill>
                <a:latin typeface="Josefin Sans"/>
                <a:ea typeface="Josefin Sans"/>
                <a:cs typeface="Josefin Sans"/>
                <a:sym typeface="Josefin Sans"/>
              </a:rPr>
              <a:t> </a:t>
            </a:r>
            <a:r>
              <a:rPr lang="en-US" sz="3499" dirty="0" err="1">
                <a:solidFill>
                  <a:srgbClr val="000000"/>
                </a:solidFill>
                <a:latin typeface="Josefin Sans"/>
                <a:ea typeface="Josefin Sans"/>
                <a:cs typeface="Josefin Sans"/>
                <a:sym typeface="Josefin Sans"/>
              </a:rPr>
              <a:t>dự</a:t>
            </a:r>
            <a:r>
              <a:rPr lang="en-US" sz="3499" dirty="0">
                <a:solidFill>
                  <a:srgbClr val="000000"/>
                </a:solidFill>
                <a:latin typeface="Josefin Sans"/>
                <a:ea typeface="Josefin Sans"/>
                <a:cs typeface="Josefin Sans"/>
                <a:sym typeface="Josefin Sans"/>
              </a:rPr>
              <a:t> </a:t>
            </a:r>
            <a:r>
              <a:rPr lang="en-US" sz="3499" dirty="0" err="1">
                <a:solidFill>
                  <a:srgbClr val="000000"/>
                </a:solidFill>
                <a:latin typeface="Josefin Sans"/>
                <a:ea typeface="Josefin Sans"/>
                <a:cs typeface="Josefin Sans"/>
                <a:sym typeface="Josefin Sans"/>
              </a:rPr>
              <a:t>báo</a:t>
            </a:r>
            <a:endParaRPr lang="en-US" sz="3499" dirty="0">
              <a:solidFill>
                <a:srgbClr val="000000"/>
              </a:solidFill>
              <a:latin typeface="Josefin Sans"/>
              <a:ea typeface="Josefin Sans"/>
              <a:cs typeface="Josefin Sans"/>
              <a:sym typeface="Josefin Sans"/>
            </a:endParaRPr>
          </a:p>
        </p:txBody>
      </p:sp>
      <p:sp>
        <p:nvSpPr>
          <p:cNvPr id="27" name="TextBox 27"/>
          <p:cNvSpPr txBox="1"/>
          <p:nvPr/>
        </p:nvSpPr>
        <p:spPr>
          <a:xfrm>
            <a:off x="12608943" y="3405020"/>
            <a:ext cx="3997821" cy="5969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899"/>
              </a:lnSpc>
              <a:spcBef>
                <a:spcPct val="0"/>
              </a:spcBef>
            </a:pPr>
            <a:r>
              <a:rPr lang="en-US" sz="3499" dirty="0" err="1">
                <a:solidFill>
                  <a:srgbClr val="000000"/>
                </a:solidFill>
                <a:latin typeface="Josefin Sans"/>
                <a:ea typeface="Josefin Sans"/>
                <a:cs typeface="Josefin Sans"/>
                <a:sym typeface="Josefin Sans"/>
              </a:rPr>
              <a:t>Nhiều</a:t>
            </a:r>
            <a:r>
              <a:rPr lang="en-US" sz="3499" dirty="0">
                <a:solidFill>
                  <a:srgbClr val="000000"/>
                </a:solidFill>
                <a:latin typeface="Josefin Sans"/>
                <a:ea typeface="Josefin Sans"/>
                <a:cs typeface="Josefin Sans"/>
                <a:sym typeface="Josefin Sans"/>
              </a:rPr>
              <a:t> </a:t>
            </a:r>
            <a:r>
              <a:rPr lang="en-US" sz="3499" dirty="0" err="1">
                <a:solidFill>
                  <a:srgbClr val="000000"/>
                </a:solidFill>
                <a:latin typeface="Josefin Sans"/>
                <a:ea typeface="Josefin Sans"/>
                <a:cs typeface="Josefin Sans"/>
                <a:sym typeface="Josefin Sans"/>
              </a:rPr>
              <a:t>biến</a:t>
            </a:r>
            <a:r>
              <a:rPr lang="en-US" sz="3499" dirty="0">
                <a:solidFill>
                  <a:srgbClr val="000000"/>
                </a:solidFill>
                <a:latin typeface="Josefin Sans"/>
                <a:ea typeface="Josefin Sans"/>
                <a:cs typeface="Josefin Sans"/>
                <a:sym typeface="Josefin Sans"/>
              </a:rPr>
              <a:t> </a:t>
            </a:r>
            <a:r>
              <a:rPr lang="en-US" sz="3499" dirty="0" err="1">
                <a:solidFill>
                  <a:srgbClr val="000000"/>
                </a:solidFill>
                <a:latin typeface="Josefin Sans"/>
                <a:ea typeface="Josefin Sans"/>
                <a:cs typeface="Josefin Sans"/>
                <a:sym typeface="Josefin Sans"/>
              </a:rPr>
              <a:t>cùng</a:t>
            </a:r>
            <a:r>
              <a:rPr lang="en-US" sz="3499" dirty="0">
                <a:solidFill>
                  <a:srgbClr val="000000"/>
                </a:solidFill>
                <a:latin typeface="Josefin Sans"/>
                <a:ea typeface="Josefin Sans"/>
                <a:cs typeface="Josefin Sans"/>
                <a:sym typeface="Josefin Sans"/>
              </a:rPr>
              <a:t> </a:t>
            </a:r>
            <a:r>
              <a:rPr lang="en-US" sz="3499" dirty="0" err="1">
                <a:solidFill>
                  <a:srgbClr val="000000"/>
                </a:solidFill>
                <a:latin typeface="Josefin Sans"/>
                <a:ea typeface="Josefin Sans"/>
                <a:cs typeface="Josefin Sans"/>
                <a:sym typeface="Josefin Sans"/>
              </a:rPr>
              <a:t>lúc</a:t>
            </a:r>
            <a:endParaRPr lang="en-US" sz="3499" dirty="0">
              <a:solidFill>
                <a:srgbClr val="000000"/>
              </a:solidFill>
              <a:latin typeface="Josefin Sans"/>
              <a:ea typeface="Josefin Sans"/>
              <a:cs typeface="Josefin Sans"/>
              <a:sym typeface="Josefin Sans"/>
            </a:endParaRPr>
          </a:p>
        </p:txBody>
      </p:sp>
      <p:sp>
        <p:nvSpPr>
          <p:cNvPr id="28" name="TextBox 28"/>
          <p:cNvSpPr txBox="1"/>
          <p:nvPr/>
        </p:nvSpPr>
        <p:spPr>
          <a:xfrm>
            <a:off x="11525612" y="4131933"/>
            <a:ext cx="6164481" cy="5969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899"/>
              </a:lnSpc>
              <a:spcBef>
                <a:spcPct val="0"/>
              </a:spcBef>
            </a:pPr>
            <a:r>
              <a:rPr lang="en-US" sz="3499" dirty="0">
                <a:solidFill>
                  <a:srgbClr val="000000"/>
                </a:solidFill>
                <a:latin typeface="Josefin Sans"/>
                <a:ea typeface="Josefin Sans"/>
                <a:cs typeface="Josefin Sans"/>
                <a:sym typeface="Josefin Sans"/>
              </a:rPr>
              <a:t>Các </a:t>
            </a:r>
            <a:r>
              <a:rPr lang="en-US" sz="3499" dirty="0" err="1">
                <a:solidFill>
                  <a:srgbClr val="000000"/>
                </a:solidFill>
                <a:latin typeface="Josefin Sans"/>
                <a:ea typeface="Josefin Sans"/>
                <a:cs typeface="Josefin Sans"/>
                <a:sym typeface="Josefin Sans"/>
              </a:rPr>
              <a:t>biến</a:t>
            </a:r>
            <a:r>
              <a:rPr lang="en-US" sz="3499" dirty="0">
                <a:solidFill>
                  <a:srgbClr val="000000"/>
                </a:solidFill>
                <a:latin typeface="Josefin Sans"/>
                <a:ea typeface="Josefin Sans"/>
                <a:cs typeface="Josefin Sans"/>
                <a:sym typeface="Josefin Sans"/>
              </a:rPr>
              <a:t> </a:t>
            </a:r>
            <a:r>
              <a:rPr lang="en-US" sz="3499" dirty="0" err="1">
                <a:solidFill>
                  <a:srgbClr val="000000"/>
                </a:solidFill>
                <a:latin typeface="Josefin Sans"/>
                <a:ea typeface="Josefin Sans"/>
                <a:cs typeface="Josefin Sans"/>
                <a:sym typeface="Josefin Sans"/>
              </a:rPr>
              <a:t>ảnh</a:t>
            </a:r>
            <a:r>
              <a:rPr lang="en-US" sz="3499" dirty="0">
                <a:solidFill>
                  <a:srgbClr val="000000"/>
                </a:solidFill>
                <a:latin typeface="Josefin Sans"/>
                <a:ea typeface="Josefin Sans"/>
                <a:cs typeface="Josefin Sans"/>
                <a:sym typeface="Josefin Sans"/>
              </a:rPr>
              <a:t> </a:t>
            </a:r>
            <a:r>
              <a:rPr lang="en-US" sz="3499" dirty="0" err="1">
                <a:solidFill>
                  <a:srgbClr val="000000"/>
                </a:solidFill>
                <a:latin typeface="Josefin Sans"/>
                <a:ea typeface="Josefin Sans"/>
                <a:cs typeface="Josefin Sans"/>
                <a:sym typeface="Josefin Sans"/>
              </a:rPr>
              <a:t>hưởng</a:t>
            </a:r>
            <a:r>
              <a:rPr lang="en-US" sz="3499" dirty="0">
                <a:solidFill>
                  <a:srgbClr val="000000"/>
                </a:solidFill>
                <a:latin typeface="Josefin Sans"/>
                <a:ea typeface="Josefin Sans"/>
                <a:cs typeface="Josefin Sans"/>
                <a:sym typeface="Josefin Sans"/>
              </a:rPr>
              <a:t> </a:t>
            </a:r>
            <a:r>
              <a:rPr lang="en-US" sz="3499" dirty="0" err="1">
                <a:solidFill>
                  <a:srgbClr val="000000"/>
                </a:solidFill>
                <a:latin typeface="Josefin Sans"/>
                <a:ea typeface="Josefin Sans"/>
                <a:cs typeface="Josefin Sans"/>
                <a:sym typeface="Josefin Sans"/>
              </a:rPr>
              <a:t>lẫn</a:t>
            </a:r>
            <a:r>
              <a:rPr lang="en-US" sz="3499" dirty="0">
                <a:solidFill>
                  <a:srgbClr val="000000"/>
                </a:solidFill>
                <a:latin typeface="Josefin Sans"/>
                <a:ea typeface="Josefin Sans"/>
                <a:cs typeface="Josefin Sans"/>
                <a:sym typeface="Josefin Sans"/>
              </a:rPr>
              <a:t> </a:t>
            </a:r>
            <a:r>
              <a:rPr lang="en-US" sz="3499" dirty="0" err="1">
                <a:solidFill>
                  <a:srgbClr val="000000"/>
                </a:solidFill>
                <a:latin typeface="Josefin Sans"/>
                <a:ea typeface="Josefin Sans"/>
                <a:cs typeface="Josefin Sans"/>
                <a:sym typeface="Josefin Sans"/>
              </a:rPr>
              <a:t>nhau</a:t>
            </a:r>
            <a:endParaRPr lang="en-US" sz="3499" dirty="0">
              <a:solidFill>
                <a:srgbClr val="000000"/>
              </a:solidFill>
              <a:latin typeface="Josefin Sans"/>
              <a:ea typeface="Josefin Sans"/>
              <a:cs typeface="Josefin Sans"/>
              <a:sym typeface="Josefin Sans"/>
            </a:endParaRPr>
          </a:p>
        </p:txBody>
      </p:sp>
      <p:sp>
        <p:nvSpPr>
          <p:cNvPr id="29" name="TextBox 29"/>
          <p:cNvSpPr txBox="1"/>
          <p:nvPr/>
        </p:nvSpPr>
        <p:spPr>
          <a:xfrm>
            <a:off x="11327999" y="4915649"/>
            <a:ext cx="6649115" cy="605935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4899"/>
              </a:lnSpc>
              <a:spcBef>
                <a:spcPct val="0"/>
              </a:spcBef>
            </a:pPr>
            <a:r>
              <a:rPr lang="en-US" sz="3499" dirty="0" err="1">
                <a:solidFill>
                  <a:srgbClr val="000000"/>
                </a:solidFill>
                <a:latin typeface="Josefin Sans"/>
                <a:ea typeface="Josefin Sans"/>
                <a:cs typeface="Josefin Sans"/>
                <a:sym typeface="Josefin Sans"/>
              </a:rPr>
              <a:t>Nhiều</a:t>
            </a:r>
            <a:r>
              <a:rPr lang="en-US" sz="3499" dirty="0">
                <a:solidFill>
                  <a:srgbClr val="000000"/>
                </a:solidFill>
                <a:latin typeface="Josefin Sans"/>
                <a:ea typeface="Josefin Sans"/>
                <a:cs typeface="Josefin Sans"/>
                <a:sym typeface="Josefin Sans"/>
              </a:rPr>
              <a:t> </a:t>
            </a:r>
            <a:r>
              <a:rPr lang="en-US" sz="3499" dirty="0" err="1">
                <a:solidFill>
                  <a:srgbClr val="000000"/>
                </a:solidFill>
                <a:latin typeface="Josefin Sans"/>
                <a:ea typeface="Josefin Sans"/>
                <a:cs typeface="Josefin Sans"/>
                <a:sym typeface="Josefin Sans"/>
              </a:rPr>
              <a:t>chuỗi</a:t>
            </a:r>
            <a:r>
              <a:rPr lang="en-US" sz="3499" dirty="0">
                <a:solidFill>
                  <a:srgbClr val="000000"/>
                </a:solidFill>
                <a:latin typeface="Josefin Sans"/>
                <a:ea typeface="Josefin Sans"/>
                <a:cs typeface="Josefin Sans"/>
                <a:sym typeface="Josefin Sans"/>
              </a:rPr>
              <a:t> </a:t>
            </a:r>
            <a:r>
              <a:rPr lang="en-US" sz="3499" dirty="0" err="1">
                <a:solidFill>
                  <a:srgbClr val="000000"/>
                </a:solidFill>
                <a:latin typeface="Josefin Sans"/>
                <a:ea typeface="Josefin Sans"/>
                <a:cs typeface="Josefin Sans"/>
                <a:sym typeface="Josefin Sans"/>
              </a:rPr>
              <a:t>thời</a:t>
            </a:r>
            <a:r>
              <a:rPr lang="en-US" sz="3499" dirty="0">
                <a:solidFill>
                  <a:srgbClr val="000000"/>
                </a:solidFill>
                <a:latin typeface="Josefin Sans"/>
                <a:ea typeface="Josefin Sans"/>
                <a:cs typeface="Josefin Sans"/>
                <a:sym typeface="Josefin Sans"/>
              </a:rPr>
              <a:t> </a:t>
            </a:r>
            <a:r>
              <a:rPr lang="en-US" sz="3499" dirty="0" err="1">
                <a:solidFill>
                  <a:srgbClr val="000000"/>
                </a:solidFill>
                <a:latin typeface="Josefin Sans"/>
                <a:ea typeface="Josefin Sans"/>
                <a:cs typeface="Josefin Sans"/>
                <a:sym typeface="Josefin Sans"/>
              </a:rPr>
              <a:t>gian</a:t>
            </a:r>
            <a:r>
              <a:rPr lang="en-US" sz="3499" dirty="0">
                <a:solidFill>
                  <a:srgbClr val="000000"/>
                </a:solidFill>
                <a:latin typeface="Josefin Sans"/>
                <a:ea typeface="Josefin Sans"/>
                <a:cs typeface="Josefin Sans"/>
                <a:sym typeface="Josefin Sans"/>
              </a:rPr>
              <a:t> song </a:t>
            </a:r>
            <a:r>
              <a:rPr lang="en-US" sz="3499" dirty="0" err="1">
                <a:solidFill>
                  <a:srgbClr val="000000"/>
                </a:solidFill>
                <a:latin typeface="Josefin Sans"/>
                <a:ea typeface="Josefin Sans"/>
                <a:cs typeface="Josefin Sans"/>
                <a:sym typeface="Josefin Sans"/>
              </a:rPr>
              <a:t>song</a:t>
            </a:r>
            <a:endParaRPr lang="en-US" sz="3499" dirty="0">
              <a:solidFill>
                <a:srgbClr val="000000"/>
              </a:solidFill>
              <a:latin typeface="Josefin Sans"/>
              <a:ea typeface="Josefin Sans"/>
              <a:cs typeface="Josefin Sans"/>
              <a:sym typeface="Josefin Sans"/>
            </a:endParaRPr>
          </a:p>
        </p:txBody>
      </p:sp>
      <p:sp>
        <p:nvSpPr>
          <p:cNvPr id="30" name="TextBox 30"/>
          <p:cNvSpPr txBox="1"/>
          <p:nvPr/>
        </p:nvSpPr>
        <p:spPr>
          <a:xfrm>
            <a:off x="11568447" y="5716459"/>
            <a:ext cx="6078809" cy="605935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4899"/>
              </a:lnSpc>
              <a:spcBef>
                <a:spcPct val="0"/>
              </a:spcBef>
            </a:pPr>
            <a:r>
              <a:rPr lang="en-US" sz="3499" dirty="0" err="1">
                <a:solidFill>
                  <a:srgbClr val="000000"/>
                </a:solidFill>
                <a:latin typeface="Josefin Sans"/>
                <a:ea typeface="Josefin Sans"/>
                <a:cs typeface="Josefin Sans"/>
                <a:sym typeface="Josefin Sans"/>
              </a:rPr>
              <a:t>Dự</a:t>
            </a:r>
            <a:r>
              <a:rPr lang="en-US" sz="3499" dirty="0">
                <a:solidFill>
                  <a:srgbClr val="000000"/>
                </a:solidFill>
                <a:latin typeface="Josefin Sans"/>
                <a:ea typeface="Josefin Sans"/>
                <a:cs typeface="Josefin Sans"/>
                <a:sym typeface="Josefin Sans"/>
              </a:rPr>
              <a:t> </a:t>
            </a:r>
            <a:r>
              <a:rPr lang="en-US" sz="3499" dirty="0" err="1">
                <a:solidFill>
                  <a:srgbClr val="000000"/>
                </a:solidFill>
                <a:latin typeface="Josefin Sans"/>
                <a:ea typeface="Josefin Sans"/>
                <a:cs typeface="Josefin Sans"/>
                <a:sym typeface="Josefin Sans"/>
              </a:rPr>
              <a:t>báo</a:t>
            </a:r>
            <a:r>
              <a:rPr lang="en-US" sz="3499" dirty="0">
                <a:solidFill>
                  <a:srgbClr val="000000"/>
                </a:solidFill>
                <a:latin typeface="Josefin Sans"/>
                <a:ea typeface="Josefin Sans"/>
                <a:cs typeface="Josefin Sans"/>
                <a:sym typeface="Josefin Sans"/>
              </a:rPr>
              <a:t> </a:t>
            </a:r>
            <a:r>
              <a:rPr lang="en-US" sz="3499" dirty="0" err="1">
                <a:solidFill>
                  <a:srgbClr val="000000"/>
                </a:solidFill>
                <a:latin typeface="Josefin Sans"/>
                <a:ea typeface="Josefin Sans"/>
                <a:cs typeface="Josefin Sans"/>
                <a:sym typeface="Josefin Sans"/>
              </a:rPr>
              <a:t>đồng</a:t>
            </a:r>
            <a:r>
              <a:rPr lang="en-US" sz="3499" dirty="0">
                <a:solidFill>
                  <a:srgbClr val="000000"/>
                </a:solidFill>
                <a:latin typeface="Josefin Sans"/>
                <a:ea typeface="Josefin Sans"/>
                <a:cs typeface="Josefin Sans"/>
                <a:sym typeface="Josefin Sans"/>
              </a:rPr>
              <a:t> </a:t>
            </a:r>
            <a:r>
              <a:rPr lang="en-US" sz="3499" dirty="0" err="1">
                <a:solidFill>
                  <a:srgbClr val="000000"/>
                </a:solidFill>
                <a:latin typeface="Josefin Sans"/>
                <a:ea typeface="Josefin Sans"/>
                <a:cs typeface="Josefin Sans"/>
                <a:sym typeface="Josefin Sans"/>
              </a:rPr>
              <a:t>thời</a:t>
            </a:r>
            <a:r>
              <a:rPr lang="en-US" sz="3499" dirty="0">
                <a:solidFill>
                  <a:srgbClr val="000000"/>
                </a:solidFill>
                <a:latin typeface="Josefin Sans"/>
                <a:ea typeface="Josefin Sans"/>
                <a:cs typeface="Josefin Sans"/>
                <a:sym typeface="Josefin Sans"/>
              </a:rPr>
              <a:t> </a:t>
            </a:r>
            <a:r>
              <a:rPr lang="en-US" sz="3499" dirty="0" err="1">
                <a:solidFill>
                  <a:srgbClr val="000000"/>
                </a:solidFill>
                <a:latin typeface="Josefin Sans"/>
                <a:ea typeface="Josefin Sans"/>
                <a:cs typeface="Josefin Sans"/>
                <a:sym typeface="Josefin Sans"/>
              </a:rPr>
              <a:t>tất</a:t>
            </a:r>
            <a:r>
              <a:rPr lang="en-US" sz="3499" dirty="0">
                <a:solidFill>
                  <a:srgbClr val="000000"/>
                </a:solidFill>
                <a:latin typeface="Josefin Sans"/>
                <a:ea typeface="Josefin Sans"/>
                <a:cs typeface="Josefin Sans"/>
                <a:sym typeface="Josefin Sans"/>
              </a:rPr>
              <a:t> </a:t>
            </a:r>
            <a:r>
              <a:rPr lang="en-US" sz="3499" dirty="0" err="1">
                <a:solidFill>
                  <a:srgbClr val="000000"/>
                </a:solidFill>
                <a:latin typeface="Josefin Sans"/>
                <a:ea typeface="Josefin Sans"/>
                <a:cs typeface="Josefin Sans"/>
                <a:sym typeface="Josefin Sans"/>
              </a:rPr>
              <a:t>cả</a:t>
            </a:r>
            <a:r>
              <a:rPr lang="en-US" sz="3499" dirty="0">
                <a:solidFill>
                  <a:srgbClr val="000000"/>
                </a:solidFill>
                <a:latin typeface="Josefin Sans"/>
                <a:ea typeface="Josefin Sans"/>
                <a:cs typeface="Josefin Sans"/>
                <a:sym typeface="Josefin Sans"/>
              </a:rPr>
              <a:t> </a:t>
            </a:r>
            <a:r>
              <a:rPr lang="en-US" sz="3499" dirty="0" err="1">
                <a:solidFill>
                  <a:srgbClr val="000000"/>
                </a:solidFill>
                <a:latin typeface="Josefin Sans"/>
                <a:ea typeface="Josefin Sans"/>
                <a:cs typeface="Josefin Sans"/>
                <a:sym typeface="Josefin Sans"/>
              </a:rPr>
              <a:t>biến</a:t>
            </a:r>
            <a:endParaRPr lang="en-US" sz="3499" dirty="0">
              <a:solidFill>
                <a:srgbClr val="000000"/>
              </a:solidFill>
              <a:latin typeface="Josefin Sans"/>
              <a:ea typeface="Josefin Sans"/>
              <a:cs typeface="Josefin Sans"/>
              <a:sym typeface="Josefin Sans"/>
            </a:endParaRP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EF6F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-2031215" y="-2323593"/>
            <a:ext cx="4062430" cy="4114800"/>
          </a:xfrm>
          <a:custGeom>
            <a:avLst/>
            <a:gdLst/>
            <a:ahLst/>
            <a:cxnLst/>
            <a:rect l="l" t="t" r="r" b="b"/>
            <a:pathLst>
              <a:path w="4062430" h="4114800">
                <a:moveTo>
                  <a:pt x="0" y="0"/>
                </a:moveTo>
                <a:lnTo>
                  <a:pt x="4062430" y="0"/>
                </a:lnTo>
                <a:lnTo>
                  <a:pt x="4062430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3" name="Freeform 3"/>
          <p:cNvSpPr/>
          <p:nvPr/>
        </p:nvSpPr>
        <p:spPr>
          <a:xfrm flipH="1" flipV="1">
            <a:off x="15090620" y="0"/>
            <a:ext cx="7147278" cy="3993541"/>
          </a:xfrm>
          <a:custGeom>
            <a:avLst/>
            <a:gdLst/>
            <a:ahLst/>
            <a:cxnLst/>
            <a:rect l="l" t="t" r="r" b="b"/>
            <a:pathLst>
              <a:path w="7147278" h="3993541">
                <a:moveTo>
                  <a:pt x="7147278" y="3993541"/>
                </a:moveTo>
                <a:lnTo>
                  <a:pt x="0" y="3993541"/>
                </a:lnTo>
                <a:lnTo>
                  <a:pt x="0" y="0"/>
                </a:lnTo>
                <a:lnTo>
                  <a:pt x="7147278" y="0"/>
                </a:lnTo>
                <a:lnTo>
                  <a:pt x="7147278" y="3993541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grpSp>
        <p:nvGrpSpPr>
          <p:cNvPr id="4" name="Group 4"/>
          <p:cNvGrpSpPr/>
          <p:nvPr/>
        </p:nvGrpSpPr>
        <p:grpSpPr>
          <a:xfrm>
            <a:off x="543949" y="8233345"/>
            <a:ext cx="2243846" cy="1049720"/>
            <a:chOff x="0" y="0"/>
            <a:chExt cx="2991795" cy="1399627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2991795" cy="1399627"/>
            </a:xfrm>
            <a:custGeom>
              <a:avLst/>
              <a:gdLst/>
              <a:ahLst/>
              <a:cxnLst/>
              <a:rect l="l" t="t" r="r" b="b"/>
              <a:pathLst>
                <a:path w="2991795" h="1399627">
                  <a:moveTo>
                    <a:pt x="0" y="0"/>
                  </a:moveTo>
                  <a:lnTo>
                    <a:pt x="2991795" y="0"/>
                  </a:lnTo>
                  <a:lnTo>
                    <a:pt x="2991795" y="1399627"/>
                  </a:lnTo>
                  <a:lnTo>
                    <a:pt x="0" y="139962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>
                <a:extLst>
                  <a:ext uri="{96DAC541-7B7A-43D3-8B79-37D633B846F1}">
                    <asvg:svgBlip xmlns:asvg="http://schemas.microsoft.com/office/drawing/2016/SVG/main" r:embed="rId4"/>
                  </a:ext>
                </a:extLst>
              </a:blip>
              <a:stretch>
                <a:fillRect/>
              </a:stretch>
            </a:blipFill>
          </p:spPr>
          <p:txBody>
            <a:bodyPr/>
            <a:lstStyle/>
            <a:p>
              <a:endParaRPr lang="en-US"/>
            </a:p>
          </p:txBody>
        </p:sp>
        <p:grpSp>
          <p:nvGrpSpPr>
            <p:cNvPr id="6" name="Group 6"/>
            <p:cNvGrpSpPr/>
            <p:nvPr/>
          </p:nvGrpSpPr>
          <p:grpSpPr>
            <a:xfrm>
              <a:off x="16667" y="86762"/>
              <a:ext cx="1226104" cy="1226104"/>
              <a:chOff x="0" y="0"/>
              <a:chExt cx="812800" cy="812800"/>
            </a:xfrm>
          </p:grpSpPr>
          <p:sp>
            <p:nvSpPr>
              <p:cNvPr id="7" name="Freeform 7"/>
              <p:cNvSpPr/>
              <p:nvPr/>
            </p:nvSpPr>
            <p:spPr>
              <a:xfrm>
                <a:off x="0" y="0"/>
                <a:ext cx="812800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 w="95250" cap="sq">
                <a:solidFill>
                  <a:srgbClr val="C3F1FC"/>
                </a:solidFill>
                <a:prstDash val="solid"/>
                <a:miter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8" name="TextBox 8"/>
              <p:cNvSpPr txBox="1"/>
              <p:nvPr/>
            </p:nvSpPr>
            <p:spPr>
              <a:xfrm>
                <a:off x="76200" y="38100"/>
                <a:ext cx="660400" cy="698500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239"/>
                  </a:lnSpc>
                </a:pPr>
                <a:endParaRPr/>
              </a:p>
            </p:txBody>
          </p:sp>
        </p:grpSp>
        <p:sp>
          <p:nvSpPr>
            <p:cNvPr id="9" name="TextBox 9"/>
            <p:cNvSpPr txBox="1"/>
            <p:nvPr/>
          </p:nvSpPr>
          <p:spPr>
            <a:xfrm>
              <a:off x="16667" y="468911"/>
              <a:ext cx="1226104" cy="423704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2664"/>
                </a:lnSpc>
              </a:pPr>
              <a:r>
                <a:rPr lang="en-US" sz="1903" b="1">
                  <a:solidFill>
                    <a:srgbClr val="A6DF18"/>
                  </a:solidFill>
                  <a:latin typeface="DM Sans Bold"/>
                  <a:ea typeface="DM Sans Bold"/>
                  <a:cs typeface="DM Sans Bold"/>
                  <a:sym typeface="DM Sans Bold"/>
                </a:rPr>
                <a:t>01</a:t>
              </a:r>
            </a:p>
          </p:txBody>
        </p:sp>
      </p:grpSp>
      <p:grpSp>
        <p:nvGrpSpPr>
          <p:cNvPr id="10" name="Group 10"/>
          <p:cNvGrpSpPr/>
          <p:nvPr/>
        </p:nvGrpSpPr>
        <p:grpSpPr>
          <a:xfrm>
            <a:off x="1665873" y="6691601"/>
            <a:ext cx="2295315" cy="1073798"/>
            <a:chOff x="0" y="0"/>
            <a:chExt cx="3060420" cy="1431731"/>
          </a:xfrm>
        </p:grpSpPr>
        <p:sp>
          <p:nvSpPr>
            <p:cNvPr id="11" name="Freeform 11"/>
            <p:cNvSpPr/>
            <p:nvPr/>
          </p:nvSpPr>
          <p:spPr>
            <a:xfrm>
              <a:off x="0" y="0"/>
              <a:ext cx="3060420" cy="1431731"/>
            </a:xfrm>
            <a:custGeom>
              <a:avLst/>
              <a:gdLst/>
              <a:ahLst/>
              <a:cxnLst/>
              <a:rect l="l" t="t" r="r" b="b"/>
              <a:pathLst>
                <a:path w="3060420" h="1431731">
                  <a:moveTo>
                    <a:pt x="0" y="0"/>
                  </a:moveTo>
                  <a:lnTo>
                    <a:pt x="3060420" y="0"/>
                  </a:lnTo>
                  <a:lnTo>
                    <a:pt x="3060420" y="1431731"/>
                  </a:lnTo>
                  <a:lnTo>
                    <a:pt x="0" y="143173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>
                <a:extLst>
                  <a:ext uri="{96DAC541-7B7A-43D3-8B79-37D633B846F1}">
                    <asvg:svgBlip xmlns:asvg="http://schemas.microsoft.com/office/drawing/2016/SVG/main" r:embed="rId5"/>
                  </a:ext>
                </a:extLst>
              </a:blip>
              <a:stretch>
                <a:fillRect/>
              </a:stretch>
            </a:blipFill>
          </p:spPr>
          <p:txBody>
            <a:bodyPr/>
            <a:lstStyle/>
            <a:p>
              <a:endParaRPr lang="en-US"/>
            </a:p>
          </p:txBody>
        </p:sp>
        <p:grpSp>
          <p:nvGrpSpPr>
            <p:cNvPr id="12" name="Group 12"/>
            <p:cNvGrpSpPr/>
            <p:nvPr/>
          </p:nvGrpSpPr>
          <p:grpSpPr>
            <a:xfrm>
              <a:off x="0" y="35288"/>
              <a:ext cx="1254228" cy="1254228"/>
              <a:chOff x="0" y="0"/>
              <a:chExt cx="812800" cy="812800"/>
            </a:xfrm>
          </p:grpSpPr>
          <p:sp>
            <p:nvSpPr>
              <p:cNvPr id="13" name="Freeform 13"/>
              <p:cNvSpPr/>
              <p:nvPr/>
            </p:nvSpPr>
            <p:spPr>
              <a:xfrm>
                <a:off x="0" y="0"/>
                <a:ext cx="812800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 w="95250" cap="sq">
                <a:solidFill>
                  <a:srgbClr val="90B7E7"/>
                </a:solidFill>
                <a:prstDash val="solid"/>
                <a:miter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4" name="TextBox 14"/>
              <p:cNvSpPr txBox="1"/>
              <p:nvPr/>
            </p:nvSpPr>
            <p:spPr>
              <a:xfrm>
                <a:off x="76200" y="38100"/>
                <a:ext cx="660400" cy="698500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240"/>
                  </a:lnSpc>
                </a:pPr>
                <a:endParaRPr/>
              </a:p>
            </p:txBody>
          </p:sp>
        </p:grpSp>
        <p:sp>
          <p:nvSpPr>
            <p:cNvPr id="15" name="TextBox 15"/>
            <p:cNvSpPr txBox="1"/>
            <p:nvPr/>
          </p:nvSpPr>
          <p:spPr>
            <a:xfrm>
              <a:off x="0" y="436602"/>
              <a:ext cx="1254228" cy="423024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2725"/>
                </a:lnSpc>
              </a:pPr>
              <a:r>
                <a:rPr lang="en-US" sz="1946" b="1">
                  <a:solidFill>
                    <a:srgbClr val="00CC91"/>
                  </a:solidFill>
                  <a:latin typeface="DM Sans Bold"/>
                  <a:ea typeface="DM Sans Bold"/>
                  <a:cs typeface="DM Sans Bold"/>
                  <a:sym typeface="DM Sans Bold"/>
                </a:rPr>
                <a:t>02</a:t>
              </a:r>
            </a:p>
          </p:txBody>
        </p:sp>
      </p:grpSp>
      <p:grpSp>
        <p:nvGrpSpPr>
          <p:cNvPr id="16" name="Group 16"/>
          <p:cNvGrpSpPr/>
          <p:nvPr/>
        </p:nvGrpSpPr>
        <p:grpSpPr>
          <a:xfrm>
            <a:off x="2610773" y="5142681"/>
            <a:ext cx="2310654" cy="1080974"/>
            <a:chOff x="0" y="0"/>
            <a:chExt cx="3080872" cy="1441299"/>
          </a:xfrm>
        </p:grpSpPr>
        <p:sp>
          <p:nvSpPr>
            <p:cNvPr id="17" name="Freeform 17"/>
            <p:cNvSpPr/>
            <p:nvPr/>
          </p:nvSpPr>
          <p:spPr>
            <a:xfrm>
              <a:off x="0" y="0"/>
              <a:ext cx="3080872" cy="1441299"/>
            </a:xfrm>
            <a:custGeom>
              <a:avLst/>
              <a:gdLst/>
              <a:ahLst/>
              <a:cxnLst/>
              <a:rect l="l" t="t" r="r" b="b"/>
              <a:pathLst>
                <a:path w="3080872" h="1441299">
                  <a:moveTo>
                    <a:pt x="0" y="0"/>
                  </a:moveTo>
                  <a:lnTo>
                    <a:pt x="3080872" y="0"/>
                  </a:lnTo>
                  <a:lnTo>
                    <a:pt x="3080872" y="1441299"/>
                  </a:lnTo>
                  <a:lnTo>
                    <a:pt x="0" y="144129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>
                <a:extLst>
                  <a:ext uri="{96DAC541-7B7A-43D3-8B79-37D633B846F1}">
                    <asvg:svgBlip xmlns:asvg="http://schemas.microsoft.com/office/drawing/2016/SVG/main" r:embed="rId6"/>
                  </a:ext>
                </a:extLst>
              </a:blip>
              <a:stretch>
                <a:fillRect/>
              </a:stretch>
            </a:blipFill>
          </p:spPr>
          <p:txBody>
            <a:bodyPr/>
            <a:lstStyle/>
            <a:p>
              <a:endParaRPr lang="en-US"/>
            </a:p>
          </p:txBody>
        </p:sp>
        <p:grpSp>
          <p:nvGrpSpPr>
            <p:cNvPr id="18" name="Group 18"/>
            <p:cNvGrpSpPr/>
            <p:nvPr/>
          </p:nvGrpSpPr>
          <p:grpSpPr>
            <a:xfrm>
              <a:off x="0" y="89345"/>
              <a:ext cx="1262609" cy="1262609"/>
              <a:chOff x="0" y="0"/>
              <a:chExt cx="812800" cy="812800"/>
            </a:xfrm>
          </p:grpSpPr>
          <p:sp>
            <p:nvSpPr>
              <p:cNvPr id="19" name="Freeform 19"/>
              <p:cNvSpPr/>
              <p:nvPr/>
            </p:nvSpPr>
            <p:spPr>
              <a:xfrm>
                <a:off x="0" y="0"/>
                <a:ext cx="812800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 w="95250" cap="sq">
                <a:solidFill>
                  <a:srgbClr val="6AA2E5"/>
                </a:solidFill>
                <a:prstDash val="solid"/>
                <a:miter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0" name="TextBox 20"/>
              <p:cNvSpPr txBox="1"/>
              <p:nvPr/>
            </p:nvSpPr>
            <p:spPr>
              <a:xfrm>
                <a:off x="76200" y="38100"/>
                <a:ext cx="660400" cy="698500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240"/>
                  </a:lnSpc>
                </a:pPr>
                <a:endParaRPr/>
              </a:p>
            </p:txBody>
          </p:sp>
        </p:grpSp>
        <p:sp>
          <p:nvSpPr>
            <p:cNvPr id="21" name="TextBox 21"/>
            <p:cNvSpPr txBox="1"/>
            <p:nvPr/>
          </p:nvSpPr>
          <p:spPr>
            <a:xfrm>
              <a:off x="0" y="493532"/>
              <a:ext cx="1262609" cy="425660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2743"/>
                </a:lnSpc>
              </a:pPr>
              <a:r>
                <a:rPr lang="en-US" sz="1959" b="1">
                  <a:solidFill>
                    <a:srgbClr val="00A7BF"/>
                  </a:solidFill>
                  <a:latin typeface="DM Sans Bold"/>
                  <a:ea typeface="DM Sans Bold"/>
                  <a:cs typeface="DM Sans Bold"/>
                  <a:sym typeface="DM Sans Bold"/>
                </a:rPr>
                <a:t>03</a:t>
              </a:r>
            </a:p>
          </p:txBody>
        </p:sp>
      </p:grpSp>
      <p:grpSp>
        <p:nvGrpSpPr>
          <p:cNvPr id="22" name="Group 22"/>
          <p:cNvGrpSpPr/>
          <p:nvPr/>
        </p:nvGrpSpPr>
        <p:grpSpPr>
          <a:xfrm>
            <a:off x="3758430" y="3741473"/>
            <a:ext cx="2279808" cy="1066544"/>
            <a:chOff x="0" y="0"/>
            <a:chExt cx="3039744" cy="1422058"/>
          </a:xfrm>
        </p:grpSpPr>
        <p:sp>
          <p:nvSpPr>
            <p:cNvPr id="23" name="Freeform 23"/>
            <p:cNvSpPr/>
            <p:nvPr/>
          </p:nvSpPr>
          <p:spPr>
            <a:xfrm>
              <a:off x="0" y="0"/>
              <a:ext cx="3039744" cy="1422058"/>
            </a:xfrm>
            <a:custGeom>
              <a:avLst/>
              <a:gdLst/>
              <a:ahLst/>
              <a:cxnLst/>
              <a:rect l="l" t="t" r="r" b="b"/>
              <a:pathLst>
                <a:path w="3039744" h="1422058">
                  <a:moveTo>
                    <a:pt x="0" y="0"/>
                  </a:moveTo>
                  <a:lnTo>
                    <a:pt x="3039744" y="0"/>
                  </a:lnTo>
                  <a:lnTo>
                    <a:pt x="3039744" y="1422058"/>
                  </a:lnTo>
                  <a:lnTo>
                    <a:pt x="0" y="142205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>
                <a:extLst>
                  <a:ext uri="{96DAC541-7B7A-43D3-8B79-37D633B846F1}">
                    <asvg:svgBlip xmlns:asvg="http://schemas.microsoft.com/office/drawing/2016/SVG/main" r:embed="rId7"/>
                  </a:ext>
                </a:extLst>
              </a:blip>
              <a:stretch>
                <a:fillRect/>
              </a:stretch>
            </a:blipFill>
          </p:spPr>
          <p:txBody>
            <a:bodyPr/>
            <a:lstStyle/>
            <a:p>
              <a:endParaRPr lang="en-US"/>
            </a:p>
          </p:txBody>
        </p:sp>
        <p:grpSp>
          <p:nvGrpSpPr>
            <p:cNvPr id="24" name="Group 24"/>
            <p:cNvGrpSpPr/>
            <p:nvPr/>
          </p:nvGrpSpPr>
          <p:grpSpPr>
            <a:xfrm>
              <a:off x="0" y="88083"/>
              <a:ext cx="1244774" cy="1244774"/>
              <a:chOff x="0" y="0"/>
              <a:chExt cx="812800" cy="812800"/>
            </a:xfrm>
          </p:grpSpPr>
          <p:sp>
            <p:nvSpPr>
              <p:cNvPr id="25" name="Freeform 25"/>
              <p:cNvSpPr/>
              <p:nvPr/>
            </p:nvSpPr>
            <p:spPr>
              <a:xfrm>
                <a:off x="0" y="0"/>
                <a:ext cx="812800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 w="95250" cap="sq">
                <a:solidFill>
                  <a:srgbClr val="0085E0"/>
                </a:solidFill>
                <a:prstDash val="solid"/>
                <a:miter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6" name="TextBox 26"/>
              <p:cNvSpPr txBox="1"/>
              <p:nvPr/>
            </p:nvSpPr>
            <p:spPr>
              <a:xfrm>
                <a:off x="76200" y="38100"/>
                <a:ext cx="660400" cy="698500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240"/>
                  </a:lnSpc>
                </a:pPr>
                <a:endParaRPr/>
              </a:p>
            </p:txBody>
          </p:sp>
        </p:grpSp>
        <p:sp>
          <p:nvSpPr>
            <p:cNvPr id="27" name="TextBox 27"/>
            <p:cNvSpPr txBox="1"/>
            <p:nvPr/>
          </p:nvSpPr>
          <p:spPr>
            <a:xfrm>
              <a:off x="0" y="476632"/>
              <a:ext cx="1244774" cy="429576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2704"/>
                </a:lnSpc>
              </a:pPr>
              <a:r>
                <a:rPr lang="en-US" sz="1931" b="1">
                  <a:solidFill>
                    <a:srgbClr val="0085E0"/>
                  </a:solidFill>
                  <a:latin typeface="DM Sans Bold"/>
                  <a:ea typeface="DM Sans Bold"/>
                  <a:cs typeface="DM Sans Bold"/>
                  <a:sym typeface="DM Sans Bold"/>
                </a:rPr>
                <a:t>04</a:t>
              </a:r>
            </a:p>
          </p:txBody>
        </p:sp>
      </p:grpSp>
      <p:grpSp>
        <p:nvGrpSpPr>
          <p:cNvPr id="28" name="Group 28"/>
          <p:cNvGrpSpPr/>
          <p:nvPr/>
        </p:nvGrpSpPr>
        <p:grpSpPr>
          <a:xfrm>
            <a:off x="4681365" y="2269218"/>
            <a:ext cx="2281602" cy="1067383"/>
            <a:chOff x="0" y="0"/>
            <a:chExt cx="3042136" cy="1423178"/>
          </a:xfrm>
        </p:grpSpPr>
        <p:sp>
          <p:nvSpPr>
            <p:cNvPr id="29" name="Freeform 29"/>
            <p:cNvSpPr/>
            <p:nvPr/>
          </p:nvSpPr>
          <p:spPr>
            <a:xfrm>
              <a:off x="0" y="0"/>
              <a:ext cx="3042136" cy="1423178"/>
            </a:xfrm>
            <a:custGeom>
              <a:avLst/>
              <a:gdLst/>
              <a:ahLst/>
              <a:cxnLst/>
              <a:rect l="l" t="t" r="r" b="b"/>
              <a:pathLst>
                <a:path w="3042136" h="1423178">
                  <a:moveTo>
                    <a:pt x="0" y="0"/>
                  </a:moveTo>
                  <a:lnTo>
                    <a:pt x="3042136" y="0"/>
                  </a:lnTo>
                  <a:lnTo>
                    <a:pt x="3042136" y="1423178"/>
                  </a:lnTo>
                  <a:lnTo>
                    <a:pt x="0" y="142317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>
                <a:extLst>
                  <a:ext uri="{96DAC541-7B7A-43D3-8B79-37D633B846F1}">
                    <asvg:svgBlip xmlns:asvg="http://schemas.microsoft.com/office/drawing/2016/SVG/main" r:embed="rId8"/>
                  </a:ext>
                </a:extLst>
              </a:blip>
              <a:stretch>
                <a:fillRect/>
              </a:stretch>
            </a:blipFill>
          </p:spPr>
          <p:txBody>
            <a:bodyPr/>
            <a:lstStyle/>
            <a:p>
              <a:endParaRPr lang="en-US"/>
            </a:p>
          </p:txBody>
        </p:sp>
        <p:grpSp>
          <p:nvGrpSpPr>
            <p:cNvPr id="30" name="Group 30"/>
            <p:cNvGrpSpPr/>
            <p:nvPr/>
          </p:nvGrpSpPr>
          <p:grpSpPr>
            <a:xfrm>
              <a:off x="0" y="88222"/>
              <a:ext cx="1246734" cy="1246734"/>
              <a:chOff x="0" y="0"/>
              <a:chExt cx="812800" cy="812800"/>
            </a:xfrm>
          </p:grpSpPr>
          <p:sp>
            <p:nvSpPr>
              <p:cNvPr id="31" name="Freeform 31"/>
              <p:cNvSpPr/>
              <p:nvPr/>
            </p:nvSpPr>
            <p:spPr>
              <a:xfrm>
                <a:off x="0" y="0"/>
                <a:ext cx="812800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 w="95250" cap="sq">
                <a:solidFill>
                  <a:srgbClr val="5D65DA"/>
                </a:solidFill>
                <a:prstDash val="solid"/>
                <a:miter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2" name="TextBox 32"/>
              <p:cNvSpPr txBox="1"/>
              <p:nvPr/>
            </p:nvSpPr>
            <p:spPr>
              <a:xfrm>
                <a:off x="76200" y="38100"/>
                <a:ext cx="660400" cy="698500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240"/>
                  </a:lnSpc>
                </a:pPr>
                <a:endParaRPr/>
              </a:p>
            </p:txBody>
          </p:sp>
        </p:grpSp>
        <p:sp>
          <p:nvSpPr>
            <p:cNvPr id="33" name="TextBox 33"/>
            <p:cNvSpPr txBox="1"/>
            <p:nvPr/>
          </p:nvSpPr>
          <p:spPr>
            <a:xfrm>
              <a:off x="0" y="477443"/>
              <a:ext cx="1246734" cy="430192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2709"/>
                </a:lnSpc>
              </a:pPr>
              <a:r>
                <a:rPr lang="en-US" sz="1935" b="1">
                  <a:solidFill>
                    <a:srgbClr val="5D65DA"/>
                  </a:solidFill>
                  <a:latin typeface="DM Sans Bold"/>
                  <a:ea typeface="DM Sans Bold"/>
                  <a:cs typeface="DM Sans Bold"/>
                  <a:sym typeface="DM Sans Bold"/>
                </a:rPr>
                <a:t>05</a:t>
              </a:r>
            </a:p>
          </p:txBody>
        </p:sp>
      </p:grpSp>
      <p:pic>
        <p:nvPicPr>
          <p:cNvPr id="34" name="Picture 34"/>
          <p:cNvPicPr>
            <a:picLocks noChangeAspect="1"/>
          </p:cNvPicPr>
          <p:nvPr/>
        </p:nvPicPr>
        <p:blipFill>
          <a:blip r:embed="rId9"/>
          <a:srcRect/>
          <a:stretch>
            <a:fillRect/>
          </a:stretch>
        </p:blipFill>
        <p:spPr>
          <a:xfrm rot="-1012518">
            <a:off x="10271978" y="7995393"/>
            <a:ext cx="2283654" cy="719351"/>
          </a:xfrm>
          <a:prstGeom prst="rect">
            <a:avLst/>
          </a:prstGeom>
        </p:spPr>
      </p:pic>
      <p:sp>
        <p:nvSpPr>
          <p:cNvPr id="35" name="TextBox 35"/>
          <p:cNvSpPr txBox="1"/>
          <p:nvPr/>
        </p:nvSpPr>
        <p:spPr>
          <a:xfrm>
            <a:off x="-360533" y="2471821"/>
            <a:ext cx="4783495" cy="71932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5406"/>
              </a:lnSpc>
              <a:spcBef>
                <a:spcPct val="0"/>
              </a:spcBef>
            </a:pPr>
            <a:r>
              <a:rPr lang="en-US" sz="5100">
                <a:solidFill>
                  <a:srgbClr val="4288DD"/>
                </a:solidFill>
                <a:latin typeface="Josefin Sans"/>
                <a:ea typeface="Josefin Sans"/>
                <a:cs typeface="Josefin Sans"/>
                <a:sym typeface="Josefin Sans"/>
              </a:rPr>
              <a:t>Quy trình: </a:t>
            </a:r>
          </a:p>
        </p:txBody>
      </p:sp>
      <p:sp>
        <p:nvSpPr>
          <p:cNvPr id="36" name="TextBox 36"/>
          <p:cNvSpPr txBox="1"/>
          <p:nvPr/>
        </p:nvSpPr>
        <p:spPr>
          <a:xfrm>
            <a:off x="7540645" y="2507797"/>
            <a:ext cx="4771493" cy="63246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039"/>
              </a:lnSpc>
            </a:pPr>
            <a:r>
              <a:rPr lang="en-US" sz="3599">
                <a:solidFill>
                  <a:srgbClr val="000000"/>
                </a:solidFill>
                <a:latin typeface="Josefin Sans"/>
                <a:ea typeface="Josefin Sans"/>
                <a:cs typeface="Josefin Sans"/>
                <a:sym typeface="Josefin Sans"/>
              </a:rPr>
              <a:t>Đánh giá bằng RMSE</a:t>
            </a:r>
          </a:p>
        </p:txBody>
      </p:sp>
      <p:sp>
        <p:nvSpPr>
          <p:cNvPr id="37" name="TextBox 37"/>
          <p:cNvSpPr txBox="1"/>
          <p:nvPr/>
        </p:nvSpPr>
        <p:spPr>
          <a:xfrm>
            <a:off x="6733203" y="3915653"/>
            <a:ext cx="3908734" cy="63246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039"/>
              </a:lnSpc>
            </a:pPr>
            <a:r>
              <a:rPr lang="en-US" sz="3599">
                <a:solidFill>
                  <a:srgbClr val="000000"/>
                </a:solidFill>
                <a:latin typeface="Josefin Sans"/>
                <a:ea typeface="Josefin Sans"/>
                <a:cs typeface="Josefin Sans"/>
                <a:sym typeface="Josefin Sans"/>
              </a:rPr>
              <a:t>Dự báo (forecast)</a:t>
            </a:r>
          </a:p>
        </p:txBody>
      </p:sp>
      <p:sp>
        <p:nvSpPr>
          <p:cNvPr id="38" name="TextBox 38"/>
          <p:cNvSpPr txBox="1"/>
          <p:nvPr/>
        </p:nvSpPr>
        <p:spPr>
          <a:xfrm>
            <a:off x="3095145" y="8493506"/>
            <a:ext cx="7735645" cy="63246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039"/>
              </a:lnSpc>
            </a:pPr>
            <a:r>
              <a:rPr lang="en-US" sz="3599">
                <a:solidFill>
                  <a:srgbClr val="000000"/>
                </a:solidFill>
                <a:latin typeface="Josefin Sans"/>
                <a:ea typeface="Josefin Sans"/>
                <a:cs typeface="Josefin Sans"/>
                <a:sym typeface="Josefin Sans"/>
              </a:rPr>
              <a:t>Đọc và xử lý dữ liệu (missing values)</a:t>
            </a:r>
          </a:p>
        </p:txBody>
      </p:sp>
      <p:sp>
        <p:nvSpPr>
          <p:cNvPr id="39" name="TextBox 39"/>
          <p:cNvSpPr txBox="1"/>
          <p:nvPr/>
        </p:nvSpPr>
        <p:spPr>
          <a:xfrm>
            <a:off x="4477065" y="6869407"/>
            <a:ext cx="10322342" cy="63246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039"/>
              </a:lnSpc>
            </a:pPr>
            <a:r>
              <a:rPr lang="en-US" sz="3599">
                <a:solidFill>
                  <a:srgbClr val="000000"/>
                </a:solidFill>
                <a:latin typeface="Josefin Sans"/>
                <a:ea typeface="Josefin Sans"/>
                <a:cs typeface="Josefin Sans"/>
                <a:sym typeface="Josefin Sans"/>
              </a:rPr>
              <a:t>Kiểm tra tính dừng (stationarity / cointegration)</a:t>
            </a:r>
          </a:p>
        </p:txBody>
      </p:sp>
      <p:sp>
        <p:nvSpPr>
          <p:cNvPr id="40" name="TextBox 40"/>
          <p:cNvSpPr txBox="1"/>
          <p:nvPr/>
        </p:nvSpPr>
        <p:spPr>
          <a:xfrm>
            <a:off x="5257945" y="5322367"/>
            <a:ext cx="5383992" cy="63246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5039"/>
              </a:lnSpc>
              <a:spcBef>
                <a:spcPct val="0"/>
              </a:spcBef>
            </a:pPr>
            <a:r>
              <a:rPr lang="en-US" sz="3599">
                <a:solidFill>
                  <a:srgbClr val="000000"/>
                </a:solidFill>
                <a:latin typeface="Josefin Sans"/>
                <a:ea typeface="Josefin Sans"/>
                <a:cs typeface="Josefin Sans"/>
                <a:sym typeface="Josefin Sans"/>
              </a:rPr>
              <a:t>Huấn luyện mô hình VAR</a:t>
            </a:r>
          </a:p>
        </p:txBody>
      </p:sp>
      <p:sp>
        <p:nvSpPr>
          <p:cNvPr id="41" name="TextBox 41"/>
          <p:cNvSpPr txBox="1"/>
          <p:nvPr/>
        </p:nvSpPr>
        <p:spPr>
          <a:xfrm>
            <a:off x="1715413" y="406163"/>
            <a:ext cx="14857174" cy="82740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5334"/>
              </a:lnSpc>
            </a:pPr>
            <a:r>
              <a:rPr lang="en-US" sz="5499">
                <a:solidFill>
                  <a:srgbClr val="090147"/>
                </a:solidFill>
                <a:latin typeface="Bungee"/>
                <a:ea typeface="Bungee"/>
                <a:cs typeface="Bungee"/>
                <a:sym typeface="Bungee"/>
              </a:rPr>
              <a:t>RECIPE 3-7: VAR MODEL</a:t>
            </a:r>
          </a:p>
        </p:txBody>
      </p:sp>
      <p:sp>
        <p:nvSpPr>
          <p:cNvPr id="42" name="TextBox 42"/>
          <p:cNvSpPr txBox="1"/>
          <p:nvPr/>
        </p:nvSpPr>
        <p:spPr>
          <a:xfrm>
            <a:off x="12610874" y="7722608"/>
            <a:ext cx="5086462" cy="63246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039"/>
              </a:lnSpc>
            </a:pPr>
            <a:r>
              <a:rPr lang="en-US" sz="3599">
                <a:solidFill>
                  <a:srgbClr val="000000"/>
                </a:solidFill>
                <a:latin typeface="Josefin Sans"/>
                <a:ea typeface="Josefin Sans"/>
                <a:cs typeface="Josefin Sans"/>
                <a:sym typeface="Josefin Sans"/>
              </a:rPr>
              <a:t>Đặt thời gian làm index 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EF6F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-2031215" y="-1447165"/>
            <a:ext cx="4062430" cy="4114800"/>
          </a:xfrm>
          <a:custGeom>
            <a:avLst/>
            <a:gdLst/>
            <a:ahLst/>
            <a:cxnLst/>
            <a:rect l="l" t="t" r="r" b="b"/>
            <a:pathLst>
              <a:path w="4062430" h="4114800">
                <a:moveTo>
                  <a:pt x="0" y="0"/>
                </a:moveTo>
                <a:lnTo>
                  <a:pt x="4062430" y="0"/>
                </a:lnTo>
                <a:lnTo>
                  <a:pt x="4062430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3" name="Freeform 3"/>
          <p:cNvSpPr/>
          <p:nvPr/>
        </p:nvSpPr>
        <p:spPr>
          <a:xfrm flipH="1" flipV="1">
            <a:off x="15018850" y="-167464"/>
            <a:ext cx="7147278" cy="3993541"/>
          </a:xfrm>
          <a:custGeom>
            <a:avLst/>
            <a:gdLst/>
            <a:ahLst/>
            <a:cxnLst/>
            <a:rect l="l" t="t" r="r" b="b"/>
            <a:pathLst>
              <a:path w="7147278" h="3993541">
                <a:moveTo>
                  <a:pt x="7147277" y="3993541"/>
                </a:moveTo>
                <a:lnTo>
                  <a:pt x="0" y="3993541"/>
                </a:lnTo>
                <a:lnTo>
                  <a:pt x="0" y="0"/>
                </a:lnTo>
                <a:lnTo>
                  <a:pt x="7147277" y="0"/>
                </a:lnTo>
                <a:lnTo>
                  <a:pt x="7147277" y="3993541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4" name="TextBox 4"/>
          <p:cNvSpPr txBox="1"/>
          <p:nvPr/>
        </p:nvSpPr>
        <p:spPr>
          <a:xfrm>
            <a:off x="1715413" y="406163"/>
            <a:ext cx="14857174" cy="82740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5334"/>
              </a:lnSpc>
            </a:pPr>
            <a:r>
              <a:rPr lang="en-US" sz="5499">
                <a:solidFill>
                  <a:srgbClr val="090147"/>
                </a:solidFill>
                <a:latin typeface="Bungee"/>
                <a:ea typeface="Bungee"/>
                <a:cs typeface="Bungee"/>
                <a:sym typeface="Bungee"/>
              </a:rPr>
              <a:t>RECIPE 3-7: VAR MODEL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4776184" y="2711652"/>
            <a:ext cx="8735632" cy="11144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200"/>
              </a:lnSpc>
              <a:spcBef>
                <a:spcPct val="0"/>
              </a:spcBef>
            </a:pPr>
            <a:r>
              <a:rPr lang="en-US" sz="3000">
                <a:solidFill>
                  <a:srgbClr val="090147"/>
                </a:solidFill>
                <a:latin typeface="Consolas"/>
                <a:ea typeface="Consolas"/>
                <a:cs typeface="Consolas"/>
                <a:sym typeface="Consolas"/>
              </a:rPr>
              <a:t>test = var_data1.drop(['CO(GT)'], axis=1)</a:t>
            </a:r>
          </a:p>
          <a:p>
            <a:pPr algn="l">
              <a:lnSpc>
                <a:spcPts val="4200"/>
              </a:lnSpc>
              <a:spcBef>
                <a:spcPct val="0"/>
              </a:spcBef>
            </a:pPr>
            <a:r>
              <a:rPr lang="en-US" sz="3000">
                <a:solidFill>
                  <a:srgbClr val="090147"/>
                </a:solidFill>
                <a:latin typeface="Consolas"/>
                <a:ea typeface="Consolas"/>
                <a:cs typeface="Consolas"/>
                <a:sym typeface="Consolas"/>
              </a:rPr>
              <a:t>coint_johansen(test,-1,1).eig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2886497" y="1748945"/>
            <a:ext cx="12266073" cy="71932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5406"/>
              </a:lnSpc>
              <a:spcBef>
                <a:spcPct val="0"/>
              </a:spcBef>
            </a:pPr>
            <a:r>
              <a:rPr lang="en-US" sz="5100">
                <a:solidFill>
                  <a:srgbClr val="4288DD"/>
                </a:solidFill>
                <a:latin typeface="Josefin Sans"/>
                <a:ea typeface="Josefin Sans"/>
                <a:cs typeface="Josefin Sans"/>
                <a:sym typeface="Josefin Sans"/>
              </a:rPr>
              <a:t>Kiểm định Johansen – Cointegration Test</a:t>
            </a:r>
          </a:p>
        </p:txBody>
      </p:sp>
      <p:grpSp>
        <p:nvGrpSpPr>
          <p:cNvPr id="7" name="Group 7"/>
          <p:cNvGrpSpPr/>
          <p:nvPr/>
        </p:nvGrpSpPr>
        <p:grpSpPr>
          <a:xfrm>
            <a:off x="1028700" y="4608689"/>
            <a:ext cx="4825108" cy="4649611"/>
            <a:chOff x="0" y="0"/>
            <a:chExt cx="6433477" cy="6199481"/>
          </a:xfrm>
        </p:grpSpPr>
        <p:grpSp>
          <p:nvGrpSpPr>
            <p:cNvPr id="8" name="Group 8"/>
            <p:cNvGrpSpPr/>
            <p:nvPr/>
          </p:nvGrpSpPr>
          <p:grpSpPr>
            <a:xfrm>
              <a:off x="233996" y="0"/>
              <a:ext cx="6199481" cy="6199481"/>
              <a:chOff x="0" y="0"/>
              <a:chExt cx="812800" cy="812800"/>
            </a:xfrm>
          </p:grpSpPr>
          <p:sp>
            <p:nvSpPr>
              <p:cNvPr id="9" name="Freeform 9"/>
              <p:cNvSpPr/>
              <p:nvPr/>
            </p:nvSpPr>
            <p:spPr>
              <a:xfrm>
                <a:off x="6897" y="6897"/>
                <a:ext cx="799006" cy="799006"/>
              </a:xfrm>
              <a:custGeom>
                <a:avLst/>
                <a:gdLst/>
                <a:ahLst/>
                <a:cxnLst/>
                <a:rect l="l" t="t" r="r" b="b"/>
                <a:pathLst>
                  <a:path w="799006" h="799006">
                    <a:moveTo>
                      <a:pt x="411277" y="4877"/>
                    </a:moveTo>
                    <a:lnTo>
                      <a:pt x="794129" y="387729"/>
                    </a:lnTo>
                    <a:cubicBezTo>
                      <a:pt x="797252" y="390852"/>
                      <a:pt x="799006" y="395087"/>
                      <a:pt x="799006" y="399503"/>
                    </a:cubicBezTo>
                    <a:cubicBezTo>
                      <a:pt x="799006" y="403919"/>
                      <a:pt x="797252" y="408154"/>
                      <a:pt x="794129" y="411277"/>
                    </a:cubicBezTo>
                    <a:lnTo>
                      <a:pt x="411277" y="794129"/>
                    </a:lnTo>
                    <a:cubicBezTo>
                      <a:pt x="408154" y="797252"/>
                      <a:pt x="403919" y="799006"/>
                      <a:pt x="399503" y="799006"/>
                    </a:cubicBezTo>
                    <a:cubicBezTo>
                      <a:pt x="395087" y="799006"/>
                      <a:pt x="390852" y="797252"/>
                      <a:pt x="387729" y="794129"/>
                    </a:cubicBezTo>
                    <a:lnTo>
                      <a:pt x="4877" y="411277"/>
                    </a:lnTo>
                    <a:cubicBezTo>
                      <a:pt x="1754" y="408154"/>
                      <a:pt x="0" y="403919"/>
                      <a:pt x="0" y="399503"/>
                    </a:cubicBezTo>
                    <a:cubicBezTo>
                      <a:pt x="0" y="395087"/>
                      <a:pt x="1754" y="390852"/>
                      <a:pt x="4877" y="387729"/>
                    </a:cubicBezTo>
                    <a:lnTo>
                      <a:pt x="387729" y="4877"/>
                    </a:lnTo>
                    <a:cubicBezTo>
                      <a:pt x="390852" y="1754"/>
                      <a:pt x="395087" y="0"/>
                      <a:pt x="399503" y="0"/>
                    </a:cubicBezTo>
                    <a:cubicBezTo>
                      <a:pt x="403919" y="0"/>
                      <a:pt x="408154" y="1754"/>
                      <a:pt x="411277" y="4877"/>
                    </a:cubicBezTo>
                    <a:close/>
                  </a:path>
                </a:pathLst>
              </a:custGeom>
              <a:solidFill>
                <a:srgbClr val="FFFFFF"/>
              </a:solidFill>
              <a:ln w="133350" cap="sq">
                <a:solidFill>
                  <a:srgbClr val="143F87"/>
                </a:solidFill>
                <a:prstDash val="solid"/>
                <a:miter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0" name="TextBox 10"/>
              <p:cNvSpPr txBox="1"/>
              <p:nvPr/>
            </p:nvSpPr>
            <p:spPr>
              <a:xfrm>
                <a:off x="139700" y="82550"/>
                <a:ext cx="533400" cy="590550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659"/>
                  </a:lnSpc>
                </a:pPr>
                <a:endParaRPr/>
              </a:p>
            </p:txBody>
          </p:sp>
        </p:grpSp>
        <p:grpSp>
          <p:nvGrpSpPr>
            <p:cNvPr id="11" name="Group 11"/>
            <p:cNvGrpSpPr/>
            <p:nvPr/>
          </p:nvGrpSpPr>
          <p:grpSpPr>
            <a:xfrm>
              <a:off x="0" y="2254294"/>
              <a:ext cx="1690893" cy="1690893"/>
              <a:chOff x="0" y="0"/>
              <a:chExt cx="812800" cy="812800"/>
            </a:xfrm>
          </p:grpSpPr>
          <p:sp>
            <p:nvSpPr>
              <p:cNvPr id="12" name="Freeform 12"/>
              <p:cNvSpPr/>
              <p:nvPr/>
            </p:nvSpPr>
            <p:spPr>
              <a:xfrm>
                <a:off x="0" y="0"/>
                <a:ext cx="812800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143F87"/>
              </a:solidFill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3" name="TextBox 13"/>
              <p:cNvSpPr txBox="1"/>
              <p:nvPr/>
            </p:nvSpPr>
            <p:spPr>
              <a:xfrm>
                <a:off x="76200" y="19050"/>
                <a:ext cx="660400" cy="717550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659"/>
                  </a:lnSpc>
                </a:pPr>
                <a:endParaRPr/>
              </a:p>
            </p:txBody>
          </p:sp>
        </p:grpSp>
        <p:sp>
          <p:nvSpPr>
            <p:cNvPr id="14" name="Freeform 14"/>
            <p:cNvSpPr/>
            <p:nvPr/>
          </p:nvSpPr>
          <p:spPr>
            <a:xfrm>
              <a:off x="269247" y="2553821"/>
              <a:ext cx="1091838" cy="1091838"/>
            </a:xfrm>
            <a:custGeom>
              <a:avLst/>
              <a:gdLst/>
              <a:ahLst/>
              <a:cxnLst/>
              <a:rect l="l" t="t" r="r" b="b"/>
              <a:pathLst>
                <a:path w="1091838" h="1091838">
                  <a:moveTo>
                    <a:pt x="0" y="0"/>
                  </a:moveTo>
                  <a:lnTo>
                    <a:pt x="1091838" y="0"/>
                  </a:lnTo>
                  <a:lnTo>
                    <a:pt x="1091838" y="1091839"/>
                  </a:lnTo>
                  <a:lnTo>
                    <a:pt x="0" y="109183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>
                <a:extLst>
                  <a:ext uri="{96DAC541-7B7A-43D3-8B79-37D633B846F1}">
                    <asvg:svgBlip xmlns:asvg="http://schemas.microsoft.com/office/drawing/2016/SVG/main" r:embed="rId5"/>
                  </a:ext>
                </a:extLst>
              </a:blip>
              <a:stretch>
                <a:fillRect/>
              </a:stretch>
            </a:blipFill>
            <a:ln cap="sq">
              <a:noFill/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1812840" y="1621164"/>
              <a:ext cx="3339339" cy="3367406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5039"/>
                </a:lnSpc>
              </a:pPr>
              <a:r>
                <a:rPr lang="en-US" sz="3599">
                  <a:solidFill>
                    <a:srgbClr val="000000"/>
                  </a:solidFill>
                  <a:latin typeface="Josefin Sans"/>
                  <a:ea typeface="Josefin Sans"/>
                  <a:cs typeface="Josefin Sans"/>
                  <a:sym typeface="Josefin Sans"/>
                </a:rPr>
                <a:t>Phát hiện quan hệ dài hạn giữa biến</a:t>
              </a:r>
            </a:p>
          </p:txBody>
        </p:sp>
      </p:grpSp>
      <p:grpSp>
        <p:nvGrpSpPr>
          <p:cNvPr id="16" name="Group 16"/>
          <p:cNvGrpSpPr/>
          <p:nvPr/>
        </p:nvGrpSpPr>
        <p:grpSpPr>
          <a:xfrm>
            <a:off x="6603683" y="4608689"/>
            <a:ext cx="4831702" cy="4649611"/>
            <a:chOff x="0" y="0"/>
            <a:chExt cx="6442270" cy="6199481"/>
          </a:xfrm>
        </p:grpSpPr>
        <p:grpSp>
          <p:nvGrpSpPr>
            <p:cNvPr id="17" name="Group 17"/>
            <p:cNvGrpSpPr/>
            <p:nvPr/>
          </p:nvGrpSpPr>
          <p:grpSpPr>
            <a:xfrm>
              <a:off x="242789" y="0"/>
              <a:ext cx="6199481" cy="6199481"/>
              <a:chOff x="0" y="0"/>
              <a:chExt cx="812800" cy="812800"/>
            </a:xfrm>
          </p:grpSpPr>
          <p:sp>
            <p:nvSpPr>
              <p:cNvPr id="18" name="Freeform 18"/>
              <p:cNvSpPr/>
              <p:nvPr/>
            </p:nvSpPr>
            <p:spPr>
              <a:xfrm>
                <a:off x="6897" y="6897"/>
                <a:ext cx="799006" cy="799006"/>
              </a:xfrm>
              <a:custGeom>
                <a:avLst/>
                <a:gdLst/>
                <a:ahLst/>
                <a:cxnLst/>
                <a:rect l="l" t="t" r="r" b="b"/>
                <a:pathLst>
                  <a:path w="799006" h="799006">
                    <a:moveTo>
                      <a:pt x="411277" y="4877"/>
                    </a:moveTo>
                    <a:lnTo>
                      <a:pt x="794129" y="387729"/>
                    </a:lnTo>
                    <a:cubicBezTo>
                      <a:pt x="797252" y="390852"/>
                      <a:pt x="799006" y="395087"/>
                      <a:pt x="799006" y="399503"/>
                    </a:cubicBezTo>
                    <a:cubicBezTo>
                      <a:pt x="799006" y="403919"/>
                      <a:pt x="797252" y="408154"/>
                      <a:pt x="794129" y="411277"/>
                    </a:cubicBezTo>
                    <a:lnTo>
                      <a:pt x="411277" y="794129"/>
                    </a:lnTo>
                    <a:cubicBezTo>
                      <a:pt x="408154" y="797252"/>
                      <a:pt x="403919" y="799006"/>
                      <a:pt x="399503" y="799006"/>
                    </a:cubicBezTo>
                    <a:cubicBezTo>
                      <a:pt x="395087" y="799006"/>
                      <a:pt x="390852" y="797252"/>
                      <a:pt x="387729" y="794129"/>
                    </a:cubicBezTo>
                    <a:lnTo>
                      <a:pt x="4877" y="411277"/>
                    </a:lnTo>
                    <a:cubicBezTo>
                      <a:pt x="1754" y="408154"/>
                      <a:pt x="0" y="403919"/>
                      <a:pt x="0" y="399503"/>
                    </a:cubicBezTo>
                    <a:cubicBezTo>
                      <a:pt x="0" y="395087"/>
                      <a:pt x="1754" y="390852"/>
                      <a:pt x="4877" y="387729"/>
                    </a:cubicBezTo>
                    <a:lnTo>
                      <a:pt x="387729" y="4877"/>
                    </a:lnTo>
                    <a:cubicBezTo>
                      <a:pt x="390852" y="1754"/>
                      <a:pt x="395087" y="0"/>
                      <a:pt x="399503" y="0"/>
                    </a:cubicBezTo>
                    <a:cubicBezTo>
                      <a:pt x="403919" y="0"/>
                      <a:pt x="408154" y="1754"/>
                      <a:pt x="411277" y="4877"/>
                    </a:cubicBezTo>
                    <a:close/>
                  </a:path>
                </a:pathLst>
              </a:custGeom>
              <a:solidFill>
                <a:srgbClr val="FFFFFF"/>
              </a:solidFill>
              <a:ln w="133350" cap="sq">
                <a:solidFill>
                  <a:srgbClr val="1E88E5"/>
                </a:solidFill>
                <a:prstDash val="solid"/>
                <a:miter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9" name="TextBox 19"/>
              <p:cNvSpPr txBox="1"/>
              <p:nvPr/>
            </p:nvSpPr>
            <p:spPr>
              <a:xfrm>
                <a:off x="139700" y="82550"/>
                <a:ext cx="533400" cy="590550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659"/>
                  </a:lnSpc>
                </a:pPr>
                <a:endParaRPr/>
              </a:p>
            </p:txBody>
          </p:sp>
        </p:grpSp>
        <p:grpSp>
          <p:nvGrpSpPr>
            <p:cNvPr id="20" name="Group 20"/>
            <p:cNvGrpSpPr/>
            <p:nvPr/>
          </p:nvGrpSpPr>
          <p:grpSpPr>
            <a:xfrm>
              <a:off x="0" y="2308062"/>
              <a:ext cx="1690893" cy="1690893"/>
              <a:chOff x="0" y="0"/>
              <a:chExt cx="812800" cy="812800"/>
            </a:xfrm>
          </p:grpSpPr>
          <p:sp>
            <p:nvSpPr>
              <p:cNvPr id="21" name="Freeform 21"/>
              <p:cNvSpPr/>
              <p:nvPr/>
            </p:nvSpPr>
            <p:spPr>
              <a:xfrm>
                <a:off x="0" y="0"/>
                <a:ext cx="812800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1E88E5"/>
              </a:solidFill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2" name="TextBox 22"/>
              <p:cNvSpPr txBox="1"/>
              <p:nvPr/>
            </p:nvSpPr>
            <p:spPr>
              <a:xfrm>
                <a:off x="76200" y="19050"/>
                <a:ext cx="660400" cy="717550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659"/>
                  </a:lnSpc>
                </a:pPr>
                <a:endParaRPr/>
              </a:p>
            </p:txBody>
          </p:sp>
        </p:grpSp>
        <p:sp>
          <p:nvSpPr>
            <p:cNvPr id="23" name="Freeform 23"/>
            <p:cNvSpPr/>
            <p:nvPr/>
          </p:nvSpPr>
          <p:spPr>
            <a:xfrm>
              <a:off x="405180" y="2659474"/>
              <a:ext cx="880532" cy="880532"/>
            </a:xfrm>
            <a:custGeom>
              <a:avLst/>
              <a:gdLst/>
              <a:ahLst/>
              <a:cxnLst/>
              <a:rect l="l" t="t" r="r" b="b"/>
              <a:pathLst>
                <a:path w="880532" h="880532">
                  <a:moveTo>
                    <a:pt x="0" y="0"/>
                  </a:moveTo>
                  <a:lnTo>
                    <a:pt x="880533" y="0"/>
                  </a:lnTo>
                  <a:lnTo>
                    <a:pt x="880533" y="880533"/>
                  </a:lnTo>
                  <a:lnTo>
                    <a:pt x="0" y="88053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>
                <a:extLst>
                  <a:ext uri="{96DAC541-7B7A-43D3-8B79-37D633B846F1}">
                    <asvg:svgBlip xmlns:asvg="http://schemas.microsoft.com/office/drawing/2016/SVG/main" r:embed="rId6"/>
                  </a:ext>
                </a:extLst>
              </a:blip>
              <a:stretch>
                <a:fillRect/>
              </a:stretch>
            </a:blipFill>
            <a:ln cap="sq">
              <a:noFill/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1398324" y="2277843"/>
              <a:ext cx="4129938" cy="1665606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5039"/>
                </a:lnSpc>
              </a:pPr>
              <a:r>
                <a:rPr lang="en-US" sz="3599">
                  <a:solidFill>
                    <a:srgbClr val="000000"/>
                  </a:solidFill>
                  <a:latin typeface="Josefin Sans"/>
                  <a:ea typeface="Josefin Sans"/>
                  <a:cs typeface="Josefin Sans"/>
                  <a:sym typeface="Josefin Sans"/>
                </a:rPr>
                <a:t>Áp dụng cho đa biến</a:t>
              </a:r>
            </a:p>
          </p:txBody>
        </p:sp>
      </p:grpSp>
      <p:grpSp>
        <p:nvGrpSpPr>
          <p:cNvPr id="25" name="Group 25"/>
          <p:cNvGrpSpPr/>
          <p:nvPr/>
        </p:nvGrpSpPr>
        <p:grpSpPr>
          <a:xfrm>
            <a:off x="12187860" y="4608689"/>
            <a:ext cx="4834835" cy="4649611"/>
            <a:chOff x="0" y="0"/>
            <a:chExt cx="6446447" cy="6199481"/>
          </a:xfrm>
        </p:grpSpPr>
        <p:grpSp>
          <p:nvGrpSpPr>
            <p:cNvPr id="26" name="Group 26"/>
            <p:cNvGrpSpPr/>
            <p:nvPr/>
          </p:nvGrpSpPr>
          <p:grpSpPr>
            <a:xfrm>
              <a:off x="246966" y="0"/>
              <a:ext cx="6199481" cy="6199481"/>
              <a:chOff x="0" y="0"/>
              <a:chExt cx="812800" cy="812800"/>
            </a:xfrm>
          </p:grpSpPr>
          <p:sp>
            <p:nvSpPr>
              <p:cNvPr id="27" name="Freeform 27"/>
              <p:cNvSpPr/>
              <p:nvPr/>
            </p:nvSpPr>
            <p:spPr>
              <a:xfrm>
                <a:off x="6897" y="6897"/>
                <a:ext cx="799006" cy="799006"/>
              </a:xfrm>
              <a:custGeom>
                <a:avLst/>
                <a:gdLst/>
                <a:ahLst/>
                <a:cxnLst/>
                <a:rect l="l" t="t" r="r" b="b"/>
                <a:pathLst>
                  <a:path w="799006" h="799006">
                    <a:moveTo>
                      <a:pt x="411277" y="4877"/>
                    </a:moveTo>
                    <a:lnTo>
                      <a:pt x="794129" y="387729"/>
                    </a:lnTo>
                    <a:cubicBezTo>
                      <a:pt x="797252" y="390852"/>
                      <a:pt x="799006" y="395087"/>
                      <a:pt x="799006" y="399503"/>
                    </a:cubicBezTo>
                    <a:cubicBezTo>
                      <a:pt x="799006" y="403919"/>
                      <a:pt x="797252" y="408154"/>
                      <a:pt x="794129" y="411277"/>
                    </a:cubicBezTo>
                    <a:lnTo>
                      <a:pt x="411277" y="794129"/>
                    </a:lnTo>
                    <a:cubicBezTo>
                      <a:pt x="408154" y="797252"/>
                      <a:pt x="403919" y="799006"/>
                      <a:pt x="399503" y="799006"/>
                    </a:cubicBezTo>
                    <a:cubicBezTo>
                      <a:pt x="395087" y="799006"/>
                      <a:pt x="390852" y="797252"/>
                      <a:pt x="387729" y="794129"/>
                    </a:cubicBezTo>
                    <a:lnTo>
                      <a:pt x="4877" y="411277"/>
                    </a:lnTo>
                    <a:cubicBezTo>
                      <a:pt x="1754" y="408154"/>
                      <a:pt x="0" y="403919"/>
                      <a:pt x="0" y="399503"/>
                    </a:cubicBezTo>
                    <a:cubicBezTo>
                      <a:pt x="0" y="395087"/>
                      <a:pt x="1754" y="390852"/>
                      <a:pt x="4877" y="387729"/>
                    </a:cubicBezTo>
                    <a:lnTo>
                      <a:pt x="387729" y="4877"/>
                    </a:lnTo>
                    <a:cubicBezTo>
                      <a:pt x="390852" y="1754"/>
                      <a:pt x="395087" y="0"/>
                      <a:pt x="399503" y="0"/>
                    </a:cubicBezTo>
                    <a:cubicBezTo>
                      <a:pt x="403919" y="0"/>
                      <a:pt x="408154" y="1754"/>
                      <a:pt x="411277" y="4877"/>
                    </a:cubicBezTo>
                    <a:close/>
                  </a:path>
                </a:pathLst>
              </a:custGeom>
              <a:solidFill>
                <a:srgbClr val="FFFFFF"/>
              </a:solidFill>
              <a:ln w="133350" cap="sq">
                <a:solidFill>
                  <a:srgbClr val="91D7E8"/>
                </a:solidFill>
                <a:prstDash val="solid"/>
                <a:miter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8" name="TextBox 28"/>
              <p:cNvSpPr txBox="1"/>
              <p:nvPr/>
            </p:nvSpPr>
            <p:spPr>
              <a:xfrm>
                <a:off x="139700" y="82550"/>
                <a:ext cx="533400" cy="590550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659"/>
                  </a:lnSpc>
                </a:pPr>
                <a:endParaRPr/>
              </a:p>
            </p:txBody>
          </p:sp>
        </p:grpSp>
        <p:grpSp>
          <p:nvGrpSpPr>
            <p:cNvPr id="29" name="Group 29"/>
            <p:cNvGrpSpPr/>
            <p:nvPr/>
          </p:nvGrpSpPr>
          <p:grpSpPr>
            <a:xfrm>
              <a:off x="0" y="2254294"/>
              <a:ext cx="1690893" cy="1690893"/>
              <a:chOff x="0" y="0"/>
              <a:chExt cx="812800" cy="812800"/>
            </a:xfrm>
          </p:grpSpPr>
          <p:sp>
            <p:nvSpPr>
              <p:cNvPr id="30" name="Freeform 30"/>
              <p:cNvSpPr/>
              <p:nvPr/>
            </p:nvSpPr>
            <p:spPr>
              <a:xfrm>
                <a:off x="0" y="0"/>
                <a:ext cx="812800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91D7E8"/>
              </a:solidFill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1" name="TextBox 31"/>
              <p:cNvSpPr txBox="1"/>
              <p:nvPr/>
            </p:nvSpPr>
            <p:spPr>
              <a:xfrm>
                <a:off x="76200" y="19050"/>
                <a:ext cx="660400" cy="717550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659"/>
                  </a:lnSpc>
                </a:pPr>
                <a:endParaRPr/>
              </a:p>
            </p:txBody>
          </p:sp>
        </p:grpSp>
        <p:sp>
          <p:nvSpPr>
            <p:cNvPr id="32" name="Freeform 32"/>
            <p:cNvSpPr/>
            <p:nvPr/>
          </p:nvSpPr>
          <p:spPr>
            <a:xfrm>
              <a:off x="292569" y="2539904"/>
              <a:ext cx="1105755" cy="1105755"/>
            </a:xfrm>
            <a:custGeom>
              <a:avLst/>
              <a:gdLst/>
              <a:ahLst/>
              <a:cxnLst/>
              <a:rect l="l" t="t" r="r" b="b"/>
              <a:pathLst>
                <a:path w="1105755" h="1105755">
                  <a:moveTo>
                    <a:pt x="0" y="0"/>
                  </a:moveTo>
                  <a:lnTo>
                    <a:pt x="1105755" y="0"/>
                  </a:lnTo>
                  <a:lnTo>
                    <a:pt x="1105755" y="1105756"/>
                  </a:lnTo>
                  <a:lnTo>
                    <a:pt x="0" y="110575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>
                <a:extLst>
                  <a:ext uri="{96DAC541-7B7A-43D3-8B79-37D633B846F1}">
                    <asvg:svgBlip xmlns:asvg="http://schemas.microsoft.com/office/drawing/2016/SVG/main" r:embed="rId7"/>
                  </a:ext>
                </a:extLst>
              </a:blip>
              <a:stretch>
                <a:fillRect/>
              </a:stretch>
            </a:blipFill>
            <a:ln cap="sq">
              <a:noFill/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33" name="TextBox 33"/>
            <p:cNvSpPr txBox="1"/>
            <p:nvPr/>
          </p:nvSpPr>
          <p:spPr>
            <a:xfrm>
              <a:off x="1754393" y="2224075"/>
              <a:ext cx="3523876" cy="1665606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5039"/>
                </a:lnSpc>
              </a:pPr>
              <a:r>
                <a:rPr lang="en-US" sz="3599">
                  <a:solidFill>
                    <a:srgbClr val="000000"/>
                  </a:solidFill>
                  <a:latin typeface="Josefin Sans"/>
                  <a:ea typeface="Josefin Sans"/>
                  <a:cs typeface="Josefin Sans"/>
                  <a:sym typeface="Josefin Sans"/>
                </a:rPr>
                <a:t> Xử lý tối đa 12 biến</a:t>
              </a:r>
            </a:p>
          </p:txBody>
        </p:sp>
      </p:grp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EF6F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-2347017" y="-1878219"/>
            <a:ext cx="4062430" cy="4114800"/>
          </a:xfrm>
          <a:custGeom>
            <a:avLst/>
            <a:gdLst/>
            <a:ahLst/>
            <a:cxnLst/>
            <a:rect l="l" t="t" r="r" b="b"/>
            <a:pathLst>
              <a:path w="4062430" h="4114800">
                <a:moveTo>
                  <a:pt x="0" y="0"/>
                </a:moveTo>
                <a:lnTo>
                  <a:pt x="4062430" y="0"/>
                </a:lnTo>
                <a:lnTo>
                  <a:pt x="4062430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3" name="Freeform 3"/>
          <p:cNvSpPr/>
          <p:nvPr/>
        </p:nvSpPr>
        <p:spPr>
          <a:xfrm flipH="1" flipV="1">
            <a:off x="15018850" y="-167464"/>
            <a:ext cx="7147278" cy="3993541"/>
          </a:xfrm>
          <a:custGeom>
            <a:avLst/>
            <a:gdLst/>
            <a:ahLst/>
            <a:cxnLst/>
            <a:rect l="l" t="t" r="r" b="b"/>
            <a:pathLst>
              <a:path w="7147278" h="3993541">
                <a:moveTo>
                  <a:pt x="7147277" y="3993541"/>
                </a:moveTo>
                <a:lnTo>
                  <a:pt x="0" y="3993541"/>
                </a:lnTo>
                <a:lnTo>
                  <a:pt x="0" y="0"/>
                </a:lnTo>
                <a:lnTo>
                  <a:pt x="7147277" y="0"/>
                </a:lnTo>
                <a:lnTo>
                  <a:pt x="7147277" y="3993541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4" name="Freeform 4"/>
          <p:cNvSpPr/>
          <p:nvPr/>
        </p:nvSpPr>
        <p:spPr>
          <a:xfrm>
            <a:off x="-315802" y="8810460"/>
            <a:ext cx="4581255" cy="4114800"/>
          </a:xfrm>
          <a:custGeom>
            <a:avLst/>
            <a:gdLst/>
            <a:ahLst/>
            <a:cxnLst/>
            <a:rect l="l" t="t" r="r" b="b"/>
            <a:pathLst>
              <a:path w="4581255" h="4114800">
                <a:moveTo>
                  <a:pt x="0" y="0"/>
                </a:moveTo>
                <a:lnTo>
                  <a:pt x="4581255" y="0"/>
                </a:lnTo>
                <a:lnTo>
                  <a:pt x="4581255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5" name="Freeform 5"/>
          <p:cNvSpPr/>
          <p:nvPr/>
        </p:nvSpPr>
        <p:spPr>
          <a:xfrm>
            <a:off x="7422841" y="2758468"/>
            <a:ext cx="10382285" cy="5820888"/>
          </a:xfrm>
          <a:custGeom>
            <a:avLst/>
            <a:gdLst/>
            <a:ahLst/>
            <a:cxnLst/>
            <a:rect l="l" t="t" r="r" b="b"/>
            <a:pathLst>
              <a:path w="10382285" h="5820888">
                <a:moveTo>
                  <a:pt x="0" y="0"/>
                </a:moveTo>
                <a:lnTo>
                  <a:pt x="10382285" y="0"/>
                </a:lnTo>
                <a:lnTo>
                  <a:pt x="10382285" y="5820887"/>
                </a:lnTo>
                <a:lnTo>
                  <a:pt x="0" y="5820887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6" name="TextBox 6"/>
          <p:cNvSpPr txBox="1"/>
          <p:nvPr/>
        </p:nvSpPr>
        <p:spPr>
          <a:xfrm>
            <a:off x="1715413" y="406163"/>
            <a:ext cx="14857174" cy="82740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5334"/>
              </a:lnSpc>
            </a:pPr>
            <a:r>
              <a:rPr lang="en-US" sz="5499">
                <a:solidFill>
                  <a:srgbClr val="090147"/>
                </a:solidFill>
                <a:latin typeface="Bungee"/>
                <a:ea typeface="Bungee"/>
                <a:cs typeface="Bungee"/>
                <a:sym typeface="Bungee"/>
              </a:rPr>
              <a:t>RECIPE 3-7: VAR MODEL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8710234" y="8762835"/>
            <a:ext cx="7807500" cy="49530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199"/>
              </a:lnSpc>
              <a:spcBef>
                <a:spcPct val="0"/>
              </a:spcBef>
            </a:pPr>
            <a:r>
              <a:rPr lang="en-US" sz="2999" i="1">
                <a:solidFill>
                  <a:srgbClr val="000000"/>
                </a:solidFill>
                <a:latin typeface="Open Sans Italics"/>
                <a:ea typeface="Open Sans Italics"/>
                <a:cs typeface="Open Sans Italics"/>
                <a:sym typeface="Open Sans Italics"/>
              </a:rPr>
              <a:t>Ma trận dự báo sau khi huấn luyện mô hình</a:t>
            </a:r>
          </a:p>
        </p:txBody>
      </p:sp>
      <p:grpSp>
        <p:nvGrpSpPr>
          <p:cNvPr id="8" name="Group 8"/>
          <p:cNvGrpSpPr/>
          <p:nvPr/>
        </p:nvGrpSpPr>
        <p:grpSpPr>
          <a:xfrm>
            <a:off x="241768" y="3597494"/>
            <a:ext cx="6849131" cy="4142834"/>
            <a:chOff x="0" y="0"/>
            <a:chExt cx="9132175" cy="5523779"/>
          </a:xfrm>
        </p:grpSpPr>
        <p:grpSp>
          <p:nvGrpSpPr>
            <p:cNvPr id="9" name="Group 9"/>
            <p:cNvGrpSpPr/>
            <p:nvPr/>
          </p:nvGrpSpPr>
          <p:grpSpPr>
            <a:xfrm>
              <a:off x="0" y="0"/>
              <a:ext cx="9132175" cy="5523779"/>
              <a:chOff x="0" y="0"/>
              <a:chExt cx="1803886" cy="1091117"/>
            </a:xfrm>
          </p:grpSpPr>
          <p:sp>
            <p:nvSpPr>
              <p:cNvPr id="10" name="Freeform 10"/>
              <p:cNvSpPr/>
              <p:nvPr/>
            </p:nvSpPr>
            <p:spPr>
              <a:xfrm>
                <a:off x="0" y="0"/>
                <a:ext cx="1803886" cy="1091117"/>
              </a:xfrm>
              <a:custGeom>
                <a:avLst/>
                <a:gdLst/>
                <a:ahLst/>
                <a:cxnLst/>
                <a:rect l="l" t="t" r="r" b="b"/>
                <a:pathLst>
                  <a:path w="1803886" h="1091117">
                    <a:moveTo>
                      <a:pt x="57648" y="0"/>
                    </a:moveTo>
                    <a:lnTo>
                      <a:pt x="1746239" y="0"/>
                    </a:lnTo>
                    <a:cubicBezTo>
                      <a:pt x="1778077" y="0"/>
                      <a:pt x="1803886" y="25810"/>
                      <a:pt x="1803886" y="57648"/>
                    </a:cubicBezTo>
                    <a:lnTo>
                      <a:pt x="1803886" y="1033469"/>
                    </a:lnTo>
                    <a:cubicBezTo>
                      <a:pt x="1803886" y="1048758"/>
                      <a:pt x="1797813" y="1063421"/>
                      <a:pt x="1787002" y="1074232"/>
                    </a:cubicBezTo>
                    <a:cubicBezTo>
                      <a:pt x="1776191" y="1085043"/>
                      <a:pt x="1761528" y="1091117"/>
                      <a:pt x="1746239" y="1091117"/>
                    </a:cubicBezTo>
                    <a:lnTo>
                      <a:pt x="57648" y="1091117"/>
                    </a:lnTo>
                    <a:cubicBezTo>
                      <a:pt x="25810" y="1091117"/>
                      <a:pt x="0" y="1065307"/>
                      <a:pt x="0" y="1033469"/>
                    </a:cubicBezTo>
                    <a:lnTo>
                      <a:pt x="0" y="57648"/>
                    </a:lnTo>
                    <a:cubicBezTo>
                      <a:pt x="0" y="25810"/>
                      <a:pt x="25810" y="0"/>
                      <a:pt x="57648" y="0"/>
                    </a:cubicBezTo>
                    <a:close/>
                  </a:path>
                </a:pathLst>
              </a:custGeom>
              <a:solidFill>
                <a:srgbClr val="E9EBF7"/>
              </a:solidFill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1" name="TextBox 11"/>
              <p:cNvSpPr txBox="1"/>
              <p:nvPr/>
            </p:nvSpPr>
            <p:spPr>
              <a:xfrm>
                <a:off x="0" y="-38100"/>
                <a:ext cx="1803886" cy="1129217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659"/>
                  </a:lnSpc>
                  <a:spcBef>
                    <a:spcPct val="0"/>
                  </a:spcBef>
                </a:pPr>
                <a:endParaRPr/>
              </a:p>
            </p:txBody>
          </p:sp>
        </p:grpSp>
        <p:sp>
          <p:nvSpPr>
            <p:cNvPr id="12" name="TextBox 12"/>
            <p:cNvSpPr txBox="1"/>
            <p:nvPr/>
          </p:nvSpPr>
          <p:spPr>
            <a:xfrm>
              <a:off x="287369" y="-46826"/>
              <a:ext cx="8844805" cy="5255049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3919"/>
                </a:lnSpc>
                <a:spcBef>
                  <a:spcPct val="0"/>
                </a:spcBef>
              </a:pPr>
              <a:r>
                <a:rPr lang="en-US" sz="2799" b="1">
                  <a:solidFill>
                    <a:srgbClr val="000000"/>
                  </a:solidFill>
                  <a:latin typeface="Courier New Bold"/>
                  <a:ea typeface="Courier New Bold"/>
                  <a:cs typeface="Courier New Bold"/>
                  <a:sym typeface="Courier New Bold"/>
                </a:rPr>
                <a:t>var_model = VAR(endog=train_data)</a:t>
              </a:r>
            </a:p>
            <a:p>
              <a:pPr algn="l">
                <a:lnSpc>
                  <a:spcPts val="3919"/>
                </a:lnSpc>
                <a:spcBef>
                  <a:spcPct val="0"/>
                </a:spcBef>
              </a:pPr>
              <a:r>
                <a:rPr lang="en-US" sz="2799" b="1">
                  <a:solidFill>
                    <a:srgbClr val="000000"/>
                  </a:solidFill>
                  <a:latin typeface="Courier New Bold"/>
                  <a:ea typeface="Courier New Bold"/>
                  <a:cs typeface="Courier New Bold"/>
                  <a:sym typeface="Courier New Bold"/>
                </a:rPr>
                <a:t>var_model_fit = var_model.fit()</a:t>
              </a:r>
            </a:p>
            <a:p>
              <a:pPr algn="l">
                <a:lnSpc>
                  <a:spcPts val="3919"/>
                </a:lnSpc>
                <a:spcBef>
                  <a:spcPct val="0"/>
                </a:spcBef>
              </a:pPr>
              <a:r>
                <a:rPr lang="en-US" sz="2799" b="1">
                  <a:solidFill>
                    <a:srgbClr val="000000"/>
                  </a:solidFill>
                  <a:latin typeface="Courier New Bold"/>
                  <a:ea typeface="Courier New Bold"/>
                  <a:cs typeface="Courier New Bold"/>
                  <a:sym typeface="Courier New Bold"/>
                </a:rPr>
                <a:t>pred = var_model_fit.forecast(var_model_fit.endog,steps=len(valid_data))</a:t>
              </a:r>
            </a:p>
            <a:p>
              <a:pPr algn="l">
                <a:lnSpc>
                  <a:spcPts val="3919"/>
                </a:lnSpc>
                <a:spcBef>
                  <a:spcPct val="0"/>
                </a:spcBef>
              </a:pPr>
              <a:r>
                <a:rPr lang="en-US" sz="2799" b="1">
                  <a:solidFill>
                    <a:srgbClr val="000000"/>
                  </a:solidFill>
                  <a:latin typeface="Courier New Bold"/>
                  <a:ea typeface="Courier New Bold"/>
                  <a:cs typeface="Courier New Bold"/>
                  <a:sym typeface="Courier New Bold"/>
                </a:rPr>
                <a:t>pred</a:t>
              </a:r>
            </a:p>
          </p:txBody>
        </p:sp>
      </p:grpSp>
      <p:sp>
        <p:nvSpPr>
          <p:cNvPr id="13" name="TextBox 13"/>
          <p:cNvSpPr txBox="1"/>
          <p:nvPr/>
        </p:nvSpPr>
        <p:spPr>
          <a:xfrm>
            <a:off x="1274586" y="2585949"/>
            <a:ext cx="4783495" cy="71932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5406"/>
              </a:lnSpc>
              <a:spcBef>
                <a:spcPct val="0"/>
              </a:spcBef>
            </a:pPr>
            <a:r>
              <a:rPr lang="en-US" sz="5100">
                <a:solidFill>
                  <a:srgbClr val="4288DD"/>
                </a:solidFill>
                <a:latin typeface="Josefin Sans"/>
                <a:ea typeface="Josefin Sans"/>
                <a:cs typeface="Josefin Sans"/>
                <a:sym typeface="Josefin Sans"/>
              </a:rPr>
              <a:t>Train mô hình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EF6F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-2031215" y="-1447165"/>
            <a:ext cx="4062430" cy="4114800"/>
          </a:xfrm>
          <a:custGeom>
            <a:avLst/>
            <a:gdLst/>
            <a:ahLst/>
            <a:cxnLst/>
            <a:rect l="l" t="t" r="r" b="b"/>
            <a:pathLst>
              <a:path w="4062430" h="4114800">
                <a:moveTo>
                  <a:pt x="0" y="0"/>
                </a:moveTo>
                <a:lnTo>
                  <a:pt x="4062430" y="0"/>
                </a:lnTo>
                <a:lnTo>
                  <a:pt x="4062430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3" name="Freeform 3"/>
          <p:cNvSpPr/>
          <p:nvPr/>
        </p:nvSpPr>
        <p:spPr>
          <a:xfrm flipH="1" flipV="1">
            <a:off x="15018850" y="-167464"/>
            <a:ext cx="7147278" cy="3993541"/>
          </a:xfrm>
          <a:custGeom>
            <a:avLst/>
            <a:gdLst/>
            <a:ahLst/>
            <a:cxnLst/>
            <a:rect l="l" t="t" r="r" b="b"/>
            <a:pathLst>
              <a:path w="7147278" h="3993541">
                <a:moveTo>
                  <a:pt x="7147277" y="3993541"/>
                </a:moveTo>
                <a:lnTo>
                  <a:pt x="0" y="3993541"/>
                </a:lnTo>
                <a:lnTo>
                  <a:pt x="0" y="0"/>
                </a:lnTo>
                <a:lnTo>
                  <a:pt x="7147277" y="0"/>
                </a:lnTo>
                <a:lnTo>
                  <a:pt x="7147277" y="3993541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4" name="Freeform 4"/>
          <p:cNvSpPr/>
          <p:nvPr/>
        </p:nvSpPr>
        <p:spPr>
          <a:xfrm>
            <a:off x="14011234" y="9258300"/>
            <a:ext cx="4581255" cy="4114800"/>
          </a:xfrm>
          <a:custGeom>
            <a:avLst/>
            <a:gdLst/>
            <a:ahLst/>
            <a:cxnLst/>
            <a:rect l="l" t="t" r="r" b="b"/>
            <a:pathLst>
              <a:path w="4581255" h="4114800">
                <a:moveTo>
                  <a:pt x="0" y="0"/>
                </a:moveTo>
                <a:lnTo>
                  <a:pt x="4581255" y="0"/>
                </a:lnTo>
                <a:lnTo>
                  <a:pt x="4581255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5" name="Freeform 5"/>
          <p:cNvSpPr/>
          <p:nvPr/>
        </p:nvSpPr>
        <p:spPr>
          <a:xfrm>
            <a:off x="3830372" y="1946424"/>
            <a:ext cx="10627256" cy="6599020"/>
          </a:xfrm>
          <a:custGeom>
            <a:avLst/>
            <a:gdLst/>
            <a:ahLst/>
            <a:cxnLst/>
            <a:rect l="l" t="t" r="r" b="b"/>
            <a:pathLst>
              <a:path w="10627256" h="6599020">
                <a:moveTo>
                  <a:pt x="0" y="0"/>
                </a:moveTo>
                <a:lnTo>
                  <a:pt x="10627256" y="0"/>
                </a:lnTo>
                <a:lnTo>
                  <a:pt x="10627256" y="6599020"/>
                </a:lnTo>
                <a:lnTo>
                  <a:pt x="0" y="6599020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6" name="TextBox 6"/>
          <p:cNvSpPr txBox="1"/>
          <p:nvPr/>
        </p:nvSpPr>
        <p:spPr>
          <a:xfrm>
            <a:off x="1715413" y="406163"/>
            <a:ext cx="14857174" cy="82740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5334"/>
              </a:lnSpc>
            </a:pPr>
            <a:r>
              <a:rPr lang="en-US" sz="5499">
                <a:solidFill>
                  <a:srgbClr val="090147"/>
                </a:solidFill>
                <a:latin typeface="Bungee"/>
                <a:ea typeface="Bungee"/>
                <a:cs typeface="Bungee"/>
                <a:sym typeface="Bungee"/>
              </a:rPr>
              <a:t>RECIPE 3-7: VAR MODEL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3785443" y="8762999"/>
            <a:ext cx="10717114" cy="49530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199"/>
              </a:lnSpc>
              <a:spcBef>
                <a:spcPct val="0"/>
              </a:spcBef>
            </a:pPr>
            <a:r>
              <a:rPr lang="en-US" sz="2999" i="1">
                <a:solidFill>
                  <a:srgbClr val="000000"/>
                </a:solidFill>
                <a:latin typeface="Open Sans Italics"/>
                <a:ea typeface="Open Sans Italics"/>
                <a:cs typeface="Open Sans Italics"/>
                <a:sym typeface="Open Sans Italics"/>
              </a:rPr>
              <a:t>Giá trị RMSE cho các thông số chất lượng không khí khác nhau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EF6F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-2031215" y="-2381188"/>
            <a:ext cx="4062430" cy="4114800"/>
          </a:xfrm>
          <a:custGeom>
            <a:avLst/>
            <a:gdLst/>
            <a:ahLst/>
            <a:cxnLst/>
            <a:rect l="l" t="t" r="r" b="b"/>
            <a:pathLst>
              <a:path w="4062430" h="4114800">
                <a:moveTo>
                  <a:pt x="0" y="0"/>
                </a:moveTo>
                <a:lnTo>
                  <a:pt x="4062430" y="0"/>
                </a:lnTo>
                <a:lnTo>
                  <a:pt x="4062430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3" name="Freeform 3"/>
          <p:cNvSpPr/>
          <p:nvPr/>
        </p:nvSpPr>
        <p:spPr>
          <a:xfrm flipH="1" flipV="1">
            <a:off x="15817009" y="-471779"/>
            <a:ext cx="7147278" cy="3993541"/>
          </a:xfrm>
          <a:custGeom>
            <a:avLst/>
            <a:gdLst/>
            <a:ahLst/>
            <a:cxnLst/>
            <a:rect l="l" t="t" r="r" b="b"/>
            <a:pathLst>
              <a:path w="7147278" h="3993541">
                <a:moveTo>
                  <a:pt x="7147278" y="3993541"/>
                </a:moveTo>
                <a:lnTo>
                  <a:pt x="0" y="3993541"/>
                </a:lnTo>
                <a:lnTo>
                  <a:pt x="0" y="0"/>
                </a:lnTo>
                <a:lnTo>
                  <a:pt x="7147278" y="0"/>
                </a:lnTo>
                <a:lnTo>
                  <a:pt x="7147278" y="3993541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5" name="TextBox 5"/>
          <p:cNvSpPr txBox="1"/>
          <p:nvPr/>
        </p:nvSpPr>
        <p:spPr>
          <a:xfrm>
            <a:off x="1715413" y="406163"/>
            <a:ext cx="14857174" cy="82740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5334"/>
              </a:lnSpc>
            </a:pPr>
            <a:r>
              <a:rPr lang="en-US" sz="5499">
                <a:solidFill>
                  <a:srgbClr val="090147"/>
                </a:solidFill>
                <a:latin typeface="Bungee"/>
                <a:ea typeface="Bungee"/>
                <a:cs typeface="Bungee"/>
                <a:sym typeface="Bungee"/>
              </a:rPr>
              <a:t>SO SÁNH 3 MÔ HÌNH</a:t>
            </a:r>
          </a:p>
        </p:txBody>
      </p:sp>
      <p:graphicFrame>
        <p:nvGraphicFramePr>
          <p:cNvPr id="8" name="Table 7">
            <a:extLst>
              <a:ext uri="{FF2B5EF4-FFF2-40B4-BE49-F238E27FC236}">
                <a16:creationId xmlns:a16="http://schemas.microsoft.com/office/drawing/2014/main" id="{304E29C4-41B1-7F38-9384-7DE8C1EE1F4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347398671"/>
              </p:ext>
            </p:extLst>
          </p:nvPr>
        </p:nvGraphicFramePr>
        <p:xfrm>
          <a:off x="1423514" y="1678197"/>
          <a:ext cx="15440972" cy="7682106"/>
        </p:xfrm>
        <a:graphic>
          <a:graphicData uri="http://schemas.openxmlformats.org/drawingml/2006/table">
            <a:tbl>
              <a:tblPr/>
              <a:tblGrid>
                <a:gridCol w="3684016">
                  <a:extLst>
                    <a:ext uri="{9D8B030D-6E8A-4147-A177-3AD203B41FA5}">
                      <a16:colId xmlns:a16="http://schemas.microsoft.com/office/drawing/2014/main" val="633364431"/>
                    </a:ext>
                  </a:extLst>
                </a:gridCol>
                <a:gridCol w="3600000">
                  <a:extLst>
                    <a:ext uri="{9D8B030D-6E8A-4147-A177-3AD203B41FA5}">
                      <a16:colId xmlns:a16="http://schemas.microsoft.com/office/drawing/2014/main" val="1758513178"/>
                    </a:ext>
                  </a:extLst>
                </a:gridCol>
                <a:gridCol w="4055491">
                  <a:extLst>
                    <a:ext uri="{9D8B030D-6E8A-4147-A177-3AD203B41FA5}">
                      <a16:colId xmlns:a16="http://schemas.microsoft.com/office/drawing/2014/main" val="3897886158"/>
                    </a:ext>
                  </a:extLst>
                </a:gridCol>
                <a:gridCol w="4101465">
                  <a:extLst>
                    <a:ext uri="{9D8B030D-6E8A-4147-A177-3AD203B41FA5}">
                      <a16:colId xmlns:a16="http://schemas.microsoft.com/office/drawing/2014/main" val="939006423"/>
                    </a:ext>
                  </a:extLst>
                </a:gridCol>
              </a:tblGrid>
              <a:tr h="698106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2500" b="1" dirty="0">
                          <a:effectLst/>
                          <a:latin typeface="Open Sans" panose="020B0606030504020204" pitchFamily="34" charset="0"/>
                          <a:ea typeface="Open Sans" panose="020B0606030504020204" pitchFamily="34" charset="0"/>
                          <a:cs typeface="Open Sans" panose="020B0606030504020204" pitchFamily="34" charset="0"/>
                        </a:rPr>
                        <a:t>Tiêu </a:t>
                      </a:r>
                      <a:r>
                        <a:rPr lang="en-US" sz="2500" b="1" dirty="0" err="1">
                          <a:effectLst/>
                          <a:latin typeface="Open Sans" panose="020B0606030504020204" pitchFamily="34" charset="0"/>
                          <a:ea typeface="Open Sans" panose="020B0606030504020204" pitchFamily="34" charset="0"/>
                          <a:cs typeface="Open Sans" panose="020B0606030504020204" pitchFamily="34" charset="0"/>
                        </a:rPr>
                        <a:t>chí</a:t>
                      </a:r>
                      <a:endParaRPr lang="en-US" sz="2500" b="1" dirty="0">
                        <a:effectLst/>
                        <a:latin typeface="Open Sans" panose="020B0606030504020204" pitchFamily="34" charset="0"/>
                        <a:ea typeface="Open Sans" panose="020B0606030504020204" pitchFamily="34" charset="0"/>
                        <a:cs typeface="Open Sans" panose="020B0606030504020204" pitchFamily="34" charset="0"/>
                      </a:endParaRPr>
                    </a:p>
                  </a:txBody>
                  <a:tcPr marL="45720" marR="45720" anchor="ctr">
                    <a:lnL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C0D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2500" b="1" dirty="0" err="1">
                          <a:effectLst/>
                          <a:latin typeface="Open Sans" panose="020B0606030504020204" pitchFamily="34" charset="0"/>
                          <a:ea typeface="Open Sans" panose="020B0606030504020204" pitchFamily="34" charset="0"/>
                          <a:cs typeface="Open Sans" panose="020B0606030504020204" pitchFamily="34" charset="0"/>
                        </a:rPr>
                        <a:t>FBProphet</a:t>
                      </a:r>
                      <a:endParaRPr lang="en-US" sz="2500" b="1" dirty="0">
                        <a:effectLst/>
                        <a:latin typeface="Open Sans" panose="020B0606030504020204" pitchFamily="34" charset="0"/>
                        <a:ea typeface="Open Sans" panose="020B0606030504020204" pitchFamily="34" charset="0"/>
                        <a:cs typeface="Open Sans" panose="020B0606030504020204" pitchFamily="34" charset="0"/>
                      </a:endParaRPr>
                    </a:p>
                  </a:txBody>
                  <a:tcPr marL="45720" marR="45720" anchor="ctr">
                    <a:lnL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C0D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2500" b="1" dirty="0">
                          <a:effectLst/>
                          <a:latin typeface="Open Sans" panose="020B0606030504020204" pitchFamily="34" charset="0"/>
                          <a:ea typeface="Open Sans" panose="020B0606030504020204" pitchFamily="34" charset="0"/>
                          <a:cs typeface="Open Sans" panose="020B0606030504020204" pitchFamily="34" charset="0"/>
                        </a:rPr>
                        <a:t>Auto-ARIMA</a:t>
                      </a:r>
                    </a:p>
                  </a:txBody>
                  <a:tcPr marL="45720" marR="45720" anchor="ctr">
                    <a:lnL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C0D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2500" b="1" dirty="0">
                          <a:effectLst/>
                          <a:latin typeface="Open Sans" panose="020B0606030504020204" pitchFamily="34" charset="0"/>
                          <a:ea typeface="Open Sans" panose="020B0606030504020204" pitchFamily="34" charset="0"/>
                          <a:cs typeface="Open Sans" panose="020B0606030504020204" pitchFamily="34" charset="0"/>
                        </a:rPr>
                        <a:t>VAR</a:t>
                      </a:r>
                    </a:p>
                  </a:txBody>
                  <a:tcPr marL="45720" marR="45720" anchor="ctr">
                    <a:lnL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C0D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72690755"/>
                  </a:ext>
                </a:extLst>
              </a:tr>
              <a:tr h="69840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500" b="1" dirty="0" err="1">
                          <a:effectLst/>
                          <a:latin typeface="Open Sans" panose="020B0606030504020204" pitchFamily="34" charset="0"/>
                          <a:ea typeface="Open Sans" panose="020B0606030504020204" pitchFamily="34" charset="0"/>
                          <a:cs typeface="Open Sans" panose="020B0606030504020204" pitchFamily="34" charset="0"/>
                        </a:rPr>
                        <a:t>Loại</a:t>
                      </a:r>
                      <a:r>
                        <a:rPr lang="en-US" sz="2500" b="1" dirty="0">
                          <a:effectLst/>
                          <a:latin typeface="Open Sans" panose="020B0606030504020204" pitchFamily="34" charset="0"/>
                          <a:ea typeface="Open Sans" panose="020B0606030504020204" pitchFamily="34" charset="0"/>
                          <a:cs typeface="Open Sans" panose="020B0606030504020204" pitchFamily="34" charset="0"/>
                        </a:rPr>
                        <a:t> </a:t>
                      </a:r>
                      <a:r>
                        <a:rPr lang="en-US" sz="2500" b="1" dirty="0" err="1">
                          <a:effectLst/>
                          <a:latin typeface="Open Sans" panose="020B0606030504020204" pitchFamily="34" charset="0"/>
                          <a:ea typeface="Open Sans" panose="020B0606030504020204" pitchFamily="34" charset="0"/>
                          <a:cs typeface="Open Sans" panose="020B0606030504020204" pitchFamily="34" charset="0"/>
                        </a:rPr>
                        <a:t>mô</a:t>
                      </a:r>
                      <a:r>
                        <a:rPr lang="en-US" sz="2500" b="1" dirty="0">
                          <a:effectLst/>
                          <a:latin typeface="Open Sans" panose="020B0606030504020204" pitchFamily="34" charset="0"/>
                          <a:ea typeface="Open Sans" panose="020B0606030504020204" pitchFamily="34" charset="0"/>
                          <a:cs typeface="Open Sans" panose="020B0606030504020204" pitchFamily="34" charset="0"/>
                        </a:rPr>
                        <a:t> </a:t>
                      </a:r>
                      <a:r>
                        <a:rPr lang="en-US" sz="2500" b="1" dirty="0" err="1">
                          <a:effectLst/>
                          <a:latin typeface="Open Sans" panose="020B0606030504020204" pitchFamily="34" charset="0"/>
                          <a:ea typeface="Open Sans" panose="020B0606030504020204" pitchFamily="34" charset="0"/>
                          <a:cs typeface="Open Sans" panose="020B0606030504020204" pitchFamily="34" charset="0"/>
                        </a:rPr>
                        <a:t>hình</a:t>
                      </a:r>
                      <a:endParaRPr lang="en-US" sz="2500" b="1" dirty="0">
                        <a:effectLst/>
                        <a:latin typeface="Open Sans" panose="020B0606030504020204" pitchFamily="34" charset="0"/>
                        <a:ea typeface="Open Sans" panose="020B0606030504020204" pitchFamily="34" charset="0"/>
                        <a:cs typeface="Open Sans" panose="020B0606030504020204" pitchFamily="34" charset="0"/>
                      </a:endParaRPr>
                    </a:p>
                  </a:txBody>
                  <a:tcPr marL="45720" marR="45720" anchor="ctr">
                    <a:lnL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500" dirty="0">
                          <a:effectLst/>
                          <a:latin typeface="Open Sans" panose="020B0606030504020204" pitchFamily="34" charset="0"/>
                          <a:ea typeface="Open Sans" panose="020B0606030504020204" pitchFamily="34" charset="0"/>
                          <a:cs typeface="Open Sans" panose="020B0606030504020204" pitchFamily="34" charset="0"/>
                        </a:rPr>
                        <a:t>Additive Regression</a:t>
                      </a:r>
                    </a:p>
                  </a:txBody>
                  <a:tcPr marL="45720" marR="45720" anchor="ctr">
                    <a:lnL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500">
                          <a:effectLst/>
                          <a:latin typeface="Open Sans" panose="020B0606030504020204" pitchFamily="34" charset="0"/>
                          <a:ea typeface="Open Sans" panose="020B0606030504020204" pitchFamily="34" charset="0"/>
                          <a:cs typeface="Open Sans" panose="020B0606030504020204" pitchFamily="34" charset="0"/>
                        </a:rPr>
                        <a:t>Statistical (ARIMA)</a:t>
                      </a:r>
                    </a:p>
                  </a:txBody>
                  <a:tcPr marL="45720" marR="45720" anchor="ctr">
                    <a:lnL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500">
                          <a:effectLst/>
                          <a:latin typeface="Open Sans" panose="020B0606030504020204" pitchFamily="34" charset="0"/>
                          <a:ea typeface="Open Sans" panose="020B0606030504020204" pitchFamily="34" charset="0"/>
                          <a:cs typeface="Open Sans" panose="020B0606030504020204" pitchFamily="34" charset="0"/>
                        </a:rPr>
                        <a:t>Multivariate Statistical</a:t>
                      </a:r>
                    </a:p>
                  </a:txBody>
                  <a:tcPr marL="45720" marR="45720" anchor="ctr">
                    <a:lnL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32876748"/>
                  </a:ext>
                </a:extLst>
              </a:tr>
              <a:tr h="69840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500" b="1" dirty="0" err="1">
                          <a:effectLst/>
                          <a:latin typeface="Open Sans" panose="020B0606030504020204" pitchFamily="34" charset="0"/>
                          <a:ea typeface="Open Sans" panose="020B0606030504020204" pitchFamily="34" charset="0"/>
                          <a:cs typeface="Open Sans" panose="020B0606030504020204" pitchFamily="34" charset="0"/>
                        </a:rPr>
                        <a:t>Dự</a:t>
                      </a:r>
                      <a:r>
                        <a:rPr lang="en-US" sz="2500" b="1" dirty="0">
                          <a:effectLst/>
                          <a:latin typeface="Open Sans" panose="020B0606030504020204" pitchFamily="34" charset="0"/>
                          <a:ea typeface="Open Sans" panose="020B0606030504020204" pitchFamily="34" charset="0"/>
                          <a:cs typeface="Open Sans" panose="020B0606030504020204" pitchFamily="34" charset="0"/>
                        </a:rPr>
                        <a:t> </a:t>
                      </a:r>
                      <a:r>
                        <a:rPr lang="en-US" sz="2500" b="1" dirty="0" err="1">
                          <a:effectLst/>
                          <a:latin typeface="Open Sans" panose="020B0606030504020204" pitchFamily="34" charset="0"/>
                          <a:ea typeface="Open Sans" panose="020B0606030504020204" pitchFamily="34" charset="0"/>
                          <a:cs typeface="Open Sans" panose="020B0606030504020204" pitchFamily="34" charset="0"/>
                        </a:rPr>
                        <a:t>báo</a:t>
                      </a:r>
                      <a:endParaRPr lang="en-US" sz="2500" b="1" dirty="0">
                        <a:effectLst/>
                        <a:latin typeface="Open Sans" panose="020B0606030504020204" pitchFamily="34" charset="0"/>
                        <a:ea typeface="Open Sans" panose="020B0606030504020204" pitchFamily="34" charset="0"/>
                        <a:cs typeface="Open Sans" panose="020B0606030504020204" pitchFamily="34" charset="0"/>
                      </a:endParaRPr>
                    </a:p>
                  </a:txBody>
                  <a:tcPr marL="45720" marR="45720" anchor="ctr">
                    <a:lnL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vi-VN" sz="2500" dirty="0">
                          <a:effectLst/>
                          <a:latin typeface="Open Sans" panose="020B0606030504020204" pitchFamily="34" charset="0"/>
                          <a:ea typeface="Open Sans" panose="020B0606030504020204" pitchFamily="34" charset="0"/>
                          <a:cs typeface="Open Sans" panose="020B0606030504020204" pitchFamily="34" charset="0"/>
                        </a:rPr>
                        <a:t>Đơn biến</a:t>
                      </a:r>
                    </a:p>
                  </a:txBody>
                  <a:tcPr marL="45720" marR="45720" anchor="ctr">
                    <a:lnL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vi-VN" sz="2500" dirty="0">
                          <a:effectLst/>
                          <a:latin typeface="Open Sans" panose="020B0606030504020204" pitchFamily="34" charset="0"/>
                          <a:ea typeface="Open Sans" panose="020B0606030504020204" pitchFamily="34" charset="0"/>
                          <a:cs typeface="Open Sans" panose="020B0606030504020204" pitchFamily="34" charset="0"/>
                        </a:rPr>
                        <a:t>Đơn biến</a:t>
                      </a:r>
                    </a:p>
                  </a:txBody>
                  <a:tcPr marL="45720" marR="45720" anchor="ctr">
                    <a:lnL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500" dirty="0" err="1">
                          <a:effectLst/>
                          <a:latin typeface="Open Sans" panose="020B0606030504020204" pitchFamily="34" charset="0"/>
                          <a:ea typeface="Open Sans" panose="020B0606030504020204" pitchFamily="34" charset="0"/>
                          <a:cs typeface="Open Sans" panose="020B0606030504020204" pitchFamily="34" charset="0"/>
                        </a:rPr>
                        <a:t>Đa</a:t>
                      </a:r>
                      <a:r>
                        <a:rPr lang="en-US" sz="2500" dirty="0">
                          <a:effectLst/>
                          <a:latin typeface="Open Sans" panose="020B0606030504020204" pitchFamily="34" charset="0"/>
                          <a:ea typeface="Open Sans" panose="020B0606030504020204" pitchFamily="34" charset="0"/>
                          <a:cs typeface="Open Sans" panose="020B0606030504020204" pitchFamily="34" charset="0"/>
                        </a:rPr>
                        <a:t> </a:t>
                      </a:r>
                      <a:r>
                        <a:rPr lang="en-US" sz="2500" dirty="0" err="1">
                          <a:effectLst/>
                          <a:latin typeface="Open Sans" panose="020B0606030504020204" pitchFamily="34" charset="0"/>
                          <a:ea typeface="Open Sans" panose="020B0606030504020204" pitchFamily="34" charset="0"/>
                          <a:cs typeface="Open Sans" panose="020B0606030504020204" pitchFamily="34" charset="0"/>
                        </a:rPr>
                        <a:t>biến</a:t>
                      </a:r>
                      <a:endParaRPr lang="en-US" sz="2500" dirty="0">
                        <a:effectLst/>
                        <a:latin typeface="Open Sans" panose="020B0606030504020204" pitchFamily="34" charset="0"/>
                        <a:ea typeface="Open Sans" panose="020B0606030504020204" pitchFamily="34" charset="0"/>
                        <a:cs typeface="Open Sans" panose="020B0606030504020204" pitchFamily="34" charset="0"/>
                      </a:endParaRPr>
                    </a:p>
                  </a:txBody>
                  <a:tcPr marL="45720" marR="45720" anchor="ctr">
                    <a:lnL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540114"/>
                  </a:ext>
                </a:extLst>
              </a:tr>
              <a:tr h="69840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500" b="1" dirty="0" err="1">
                          <a:effectLst/>
                          <a:latin typeface="Open Sans" panose="020B0606030504020204" pitchFamily="34" charset="0"/>
                          <a:ea typeface="Open Sans" panose="020B0606030504020204" pitchFamily="34" charset="0"/>
                          <a:cs typeface="Open Sans" panose="020B0606030504020204" pitchFamily="34" charset="0"/>
                        </a:rPr>
                        <a:t>Mùa</a:t>
                      </a:r>
                      <a:r>
                        <a:rPr lang="en-US" sz="2500" b="1" dirty="0">
                          <a:effectLst/>
                          <a:latin typeface="Open Sans" panose="020B0606030504020204" pitchFamily="34" charset="0"/>
                          <a:ea typeface="Open Sans" panose="020B0606030504020204" pitchFamily="34" charset="0"/>
                          <a:cs typeface="Open Sans" panose="020B0606030504020204" pitchFamily="34" charset="0"/>
                        </a:rPr>
                        <a:t> </a:t>
                      </a:r>
                      <a:r>
                        <a:rPr lang="en-US" sz="2500" b="1" dirty="0" err="1">
                          <a:effectLst/>
                          <a:latin typeface="Open Sans" panose="020B0606030504020204" pitchFamily="34" charset="0"/>
                          <a:ea typeface="Open Sans" panose="020B0606030504020204" pitchFamily="34" charset="0"/>
                          <a:cs typeface="Open Sans" panose="020B0606030504020204" pitchFamily="34" charset="0"/>
                        </a:rPr>
                        <a:t>vụ</a:t>
                      </a:r>
                      <a:endParaRPr lang="en-US" sz="2500" b="1" dirty="0">
                        <a:effectLst/>
                        <a:latin typeface="Open Sans" panose="020B0606030504020204" pitchFamily="34" charset="0"/>
                        <a:ea typeface="Open Sans" panose="020B0606030504020204" pitchFamily="34" charset="0"/>
                        <a:cs typeface="Open Sans" panose="020B0606030504020204" pitchFamily="34" charset="0"/>
                      </a:endParaRPr>
                    </a:p>
                  </a:txBody>
                  <a:tcPr marL="45720" marR="45720" anchor="ctr">
                    <a:lnL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500" dirty="0" err="1">
                          <a:effectLst/>
                          <a:latin typeface="Open Sans" panose="020B0606030504020204" pitchFamily="34" charset="0"/>
                          <a:ea typeface="Open Sans" panose="020B0606030504020204" pitchFamily="34" charset="0"/>
                          <a:cs typeface="Open Sans" panose="020B0606030504020204" pitchFamily="34" charset="0"/>
                        </a:rPr>
                        <a:t>Tự</a:t>
                      </a:r>
                      <a:r>
                        <a:rPr lang="en-US" sz="2500" dirty="0">
                          <a:effectLst/>
                          <a:latin typeface="Open Sans" panose="020B0606030504020204" pitchFamily="34" charset="0"/>
                          <a:ea typeface="Open Sans" panose="020B0606030504020204" pitchFamily="34" charset="0"/>
                          <a:cs typeface="Open Sans" panose="020B0606030504020204" pitchFamily="34" charset="0"/>
                        </a:rPr>
                        <a:t> </a:t>
                      </a:r>
                      <a:r>
                        <a:rPr lang="en-US" sz="2500" dirty="0" err="1">
                          <a:effectLst/>
                          <a:latin typeface="Open Sans" panose="020B0606030504020204" pitchFamily="34" charset="0"/>
                          <a:ea typeface="Open Sans" panose="020B0606030504020204" pitchFamily="34" charset="0"/>
                          <a:cs typeface="Open Sans" panose="020B0606030504020204" pitchFamily="34" charset="0"/>
                        </a:rPr>
                        <a:t>động</a:t>
                      </a:r>
                      <a:r>
                        <a:rPr lang="en-US" sz="2500" dirty="0">
                          <a:effectLst/>
                          <a:latin typeface="Open Sans" panose="020B0606030504020204" pitchFamily="34" charset="0"/>
                          <a:ea typeface="Open Sans" panose="020B0606030504020204" pitchFamily="34" charset="0"/>
                          <a:cs typeface="Open Sans" panose="020B0606030504020204" pitchFamily="34" charset="0"/>
                        </a:rPr>
                        <a:t> &amp; Linh </a:t>
                      </a:r>
                      <a:r>
                        <a:rPr lang="en-US" sz="2500" dirty="0" err="1">
                          <a:effectLst/>
                          <a:latin typeface="Open Sans" panose="020B0606030504020204" pitchFamily="34" charset="0"/>
                          <a:ea typeface="Open Sans" panose="020B0606030504020204" pitchFamily="34" charset="0"/>
                          <a:cs typeface="Open Sans" panose="020B0606030504020204" pitchFamily="34" charset="0"/>
                        </a:rPr>
                        <a:t>hoạt</a:t>
                      </a:r>
                      <a:endParaRPr lang="en-US" sz="2500" dirty="0">
                        <a:effectLst/>
                        <a:latin typeface="Open Sans" panose="020B0606030504020204" pitchFamily="34" charset="0"/>
                        <a:ea typeface="Open Sans" panose="020B0606030504020204" pitchFamily="34" charset="0"/>
                        <a:cs typeface="Open Sans" panose="020B0606030504020204" pitchFamily="34" charset="0"/>
                      </a:endParaRPr>
                    </a:p>
                  </a:txBody>
                  <a:tcPr marL="45720" marR="45720" anchor="ctr">
                    <a:lnL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500" dirty="0" err="1">
                          <a:effectLst/>
                          <a:latin typeface="Open Sans" panose="020B0606030504020204" pitchFamily="34" charset="0"/>
                          <a:ea typeface="Open Sans" panose="020B0606030504020204" pitchFamily="34" charset="0"/>
                          <a:cs typeface="Open Sans" panose="020B0606030504020204" pitchFamily="34" charset="0"/>
                        </a:rPr>
                        <a:t>Cần</a:t>
                      </a:r>
                      <a:r>
                        <a:rPr lang="en-US" sz="2500" dirty="0">
                          <a:effectLst/>
                          <a:latin typeface="Open Sans" panose="020B0606030504020204" pitchFamily="34" charset="0"/>
                          <a:ea typeface="Open Sans" panose="020B0606030504020204" pitchFamily="34" charset="0"/>
                          <a:cs typeface="Open Sans" panose="020B0606030504020204" pitchFamily="34" charset="0"/>
                        </a:rPr>
                        <a:t> </a:t>
                      </a:r>
                      <a:r>
                        <a:rPr lang="en-US" sz="2500" dirty="0" err="1">
                          <a:effectLst/>
                          <a:latin typeface="Open Sans" panose="020B0606030504020204" pitchFamily="34" charset="0"/>
                          <a:ea typeface="Open Sans" panose="020B0606030504020204" pitchFamily="34" charset="0"/>
                          <a:cs typeface="Open Sans" panose="020B0606030504020204" pitchFamily="34" charset="0"/>
                        </a:rPr>
                        <a:t>thiết</a:t>
                      </a:r>
                      <a:r>
                        <a:rPr lang="en-US" sz="2500" dirty="0">
                          <a:effectLst/>
                          <a:latin typeface="Open Sans" panose="020B0606030504020204" pitchFamily="34" charset="0"/>
                          <a:ea typeface="Open Sans" panose="020B0606030504020204" pitchFamily="34" charset="0"/>
                          <a:cs typeface="Open Sans" panose="020B0606030504020204" pitchFamily="34" charset="0"/>
                        </a:rPr>
                        <a:t> </a:t>
                      </a:r>
                      <a:r>
                        <a:rPr lang="en-US" sz="2500" dirty="0" err="1">
                          <a:effectLst/>
                          <a:latin typeface="Open Sans" panose="020B0606030504020204" pitchFamily="34" charset="0"/>
                          <a:ea typeface="Open Sans" panose="020B0606030504020204" pitchFamily="34" charset="0"/>
                          <a:cs typeface="Open Sans" panose="020B0606030504020204" pitchFamily="34" charset="0"/>
                        </a:rPr>
                        <a:t>lập</a:t>
                      </a:r>
                      <a:r>
                        <a:rPr lang="en-US" sz="2500" dirty="0">
                          <a:effectLst/>
                          <a:latin typeface="Open Sans" panose="020B0606030504020204" pitchFamily="34" charset="0"/>
                          <a:ea typeface="Open Sans" panose="020B0606030504020204" pitchFamily="34" charset="0"/>
                          <a:cs typeface="Open Sans" panose="020B0606030504020204" pitchFamily="34" charset="0"/>
                        </a:rPr>
                        <a:t> m</a:t>
                      </a:r>
                    </a:p>
                  </a:txBody>
                  <a:tcPr marL="45720" marR="45720" anchor="ctr">
                    <a:lnL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500" dirty="0" err="1">
                          <a:effectLst/>
                          <a:latin typeface="Open Sans" panose="020B0606030504020204" pitchFamily="34" charset="0"/>
                          <a:ea typeface="Open Sans" panose="020B0606030504020204" pitchFamily="34" charset="0"/>
                          <a:cs typeface="Open Sans" panose="020B0606030504020204" pitchFamily="34" charset="0"/>
                        </a:rPr>
                        <a:t>Không</a:t>
                      </a:r>
                      <a:r>
                        <a:rPr lang="en-US" sz="2500" dirty="0">
                          <a:effectLst/>
                          <a:latin typeface="Open Sans" panose="020B0606030504020204" pitchFamily="34" charset="0"/>
                          <a:ea typeface="Open Sans" panose="020B0606030504020204" pitchFamily="34" charset="0"/>
                          <a:cs typeface="Open Sans" panose="020B0606030504020204" pitchFamily="34" charset="0"/>
                        </a:rPr>
                        <a:t> </a:t>
                      </a:r>
                      <a:r>
                        <a:rPr lang="en-US" sz="2500" dirty="0" err="1">
                          <a:effectLst/>
                          <a:latin typeface="Open Sans" panose="020B0606030504020204" pitchFamily="34" charset="0"/>
                          <a:ea typeface="Open Sans" panose="020B0606030504020204" pitchFamily="34" charset="0"/>
                          <a:cs typeface="Open Sans" panose="020B0606030504020204" pitchFamily="34" charset="0"/>
                        </a:rPr>
                        <a:t>hỗ</a:t>
                      </a:r>
                      <a:r>
                        <a:rPr lang="en-US" sz="2500" dirty="0">
                          <a:effectLst/>
                          <a:latin typeface="Open Sans" panose="020B0606030504020204" pitchFamily="34" charset="0"/>
                          <a:ea typeface="Open Sans" panose="020B0606030504020204" pitchFamily="34" charset="0"/>
                          <a:cs typeface="Open Sans" panose="020B0606030504020204" pitchFamily="34" charset="0"/>
                        </a:rPr>
                        <a:t> </a:t>
                      </a:r>
                      <a:r>
                        <a:rPr lang="en-US" sz="2500" dirty="0" err="1">
                          <a:effectLst/>
                          <a:latin typeface="Open Sans" panose="020B0606030504020204" pitchFamily="34" charset="0"/>
                          <a:ea typeface="Open Sans" panose="020B0606030504020204" pitchFamily="34" charset="0"/>
                          <a:cs typeface="Open Sans" panose="020B0606030504020204" pitchFamily="34" charset="0"/>
                        </a:rPr>
                        <a:t>trợ</a:t>
                      </a:r>
                      <a:endParaRPr lang="en-US" sz="2500" dirty="0">
                        <a:effectLst/>
                        <a:latin typeface="Open Sans" panose="020B0606030504020204" pitchFamily="34" charset="0"/>
                        <a:ea typeface="Open Sans" panose="020B0606030504020204" pitchFamily="34" charset="0"/>
                        <a:cs typeface="Open Sans" panose="020B0606030504020204" pitchFamily="34" charset="0"/>
                      </a:endParaRPr>
                    </a:p>
                  </a:txBody>
                  <a:tcPr marL="45720" marR="45720" anchor="ctr">
                    <a:lnL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71485516"/>
                  </a:ext>
                </a:extLst>
              </a:tr>
              <a:tr h="69840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500" b="1" dirty="0" err="1">
                          <a:effectLst/>
                          <a:latin typeface="Open Sans" panose="020B0606030504020204" pitchFamily="34" charset="0"/>
                          <a:ea typeface="Open Sans" panose="020B0606030504020204" pitchFamily="34" charset="0"/>
                          <a:cs typeface="Open Sans" panose="020B0606030504020204" pitchFamily="34" charset="0"/>
                        </a:rPr>
                        <a:t>Ngày</a:t>
                      </a:r>
                      <a:r>
                        <a:rPr lang="en-US" sz="2500" b="1" dirty="0">
                          <a:effectLst/>
                          <a:latin typeface="Open Sans" panose="020B0606030504020204" pitchFamily="34" charset="0"/>
                          <a:ea typeface="Open Sans" panose="020B0606030504020204" pitchFamily="34" charset="0"/>
                          <a:cs typeface="Open Sans" panose="020B0606030504020204" pitchFamily="34" charset="0"/>
                        </a:rPr>
                        <a:t> </a:t>
                      </a:r>
                      <a:r>
                        <a:rPr lang="en-US" sz="2500" b="1" dirty="0" err="1">
                          <a:effectLst/>
                          <a:latin typeface="Open Sans" panose="020B0606030504020204" pitchFamily="34" charset="0"/>
                          <a:ea typeface="Open Sans" panose="020B0606030504020204" pitchFamily="34" charset="0"/>
                          <a:cs typeface="Open Sans" panose="020B0606030504020204" pitchFamily="34" charset="0"/>
                        </a:rPr>
                        <a:t>lễ</a:t>
                      </a:r>
                      <a:endParaRPr lang="en-US" sz="2500" b="1" dirty="0">
                        <a:effectLst/>
                        <a:latin typeface="Open Sans" panose="020B0606030504020204" pitchFamily="34" charset="0"/>
                        <a:ea typeface="Open Sans" panose="020B0606030504020204" pitchFamily="34" charset="0"/>
                        <a:cs typeface="Open Sans" panose="020B0606030504020204" pitchFamily="34" charset="0"/>
                      </a:endParaRPr>
                    </a:p>
                  </a:txBody>
                  <a:tcPr marL="45720" marR="45720" anchor="ctr">
                    <a:lnL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500" dirty="0" err="1">
                          <a:effectLst/>
                          <a:latin typeface="Open Sans" panose="020B0606030504020204" pitchFamily="34" charset="0"/>
                          <a:ea typeface="Open Sans" panose="020B0606030504020204" pitchFamily="34" charset="0"/>
                          <a:cs typeface="Open Sans" panose="020B0606030504020204" pitchFamily="34" charset="0"/>
                        </a:rPr>
                        <a:t>Có</a:t>
                      </a:r>
                      <a:endParaRPr lang="en-US" sz="2500" dirty="0">
                        <a:effectLst/>
                        <a:latin typeface="Open Sans" panose="020B0606030504020204" pitchFamily="34" charset="0"/>
                        <a:ea typeface="Open Sans" panose="020B0606030504020204" pitchFamily="34" charset="0"/>
                        <a:cs typeface="Open Sans" panose="020B0606030504020204" pitchFamily="34" charset="0"/>
                      </a:endParaRPr>
                    </a:p>
                  </a:txBody>
                  <a:tcPr marL="45720" marR="45720" anchor="ctr">
                    <a:lnL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500" dirty="0" err="1">
                          <a:effectLst/>
                          <a:latin typeface="Open Sans" panose="020B0606030504020204" pitchFamily="34" charset="0"/>
                          <a:ea typeface="Open Sans" panose="020B0606030504020204" pitchFamily="34" charset="0"/>
                          <a:cs typeface="Open Sans" panose="020B0606030504020204" pitchFamily="34" charset="0"/>
                        </a:rPr>
                        <a:t>Không</a:t>
                      </a:r>
                      <a:endParaRPr lang="en-US" sz="2500" dirty="0">
                        <a:effectLst/>
                        <a:latin typeface="Open Sans" panose="020B0606030504020204" pitchFamily="34" charset="0"/>
                        <a:ea typeface="Open Sans" panose="020B0606030504020204" pitchFamily="34" charset="0"/>
                        <a:cs typeface="Open Sans" panose="020B0606030504020204" pitchFamily="34" charset="0"/>
                      </a:endParaRPr>
                    </a:p>
                  </a:txBody>
                  <a:tcPr marL="45720" marR="45720" anchor="ctr">
                    <a:lnL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500" dirty="0" err="1">
                          <a:effectLst/>
                          <a:latin typeface="Open Sans" panose="020B0606030504020204" pitchFamily="34" charset="0"/>
                          <a:ea typeface="Open Sans" panose="020B0606030504020204" pitchFamily="34" charset="0"/>
                          <a:cs typeface="Open Sans" panose="020B0606030504020204" pitchFamily="34" charset="0"/>
                        </a:rPr>
                        <a:t>Không</a:t>
                      </a:r>
                      <a:endParaRPr lang="en-US" sz="2500" dirty="0">
                        <a:effectLst/>
                        <a:latin typeface="Open Sans" panose="020B0606030504020204" pitchFamily="34" charset="0"/>
                        <a:ea typeface="Open Sans" panose="020B0606030504020204" pitchFamily="34" charset="0"/>
                        <a:cs typeface="Open Sans" panose="020B0606030504020204" pitchFamily="34" charset="0"/>
                      </a:endParaRPr>
                    </a:p>
                  </a:txBody>
                  <a:tcPr marL="45720" marR="45720" anchor="ctr">
                    <a:lnL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57200028"/>
                  </a:ext>
                </a:extLst>
              </a:tr>
              <a:tr h="69840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500" b="1">
                          <a:effectLst/>
                          <a:latin typeface="Open Sans" panose="020B0606030504020204" pitchFamily="34" charset="0"/>
                          <a:ea typeface="Open Sans" panose="020B0606030504020204" pitchFamily="34" charset="0"/>
                          <a:cs typeface="Open Sans" panose="020B0606030504020204" pitchFamily="34" charset="0"/>
                        </a:rPr>
                        <a:t>Tính dừng</a:t>
                      </a:r>
                    </a:p>
                  </a:txBody>
                  <a:tcPr marL="45720" marR="45720" anchor="ctr">
                    <a:lnL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500" dirty="0">
                          <a:effectLst/>
                          <a:latin typeface="Open Sans" panose="020B0606030504020204" pitchFamily="34" charset="0"/>
                          <a:ea typeface="Open Sans" panose="020B0606030504020204" pitchFamily="34" charset="0"/>
                          <a:cs typeface="Open Sans" panose="020B0606030504020204" pitchFamily="34" charset="0"/>
                        </a:rPr>
                        <a:t>Không </a:t>
                      </a:r>
                      <a:r>
                        <a:rPr lang="en-US" sz="2500" dirty="0" err="1">
                          <a:effectLst/>
                          <a:latin typeface="Open Sans" panose="020B0606030504020204" pitchFamily="34" charset="0"/>
                          <a:ea typeface="Open Sans" panose="020B0606030504020204" pitchFamily="34" charset="0"/>
                          <a:cs typeface="Open Sans" panose="020B0606030504020204" pitchFamily="34" charset="0"/>
                        </a:rPr>
                        <a:t>yêu</a:t>
                      </a:r>
                      <a:r>
                        <a:rPr lang="en-US" sz="2500" dirty="0">
                          <a:effectLst/>
                          <a:latin typeface="Open Sans" panose="020B0606030504020204" pitchFamily="34" charset="0"/>
                          <a:ea typeface="Open Sans" panose="020B0606030504020204" pitchFamily="34" charset="0"/>
                          <a:cs typeface="Open Sans" panose="020B0606030504020204" pitchFamily="34" charset="0"/>
                        </a:rPr>
                        <a:t> </a:t>
                      </a:r>
                      <a:r>
                        <a:rPr lang="en-US" sz="2500" dirty="0" err="1">
                          <a:effectLst/>
                          <a:latin typeface="Open Sans" panose="020B0606030504020204" pitchFamily="34" charset="0"/>
                          <a:ea typeface="Open Sans" panose="020B0606030504020204" pitchFamily="34" charset="0"/>
                          <a:cs typeface="Open Sans" panose="020B0606030504020204" pitchFamily="34" charset="0"/>
                        </a:rPr>
                        <a:t>cầu</a:t>
                      </a:r>
                      <a:endParaRPr lang="en-US" sz="2500" dirty="0">
                        <a:effectLst/>
                        <a:latin typeface="Open Sans" panose="020B0606030504020204" pitchFamily="34" charset="0"/>
                        <a:ea typeface="Open Sans" panose="020B0606030504020204" pitchFamily="34" charset="0"/>
                        <a:cs typeface="Open Sans" panose="020B0606030504020204" pitchFamily="34" charset="0"/>
                      </a:endParaRPr>
                    </a:p>
                  </a:txBody>
                  <a:tcPr marL="45720" marR="45720" anchor="ctr">
                    <a:lnL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500" dirty="0" err="1">
                          <a:effectLst/>
                          <a:latin typeface="Open Sans" panose="020B0606030504020204" pitchFamily="34" charset="0"/>
                          <a:ea typeface="Open Sans" panose="020B0606030504020204" pitchFamily="34" charset="0"/>
                          <a:cs typeface="Open Sans" panose="020B0606030504020204" pitchFamily="34" charset="0"/>
                        </a:rPr>
                        <a:t>Bắt</a:t>
                      </a:r>
                      <a:r>
                        <a:rPr lang="en-US" sz="2500" dirty="0">
                          <a:effectLst/>
                          <a:latin typeface="Open Sans" panose="020B0606030504020204" pitchFamily="34" charset="0"/>
                          <a:ea typeface="Open Sans" panose="020B0606030504020204" pitchFamily="34" charset="0"/>
                          <a:cs typeface="Open Sans" panose="020B0606030504020204" pitchFamily="34" charset="0"/>
                        </a:rPr>
                        <a:t> </a:t>
                      </a:r>
                      <a:r>
                        <a:rPr lang="en-US" sz="2500" dirty="0" err="1">
                          <a:effectLst/>
                          <a:latin typeface="Open Sans" panose="020B0606030504020204" pitchFamily="34" charset="0"/>
                          <a:ea typeface="Open Sans" panose="020B0606030504020204" pitchFamily="34" charset="0"/>
                          <a:cs typeface="Open Sans" panose="020B0606030504020204" pitchFamily="34" charset="0"/>
                        </a:rPr>
                        <a:t>buộc</a:t>
                      </a:r>
                      <a:r>
                        <a:rPr lang="en-US" sz="2500" dirty="0">
                          <a:effectLst/>
                          <a:latin typeface="Open Sans" panose="020B0606030504020204" pitchFamily="34" charset="0"/>
                          <a:ea typeface="Open Sans" panose="020B0606030504020204" pitchFamily="34" charset="0"/>
                          <a:cs typeface="Open Sans" panose="020B0606030504020204" pitchFamily="34" charset="0"/>
                        </a:rPr>
                        <a:t> (ADF Test)</a:t>
                      </a:r>
                    </a:p>
                  </a:txBody>
                  <a:tcPr marL="45720" marR="45720" anchor="ctr">
                    <a:lnL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500" dirty="0" err="1">
                          <a:effectLst/>
                          <a:latin typeface="Open Sans" panose="020B0606030504020204" pitchFamily="34" charset="0"/>
                          <a:ea typeface="Open Sans" panose="020B0606030504020204" pitchFamily="34" charset="0"/>
                          <a:cs typeface="Open Sans" panose="020B0606030504020204" pitchFamily="34" charset="0"/>
                        </a:rPr>
                        <a:t>Bắt</a:t>
                      </a:r>
                      <a:r>
                        <a:rPr lang="en-US" sz="2500" dirty="0">
                          <a:effectLst/>
                          <a:latin typeface="Open Sans" panose="020B0606030504020204" pitchFamily="34" charset="0"/>
                          <a:ea typeface="Open Sans" panose="020B0606030504020204" pitchFamily="34" charset="0"/>
                          <a:cs typeface="Open Sans" panose="020B0606030504020204" pitchFamily="34" charset="0"/>
                        </a:rPr>
                        <a:t> </a:t>
                      </a:r>
                      <a:r>
                        <a:rPr lang="en-US" sz="2500" dirty="0" err="1">
                          <a:effectLst/>
                          <a:latin typeface="Open Sans" panose="020B0606030504020204" pitchFamily="34" charset="0"/>
                          <a:ea typeface="Open Sans" panose="020B0606030504020204" pitchFamily="34" charset="0"/>
                          <a:cs typeface="Open Sans" panose="020B0606030504020204" pitchFamily="34" charset="0"/>
                        </a:rPr>
                        <a:t>buộc</a:t>
                      </a:r>
                      <a:r>
                        <a:rPr lang="en-US" sz="2500" dirty="0">
                          <a:effectLst/>
                          <a:latin typeface="Open Sans" panose="020B0606030504020204" pitchFamily="34" charset="0"/>
                          <a:ea typeface="Open Sans" panose="020B0606030504020204" pitchFamily="34" charset="0"/>
                          <a:cs typeface="Open Sans" panose="020B0606030504020204" pitchFamily="34" charset="0"/>
                        </a:rPr>
                        <a:t> (Johansen Test)</a:t>
                      </a:r>
                    </a:p>
                  </a:txBody>
                  <a:tcPr marL="45720" marR="45720" anchor="ctr">
                    <a:lnL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34764136"/>
                  </a:ext>
                </a:extLst>
              </a:tr>
              <a:tr h="69840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500" b="1" dirty="0" err="1">
                          <a:effectLst/>
                          <a:latin typeface="Open Sans" panose="020B0606030504020204" pitchFamily="34" charset="0"/>
                          <a:ea typeface="Open Sans" panose="020B0606030504020204" pitchFamily="34" charset="0"/>
                          <a:cs typeface="Open Sans" panose="020B0606030504020204" pitchFamily="34" charset="0"/>
                        </a:rPr>
                        <a:t>Biến</a:t>
                      </a:r>
                      <a:r>
                        <a:rPr lang="en-US" sz="2500" b="1" dirty="0">
                          <a:effectLst/>
                          <a:latin typeface="Open Sans" panose="020B0606030504020204" pitchFamily="34" charset="0"/>
                          <a:ea typeface="Open Sans" panose="020B0606030504020204" pitchFamily="34" charset="0"/>
                          <a:cs typeface="Open Sans" panose="020B0606030504020204" pitchFamily="34" charset="0"/>
                        </a:rPr>
                        <a:t> </a:t>
                      </a:r>
                      <a:r>
                        <a:rPr lang="en-US" sz="2500" b="1" dirty="0" err="1">
                          <a:effectLst/>
                          <a:latin typeface="Open Sans" panose="020B0606030504020204" pitchFamily="34" charset="0"/>
                          <a:ea typeface="Open Sans" panose="020B0606030504020204" pitchFamily="34" charset="0"/>
                          <a:cs typeface="Open Sans" panose="020B0606030504020204" pitchFamily="34" charset="0"/>
                        </a:rPr>
                        <a:t>ngoại</a:t>
                      </a:r>
                      <a:r>
                        <a:rPr lang="en-US" sz="2500" b="1" dirty="0">
                          <a:effectLst/>
                          <a:latin typeface="Open Sans" panose="020B0606030504020204" pitchFamily="34" charset="0"/>
                          <a:ea typeface="Open Sans" panose="020B0606030504020204" pitchFamily="34" charset="0"/>
                          <a:cs typeface="Open Sans" panose="020B0606030504020204" pitchFamily="34" charset="0"/>
                        </a:rPr>
                        <a:t> </a:t>
                      </a:r>
                      <a:r>
                        <a:rPr lang="en-US" sz="2500" b="1" dirty="0" err="1">
                          <a:effectLst/>
                          <a:latin typeface="Open Sans" panose="020B0606030504020204" pitchFamily="34" charset="0"/>
                          <a:ea typeface="Open Sans" panose="020B0606030504020204" pitchFamily="34" charset="0"/>
                          <a:cs typeface="Open Sans" panose="020B0606030504020204" pitchFamily="34" charset="0"/>
                        </a:rPr>
                        <a:t>sinh</a:t>
                      </a:r>
                      <a:endParaRPr lang="en-US" sz="2500" b="1" dirty="0">
                        <a:effectLst/>
                        <a:latin typeface="Open Sans" panose="020B0606030504020204" pitchFamily="34" charset="0"/>
                        <a:ea typeface="Open Sans" panose="020B0606030504020204" pitchFamily="34" charset="0"/>
                        <a:cs typeface="Open Sans" panose="020B0606030504020204" pitchFamily="34" charset="0"/>
                      </a:endParaRPr>
                    </a:p>
                  </a:txBody>
                  <a:tcPr marL="45720" marR="45720" anchor="ctr">
                    <a:lnL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500">
                          <a:effectLst/>
                          <a:latin typeface="Open Sans" panose="020B0606030504020204" pitchFamily="34" charset="0"/>
                          <a:ea typeface="Open Sans" panose="020B0606030504020204" pitchFamily="34" charset="0"/>
                          <a:cs typeface="Open Sans" panose="020B0606030504020204" pitchFamily="34" charset="0"/>
                        </a:rPr>
                        <a:t>Có (add_regressor)</a:t>
                      </a:r>
                    </a:p>
                  </a:txBody>
                  <a:tcPr marL="45720" marR="45720" anchor="ctr">
                    <a:lnL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500" dirty="0" err="1">
                          <a:effectLst/>
                          <a:latin typeface="Open Sans" panose="020B0606030504020204" pitchFamily="34" charset="0"/>
                          <a:ea typeface="Open Sans" panose="020B0606030504020204" pitchFamily="34" charset="0"/>
                          <a:cs typeface="Open Sans" panose="020B0606030504020204" pitchFamily="34" charset="0"/>
                        </a:rPr>
                        <a:t>Có</a:t>
                      </a:r>
                      <a:r>
                        <a:rPr lang="en-US" sz="2500" dirty="0">
                          <a:effectLst/>
                          <a:latin typeface="Open Sans" panose="020B0606030504020204" pitchFamily="34" charset="0"/>
                          <a:ea typeface="Open Sans" panose="020B0606030504020204" pitchFamily="34" charset="0"/>
                          <a:cs typeface="Open Sans" panose="020B0606030504020204" pitchFamily="34" charset="0"/>
                        </a:rPr>
                        <a:t> (ARIMAX)</a:t>
                      </a:r>
                    </a:p>
                  </a:txBody>
                  <a:tcPr marL="45720" marR="45720" anchor="ctr">
                    <a:lnL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500" dirty="0" err="1">
                          <a:effectLst/>
                          <a:latin typeface="Open Sans" panose="020B0606030504020204" pitchFamily="34" charset="0"/>
                          <a:ea typeface="Open Sans" panose="020B0606030504020204" pitchFamily="34" charset="0"/>
                          <a:cs typeface="Open Sans" panose="020B0606030504020204" pitchFamily="34" charset="0"/>
                        </a:rPr>
                        <a:t>Có</a:t>
                      </a:r>
                      <a:r>
                        <a:rPr lang="en-US" sz="2500" dirty="0">
                          <a:effectLst/>
                          <a:latin typeface="Open Sans" panose="020B0606030504020204" pitchFamily="34" charset="0"/>
                          <a:ea typeface="Open Sans" panose="020B0606030504020204" pitchFamily="34" charset="0"/>
                          <a:cs typeface="Open Sans" panose="020B0606030504020204" pitchFamily="34" charset="0"/>
                        </a:rPr>
                        <a:t> (</a:t>
                      </a:r>
                      <a:r>
                        <a:rPr lang="en-US" sz="2500" dirty="0" err="1">
                          <a:effectLst/>
                          <a:latin typeface="Open Sans" panose="020B0606030504020204" pitchFamily="34" charset="0"/>
                          <a:ea typeface="Open Sans" panose="020B0606030504020204" pitchFamily="34" charset="0"/>
                          <a:cs typeface="Open Sans" panose="020B0606030504020204" pitchFamily="34" charset="0"/>
                        </a:rPr>
                        <a:t>mặc</a:t>
                      </a:r>
                      <a:r>
                        <a:rPr lang="en-US" sz="2500" dirty="0">
                          <a:effectLst/>
                          <a:latin typeface="Open Sans" panose="020B0606030504020204" pitchFamily="34" charset="0"/>
                          <a:ea typeface="Open Sans" panose="020B0606030504020204" pitchFamily="34" charset="0"/>
                          <a:cs typeface="Open Sans" panose="020B0606030504020204" pitchFamily="34" charset="0"/>
                        </a:rPr>
                        <a:t> </a:t>
                      </a:r>
                      <a:r>
                        <a:rPr lang="en-US" sz="2500" dirty="0" err="1">
                          <a:effectLst/>
                          <a:latin typeface="Open Sans" panose="020B0606030504020204" pitchFamily="34" charset="0"/>
                          <a:ea typeface="Open Sans" panose="020B0606030504020204" pitchFamily="34" charset="0"/>
                          <a:cs typeface="Open Sans" panose="020B0606030504020204" pitchFamily="34" charset="0"/>
                        </a:rPr>
                        <a:t>định</a:t>
                      </a:r>
                      <a:r>
                        <a:rPr lang="en-US" sz="2500" dirty="0">
                          <a:effectLst/>
                          <a:latin typeface="Open Sans" panose="020B0606030504020204" pitchFamily="34" charset="0"/>
                          <a:ea typeface="Open Sans" panose="020B0606030504020204" pitchFamily="34" charset="0"/>
                          <a:cs typeface="Open Sans" panose="020B0606030504020204" pitchFamily="34" charset="0"/>
                        </a:rPr>
                        <a:t>)</a:t>
                      </a:r>
                    </a:p>
                  </a:txBody>
                  <a:tcPr marL="45720" marR="45720" anchor="ctr">
                    <a:lnL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55086057"/>
                  </a:ext>
                </a:extLst>
              </a:tr>
              <a:tr h="69840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500" b="1">
                          <a:effectLst/>
                          <a:latin typeface="Open Sans" panose="020B0606030504020204" pitchFamily="34" charset="0"/>
                          <a:ea typeface="Open Sans" panose="020B0606030504020204" pitchFamily="34" charset="0"/>
                          <a:cs typeface="Open Sans" panose="020B0606030504020204" pitchFamily="34" charset="0"/>
                        </a:rPr>
                        <a:t>Tự động chọn tham số</a:t>
                      </a:r>
                    </a:p>
                  </a:txBody>
                  <a:tcPr marL="45720" marR="45720" anchor="ctr">
                    <a:lnL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500">
                          <a:effectLst/>
                          <a:latin typeface="Open Sans" panose="020B0606030504020204" pitchFamily="34" charset="0"/>
                          <a:ea typeface="Open Sans" panose="020B0606030504020204" pitchFamily="34" charset="0"/>
                          <a:cs typeface="Open Sans" panose="020B0606030504020204" pitchFamily="34" charset="0"/>
                        </a:rPr>
                        <a:t>Không</a:t>
                      </a:r>
                    </a:p>
                  </a:txBody>
                  <a:tcPr marL="45720" marR="45720" anchor="ctr">
                    <a:lnL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500" dirty="0" err="1">
                          <a:effectLst/>
                          <a:latin typeface="Open Sans" panose="020B0606030504020204" pitchFamily="34" charset="0"/>
                          <a:ea typeface="Open Sans" panose="020B0606030504020204" pitchFamily="34" charset="0"/>
                          <a:cs typeface="Open Sans" panose="020B0606030504020204" pitchFamily="34" charset="0"/>
                        </a:rPr>
                        <a:t>Có</a:t>
                      </a:r>
                      <a:r>
                        <a:rPr lang="en-US" sz="2500" dirty="0">
                          <a:effectLst/>
                          <a:latin typeface="Open Sans" panose="020B0606030504020204" pitchFamily="34" charset="0"/>
                          <a:ea typeface="Open Sans" panose="020B0606030504020204" pitchFamily="34" charset="0"/>
                          <a:cs typeface="Open Sans" panose="020B0606030504020204" pitchFamily="34" charset="0"/>
                        </a:rPr>
                        <a:t> (AIC/BIC)</a:t>
                      </a:r>
                    </a:p>
                  </a:txBody>
                  <a:tcPr marL="45720" marR="45720" anchor="ctr">
                    <a:lnL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500" dirty="0" err="1">
                          <a:effectLst/>
                          <a:latin typeface="Open Sans" panose="020B0606030504020204" pitchFamily="34" charset="0"/>
                          <a:ea typeface="Open Sans" panose="020B0606030504020204" pitchFamily="34" charset="0"/>
                          <a:cs typeface="Open Sans" panose="020B0606030504020204" pitchFamily="34" charset="0"/>
                        </a:rPr>
                        <a:t>Có</a:t>
                      </a:r>
                      <a:r>
                        <a:rPr lang="en-US" sz="2500" dirty="0">
                          <a:effectLst/>
                          <a:latin typeface="Open Sans" panose="020B0606030504020204" pitchFamily="34" charset="0"/>
                          <a:ea typeface="Open Sans" panose="020B0606030504020204" pitchFamily="34" charset="0"/>
                          <a:cs typeface="Open Sans" panose="020B0606030504020204" pitchFamily="34" charset="0"/>
                        </a:rPr>
                        <a:t> (AIC/BIC)</a:t>
                      </a:r>
                    </a:p>
                  </a:txBody>
                  <a:tcPr marL="45720" marR="45720" anchor="ctr">
                    <a:lnL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38547118"/>
                  </a:ext>
                </a:extLst>
              </a:tr>
              <a:tr h="69840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500" b="1">
                          <a:effectLst/>
                          <a:latin typeface="Open Sans" panose="020B0606030504020204" pitchFamily="34" charset="0"/>
                          <a:ea typeface="Open Sans" panose="020B0606030504020204" pitchFamily="34" charset="0"/>
                          <a:cs typeface="Open Sans" panose="020B0606030504020204" pitchFamily="34" charset="0"/>
                        </a:rPr>
                        <a:t>Độ phức tạp</a:t>
                      </a:r>
                    </a:p>
                  </a:txBody>
                  <a:tcPr marL="45720" marR="45720" anchor="ctr">
                    <a:lnL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500">
                          <a:effectLst/>
                          <a:latin typeface="Open Sans" panose="020B0606030504020204" pitchFamily="34" charset="0"/>
                          <a:ea typeface="Open Sans" panose="020B0606030504020204" pitchFamily="34" charset="0"/>
                          <a:cs typeface="Open Sans" panose="020B0606030504020204" pitchFamily="34" charset="0"/>
                        </a:rPr>
                        <a:t>Thấp</a:t>
                      </a:r>
                    </a:p>
                  </a:txBody>
                  <a:tcPr marL="45720" marR="45720" anchor="ctr">
                    <a:lnL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500" dirty="0">
                          <a:effectLst/>
                          <a:latin typeface="Open Sans" panose="020B0606030504020204" pitchFamily="34" charset="0"/>
                          <a:ea typeface="Open Sans" panose="020B0606030504020204" pitchFamily="34" charset="0"/>
                          <a:cs typeface="Open Sans" panose="020B0606030504020204" pitchFamily="34" charset="0"/>
                        </a:rPr>
                        <a:t>Trung </a:t>
                      </a:r>
                      <a:r>
                        <a:rPr lang="en-US" sz="2500" dirty="0" err="1">
                          <a:effectLst/>
                          <a:latin typeface="Open Sans" panose="020B0606030504020204" pitchFamily="34" charset="0"/>
                          <a:ea typeface="Open Sans" panose="020B0606030504020204" pitchFamily="34" charset="0"/>
                          <a:cs typeface="Open Sans" panose="020B0606030504020204" pitchFamily="34" charset="0"/>
                        </a:rPr>
                        <a:t>bình</a:t>
                      </a:r>
                      <a:endParaRPr lang="en-US" sz="2500" dirty="0">
                        <a:effectLst/>
                        <a:latin typeface="Open Sans" panose="020B0606030504020204" pitchFamily="34" charset="0"/>
                        <a:ea typeface="Open Sans" panose="020B0606030504020204" pitchFamily="34" charset="0"/>
                        <a:cs typeface="Open Sans" panose="020B0606030504020204" pitchFamily="34" charset="0"/>
                      </a:endParaRPr>
                    </a:p>
                  </a:txBody>
                  <a:tcPr marL="45720" marR="45720" anchor="ctr">
                    <a:lnL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500" dirty="0">
                          <a:effectLst/>
                          <a:latin typeface="Open Sans" panose="020B0606030504020204" pitchFamily="34" charset="0"/>
                          <a:ea typeface="Open Sans" panose="020B0606030504020204" pitchFamily="34" charset="0"/>
                          <a:cs typeface="Open Sans" panose="020B0606030504020204" pitchFamily="34" charset="0"/>
                        </a:rPr>
                        <a:t>Cao</a:t>
                      </a:r>
                    </a:p>
                  </a:txBody>
                  <a:tcPr marL="45720" marR="45720" anchor="ctr">
                    <a:lnL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97914329"/>
                  </a:ext>
                </a:extLst>
              </a:tr>
              <a:tr h="69840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500" b="1" dirty="0">
                          <a:effectLst/>
                          <a:latin typeface="Open Sans" panose="020B0606030504020204" pitchFamily="34" charset="0"/>
                          <a:ea typeface="Open Sans" panose="020B0606030504020204" pitchFamily="34" charset="0"/>
                          <a:cs typeface="Open Sans" panose="020B0606030504020204" pitchFamily="34" charset="0"/>
                        </a:rPr>
                        <a:t>Metric </a:t>
                      </a:r>
                      <a:r>
                        <a:rPr lang="en-US" sz="2500" b="1" dirty="0" err="1">
                          <a:effectLst/>
                          <a:latin typeface="Open Sans" panose="020B0606030504020204" pitchFamily="34" charset="0"/>
                          <a:ea typeface="Open Sans" panose="020B0606030504020204" pitchFamily="34" charset="0"/>
                          <a:cs typeface="Open Sans" panose="020B0606030504020204" pitchFamily="34" charset="0"/>
                        </a:rPr>
                        <a:t>đánh</a:t>
                      </a:r>
                      <a:r>
                        <a:rPr lang="en-US" sz="2500" b="1" dirty="0">
                          <a:effectLst/>
                          <a:latin typeface="Open Sans" panose="020B0606030504020204" pitchFamily="34" charset="0"/>
                          <a:ea typeface="Open Sans" panose="020B0606030504020204" pitchFamily="34" charset="0"/>
                          <a:cs typeface="Open Sans" panose="020B0606030504020204" pitchFamily="34" charset="0"/>
                        </a:rPr>
                        <a:t> </a:t>
                      </a:r>
                      <a:r>
                        <a:rPr lang="en-US" sz="2500" b="1" dirty="0" err="1">
                          <a:effectLst/>
                          <a:latin typeface="Open Sans" panose="020B0606030504020204" pitchFamily="34" charset="0"/>
                          <a:ea typeface="Open Sans" panose="020B0606030504020204" pitchFamily="34" charset="0"/>
                          <a:cs typeface="Open Sans" panose="020B0606030504020204" pitchFamily="34" charset="0"/>
                        </a:rPr>
                        <a:t>giá</a:t>
                      </a:r>
                      <a:endParaRPr lang="en-US" sz="2500" b="1" dirty="0">
                        <a:effectLst/>
                        <a:latin typeface="Open Sans" panose="020B0606030504020204" pitchFamily="34" charset="0"/>
                        <a:ea typeface="Open Sans" panose="020B0606030504020204" pitchFamily="34" charset="0"/>
                        <a:cs typeface="Open Sans" panose="020B0606030504020204" pitchFamily="34" charset="0"/>
                      </a:endParaRPr>
                    </a:p>
                  </a:txBody>
                  <a:tcPr marL="45720" marR="45720" anchor="ctr">
                    <a:lnL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500">
                          <a:effectLst/>
                          <a:latin typeface="Open Sans" panose="020B0606030504020204" pitchFamily="34" charset="0"/>
                          <a:ea typeface="Open Sans" panose="020B0606030504020204" pitchFamily="34" charset="0"/>
                          <a:cs typeface="Open Sans" panose="020B0606030504020204" pitchFamily="34" charset="0"/>
                        </a:rPr>
                        <a:t>MAPE / Biểu đồ</a:t>
                      </a:r>
                    </a:p>
                  </a:txBody>
                  <a:tcPr marL="45720" marR="45720" anchor="ctr">
                    <a:lnL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500">
                          <a:effectLst/>
                          <a:latin typeface="Open Sans" panose="020B0606030504020204" pitchFamily="34" charset="0"/>
                          <a:ea typeface="Open Sans" panose="020B0606030504020204" pitchFamily="34" charset="0"/>
                          <a:cs typeface="Open Sans" panose="020B0606030504020204" pitchFamily="34" charset="0"/>
                        </a:rPr>
                        <a:t>R²</a:t>
                      </a:r>
                    </a:p>
                  </a:txBody>
                  <a:tcPr marL="45720" marR="45720" anchor="ctr">
                    <a:lnL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500" dirty="0">
                          <a:effectLst/>
                          <a:latin typeface="Open Sans" panose="020B0606030504020204" pitchFamily="34" charset="0"/>
                          <a:ea typeface="Open Sans" panose="020B0606030504020204" pitchFamily="34" charset="0"/>
                          <a:cs typeface="Open Sans" panose="020B0606030504020204" pitchFamily="34" charset="0"/>
                        </a:rPr>
                        <a:t>RMSE</a:t>
                      </a:r>
                    </a:p>
                  </a:txBody>
                  <a:tcPr marL="45720" marR="45720" anchor="ctr">
                    <a:lnL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48490129"/>
                  </a:ext>
                </a:extLst>
              </a:tr>
              <a:tr h="69840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500" b="1">
                          <a:effectLst/>
                          <a:latin typeface="Open Sans" panose="020B0606030504020204" pitchFamily="34" charset="0"/>
                          <a:ea typeface="Open Sans" panose="020B0606030504020204" pitchFamily="34" charset="0"/>
                          <a:cs typeface="Open Sans" panose="020B0606030504020204" pitchFamily="34" charset="0"/>
                        </a:rPr>
                        <a:t>Khi nào nên dùng</a:t>
                      </a:r>
                    </a:p>
                  </a:txBody>
                  <a:tcPr marL="45720" marR="45720" anchor="ctr">
                    <a:lnL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500">
                          <a:effectLst/>
                          <a:latin typeface="Open Sans" panose="020B0606030504020204" pitchFamily="34" charset="0"/>
                          <a:ea typeface="Open Sans" panose="020B0606030504020204" pitchFamily="34" charset="0"/>
                          <a:cs typeface="Open Sans" panose="020B0606030504020204" pitchFamily="34" charset="0"/>
                        </a:rPr>
                        <a:t>Có mùa vụ, cần nhanh</a:t>
                      </a:r>
                    </a:p>
                  </a:txBody>
                  <a:tcPr marL="45720" marR="45720" anchor="ctr">
                    <a:lnL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vi-VN" sz="2500">
                          <a:effectLst/>
                          <a:latin typeface="Open Sans" panose="020B0606030504020204" pitchFamily="34" charset="0"/>
                          <a:ea typeface="Open Sans" panose="020B0606030504020204" pitchFamily="34" charset="0"/>
                          <a:cs typeface="Open Sans" panose="020B0606030504020204" pitchFamily="34" charset="0"/>
                        </a:rPr>
                        <a:t>Tài chính, kinh tế đơn biến</a:t>
                      </a:r>
                    </a:p>
                  </a:txBody>
                  <a:tcPr marL="45720" marR="45720" anchor="ctr">
                    <a:lnL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500" dirty="0" err="1">
                          <a:effectLst/>
                          <a:latin typeface="Open Sans" panose="020B0606030504020204" pitchFamily="34" charset="0"/>
                          <a:ea typeface="Open Sans" panose="020B0606030504020204" pitchFamily="34" charset="0"/>
                          <a:cs typeface="Open Sans" panose="020B0606030504020204" pitchFamily="34" charset="0"/>
                        </a:rPr>
                        <a:t>Nhiều</a:t>
                      </a:r>
                      <a:r>
                        <a:rPr lang="en-US" sz="2500" dirty="0">
                          <a:effectLst/>
                          <a:latin typeface="Open Sans" panose="020B0606030504020204" pitchFamily="34" charset="0"/>
                          <a:ea typeface="Open Sans" panose="020B0606030504020204" pitchFamily="34" charset="0"/>
                          <a:cs typeface="Open Sans" panose="020B0606030504020204" pitchFamily="34" charset="0"/>
                        </a:rPr>
                        <a:t> </a:t>
                      </a:r>
                      <a:r>
                        <a:rPr lang="en-US" sz="2500" dirty="0" err="1">
                          <a:effectLst/>
                          <a:latin typeface="Open Sans" panose="020B0606030504020204" pitchFamily="34" charset="0"/>
                          <a:ea typeface="Open Sans" panose="020B0606030504020204" pitchFamily="34" charset="0"/>
                          <a:cs typeface="Open Sans" panose="020B0606030504020204" pitchFamily="34" charset="0"/>
                        </a:rPr>
                        <a:t>biến</a:t>
                      </a:r>
                      <a:r>
                        <a:rPr lang="en-US" sz="2500" dirty="0">
                          <a:effectLst/>
                          <a:latin typeface="Open Sans" panose="020B0606030504020204" pitchFamily="34" charset="0"/>
                          <a:ea typeface="Open Sans" panose="020B0606030504020204" pitchFamily="34" charset="0"/>
                          <a:cs typeface="Open Sans" panose="020B0606030504020204" pitchFamily="34" charset="0"/>
                        </a:rPr>
                        <a:t> </a:t>
                      </a:r>
                      <a:r>
                        <a:rPr lang="en-US" sz="2500" dirty="0" err="1">
                          <a:effectLst/>
                          <a:latin typeface="Open Sans" panose="020B0606030504020204" pitchFamily="34" charset="0"/>
                          <a:ea typeface="Open Sans" panose="020B0606030504020204" pitchFamily="34" charset="0"/>
                          <a:cs typeface="Open Sans" panose="020B0606030504020204" pitchFamily="34" charset="0"/>
                        </a:rPr>
                        <a:t>liên</a:t>
                      </a:r>
                      <a:r>
                        <a:rPr lang="en-US" sz="2500" dirty="0">
                          <a:effectLst/>
                          <a:latin typeface="Open Sans" panose="020B0606030504020204" pitchFamily="34" charset="0"/>
                          <a:ea typeface="Open Sans" panose="020B0606030504020204" pitchFamily="34" charset="0"/>
                          <a:cs typeface="Open Sans" panose="020B0606030504020204" pitchFamily="34" charset="0"/>
                        </a:rPr>
                        <a:t> </a:t>
                      </a:r>
                      <a:r>
                        <a:rPr lang="en-US" sz="2500" dirty="0" err="1">
                          <a:effectLst/>
                          <a:latin typeface="Open Sans" panose="020B0606030504020204" pitchFamily="34" charset="0"/>
                          <a:ea typeface="Open Sans" panose="020B0606030504020204" pitchFamily="34" charset="0"/>
                          <a:cs typeface="Open Sans" panose="020B0606030504020204" pitchFamily="34" charset="0"/>
                        </a:rPr>
                        <a:t>quan</a:t>
                      </a:r>
                      <a:r>
                        <a:rPr lang="en-US" sz="2500" dirty="0">
                          <a:effectLst/>
                          <a:latin typeface="Open Sans" panose="020B0606030504020204" pitchFamily="34" charset="0"/>
                          <a:ea typeface="Open Sans" panose="020B0606030504020204" pitchFamily="34" charset="0"/>
                          <a:cs typeface="Open Sans" panose="020B0606030504020204" pitchFamily="34" charset="0"/>
                        </a:rPr>
                        <a:t> </a:t>
                      </a:r>
                      <a:r>
                        <a:rPr lang="en-US" sz="2500" dirty="0" err="1">
                          <a:effectLst/>
                          <a:latin typeface="Open Sans" panose="020B0606030504020204" pitchFamily="34" charset="0"/>
                          <a:ea typeface="Open Sans" panose="020B0606030504020204" pitchFamily="34" charset="0"/>
                          <a:cs typeface="Open Sans" panose="020B0606030504020204" pitchFamily="34" charset="0"/>
                        </a:rPr>
                        <a:t>nhau</a:t>
                      </a:r>
                      <a:endParaRPr lang="en-US" sz="2500" dirty="0">
                        <a:effectLst/>
                        <a:latin typeface="Open Sans" panose="020B0606030504020204" pitchFamily="34" charset="0"/>
                        <a:ea typeface="Open Sans" panose="020B0606030504020204" pitchFamily="34" charset="0"/>
                        <a:cs typeface="Open Sans" panose="020B0606030504020204" pitchFamily="34" charset="0"/>
                      </a:endParaRPr>
                    </a:p>
                  </a:txBody>
                  <a:tcPr marL="45720" marR="45720" anchor="ctr">
                    <a:lnL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28784500"/>
                  </a:ext>
                </a:extLst>
              </a:tr>
            </a:tbl>
          </a:graphicData>
        </a:graphic>
      </p:graphicFrame>
      <p:sp>
        <p:nvSpPr>
          <p:cNvPr id="9" name="Rectangle 2">
            <a:extLst>
              <a:ext uri="{FF2B5EF4-FFF2-40B4-BE49-F238E27FC236}">
                <a16:creationId xmlns:a16="http://schemas.microsoft.com/office/drawing/2014/main" id="{DEACA890-16C1-C9A0-3421-1F2E443EC5C1}"/>
              </a:ext>
            </a:extLst>
          </p:cNvPr>
          <p:cNvSpPr>
            <a:spLocks noChangeArrowheads="1"/>
          </p:cNvSpPr>
          <p:nvPr/>
        </p:nvSpPr>
        <p:spPr bwMode="auto">
          <a:xfrm>
            <a:off x="1855788" y="1592262"/>
            <a:ext cx="12241212" cy="192949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EF6F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3836319" y="2923886"/>
            <a:ext cx="10486600" cy="447732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5914"/>
              </a:lnSpc>
            </a:pPr>
            <a:r>
              <a:rPr lang="en-US" sz="16407">
                <a:solidFill>
                  <a:srgbClr val="090147"/>
                </a:solidFill>
                <a:latin typeface="Bungee"/>
                <a:ea typeface="Bungee"/>
                <a:cs typeface="Bungee"/>
                <a:sym typeface="Bungee"/>
              </a:rPr>
              <a:t>Thank you</a:t>
            </a:r>
          </a:p>
        </p:txBody>
      </p:sp>
      <p:sp>
        <p:nvSpPr>
          <p:cNvPr id="3" name="Freeform 3"/>
          <p:cNvSpPr/>
          <p:nvPr/>
        </p:nvSpPr>
        <p:spPr>
          <a:xfrm>
            <a:off x="-652637" y="-721895"/>
            <a:ext cx="4062430" cy="4114800"/>
          </a:xfrm>
          <a:custGeom>
            <a:avLst/>
            <a:gdLst/>
            <a:ahLst/>
            <a:cxnLst/>
            <a:rect l="l" t="t" r="r" b="b"/>
            <a:pathLst>
              <a:path w="4062430" h="4114800">
                <a:moveTo>
                  <a:pt x="0" y="0"/>
                </a:moveTo>
                <a:lnTo>
                  <a:pt x="4062429" y="0"/>
                </a:lnTo>
                <a:lnTo>
                  <a:pt x="4062429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4" name="Freeform 4"/>
          <p:cNvSpPr/>
          <p:nvPr/>
        </p:nvSpPr>
        <p:spPr>
          <a:xfrm>
            <a:off x="-1208884" y="7041092"/>
            <a:ext cx="5174922" cy="5172766"/>
          </a:xfrm>
          <a:custGeom>
            <a:avLst/>
            <a:gdLst/>
            <a:ahLst/>
            <a:cxnLst/>
            <a:rect l="l" t="t" r="r" b="b"/>
            <a:pathLst>
              <a:path w="5174922" h="5172766">
                <a:moveTo>
                  <a:pt x="0" y="0"/>
                </a:moveTo>
                <a:lnTo>
                  <a:pt x="5174923" y="0"/>
                </a:lnTo>
                <a:lnTo>
                  <a:pt x="5174923" y="5172766"/>
                </a:lnTo>
                <a:lnTo>
                  <a:pt x="0" y="5172766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5" name="Freeform 5"/>
          <p:cNvSpPr/>
          <p:nvPr/>
        </p:nvSpPr>
        <p:spPr>
          <a:xfrm>
            <a:off x="14322918" y="4783378"/>
            <a:ext cx="6733446" cy="7030847"/>
          </a:xfrm>
          <a:custGeom>
            <a:avLst/>
            <a:gdLst/>
            <a:ahLst/>
            <a:cxnLst/>
            <a:rect l="l" t="t" r="r" b="b"/>
            <a:pathLst>
              <a:path w="6733446" h="7030847">
                <a:moveTo>
                  <a:pt x="0" y="0"/>
                </a:moveTo>
                <a:lnTo>
                  <a:pt x="6733447" y="0"/>
                </a:lnTo>
                <a:lnTo>
                  <a:pt x="6733447" y="7030846"/>
                </a:lnTo>
                <a:lnTo>
                  <a:pt x="0" y="7030846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6" name="Freeform 6"/>
          <p:cNvSpPr/>
          <p:nvPr/>
        </p:nvSpPr>
        <p:spPr>
          <a:xfrm>
            <a:off x="14882600" y="-1557683"/>
            <a:ext cx="5174922" cy="5172766"/>
          </a:xfrm>
          <a:custGeom>
            <a:avLst/>
            <a:gdLst/>
            <a:ahLst/>
            <a:cxnLst/>
            <a:rect l="l" t="t" r="r" b="b"/>
            <a:pathLst>
              <a:path w="5174922" h="5172766">
                <a:moveTo>
                  <a:pt x="0" y="0"/>
                </a:moveTo>
                <a:lnTo>
                  <a:pt x="5174922" y="0"/>
                </a:lnTo>
                <a:lnTo>
                  <a:pt x="5174922" y="5172766"/>
                </a:lnTo>
                <a:lnTo>
                  <a:pt x="0" y="5172766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7" name="Freeform 7"/>
          <p:cNvSpPr/>
          <p:nvPr/>
        </p:nvSpPr>
        <p:spPr>
          <a:xfrm>
            <a:off x="6300712" y="-1889926"/>
            <a:ext cx="4420195" cy="4114800"/>
          </a:xfrm>
          <a:custGeom>
            <a:avLst/>
            <a:gdLst/>
            <a:ahLst/>
            <a:cxnLst/>
            <a:rect l="l" t="t" r="r" b="b"/>
            <a:pathLst>
              <a:path w="4420195" h="4114800">
                <a:moveTo>
                  <a:pt x="0" y="0"/>
                </a:moveTo>
                <a:lnTo>
                  <a:pt x="4420195" y="0"/>
                </a:lnTo>
                <a:lnTo>
                  <a:pt x="4420195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alphaModFix amt="46000"/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8" name="Freeform 8"/>
          <p:cNvSpPr/>
          <p:nvPr/>
        </p:nvSpPr>
        <p:spPr>
          <a:xfrm rot="-10321493">
            <a:off x="6300712" y="8352127"/>
            <a:ext cx="4420195" cy="4114800"/>
          </a:xfrm>
          <a:custGeom>
            <a:avLst/>
            <a:gdLst/>
            <a:ahLst/>
            <a:cxnLst/>
            <a:rect l="l" t="t" r="r" b="b"/>
            <a:pathLst>
              <a:path w="4420195" h="4114800">
                <a:moveTo>
                  <a:pt x="0" y="0"/>
                </a:moveTo>
                <a:lnTo>
                  <a:pt x="4420195" y="0"/>
                </a:lnTo>
                <a:lnTo>
                  <a:pt x="4420195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alphaModFix amt="46000"/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20</TotalTime>
  <Words>2928</Words>
  <Application>Microsoft Office PowerPoint</Application>
  <PresentationFormat>Custom</PresentationFormat>
  <Paragraphs>490</Paragraphs>
  <Slides>32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17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32</vt:i4>
      </vt:variant>
    </vt:vector>
  </HeadingPairs>
  <TitlesOfParts>
    <vt:vector size="50" baseType="lpstr">
      <vt:lpstr>DM Sans Bold</vt:lpstr>
      <vt:lpstr>Open Sans</vt:lpstr>
      <vt:lpstr>Consolas</vt:lpstr>
      <vt:lpstr>Open Sans Bold</vt:lpstr>
      <vt:lpstr>Cabin Bold</vt:lpstr>
      <vt:lpstr>Krub Bold</vt:lpstr>
      <vt:lpstr>Josefin Sans</vt:lpstr>
      <vt:lpstr>Bungee</vt:lpstr>
      <vt:lpstr>DM Sans</vt:lpstr>
      <vt:lpstr>Arial</vt:lpstr>
      <vt:lpstr>Courier New Bold</vt:lpstr>
      <vt:lpstr>Calibri</vt:lpstr>
      <vt:lpstr>Josefin Sans Bold</vt:lpstr>
      <vt:lpstr>DejaVu Serif</vt:lpstr>
      <vt:lpstr>Courier New</vt:lpstr>
      <vt:lpstr>Noto Sans</vt:lpstr>
      <vt:lpstr>Open Sans Italics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Seminar_KPDL</dc:title>
  <cp:lastModifiedBy>Lê Đoàn Kim Ngân</cp:lastModifiedBy>
  <cp:revision>2</cp:revision>
  <dcterms:created xsi:type="dcterms:W3CDTF">2006-08-16T00:00:00Z</dcterms:created>
  <dcterms:modified xsi:type="dcterms:W3CDTF">2026-04-23T03:09:36Z</dcterms:modified>
  <dc:identifier>DAHElJRHm7s</dc:identifier>
</cp:coreProperties>
</file>